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8" r:id="rId2"/>
    <p:sldId id="269" r:id="rId3"/>
    <p:sldId id="308" r:id="rId4"/>
    <p:sldId id="309" r:id="rId5"/>
    <p:sldId id="310" r:id="rId6"/>
    <p:sldId id="311" r:id="rId7"/>
    <p:sldId id="312" r:id="rId8"/>
    <p:sldId id="313" r:id="rId9"/>
    <p:sldId id="31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19/05/2025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9C07-6025-4BAC-B61C-CFC6E194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38416E-238C-8CA2-38D2-AA0A7634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890E8F-7C86-8616-5E65-81F96AF91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3DF47D-580A-1B42-397D-AA939FC6C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610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9248-9A3E-94AD-9649-3D45AAC5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E38296-BB05-6BAA-B9F7-5E54CC629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6D7947-718E-B49C-5C87-A1A1247F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D9DE7E-B319-4A7D-ABEE-7BCB7A9DE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47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C372-E6EC-DF5B-8E79-2F91FE1C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FB5BE5-DC4C-ADDE-BF22-3499ADFDA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E6B3F6-7868-C436-4A4B-EDAF1FA8E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DD92BB-C442-6088-6BFA-CDB890438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87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E76F-802B-C047-36F2-E3C7FAF2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564202-E123-2F56-722B-3E1E9B436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27D72D-EAD8-C3CD-F542-97464B696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F72689-4348-422C-EE76-699A6E7F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362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3061-B93D-C851-5463-FE6A3F7F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AC2420-7C18-E767-FDD1-6820FBF0C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945772-0760-5D4D-8F26-1A08E4545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A4E228-2D52-02E2-A5E8-6D30C3A9B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591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0202-4180-F4EA-B7ED-04FD291A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DE915A-E00F-2F94-AB76-1F8D6F28E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A28693-4BC8-75AA-6F54-B4D6408E9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AB53BC-9250-54C4-09EC-C34AD2E45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8314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C22B-BDE4-A4E1-8401-941DCF2E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275441-FAC5-A90F-2479-3D74DF320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DFF3C0-4E29-15C0-6287-F205A565B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2759E3-835A-E226-0B52-F79A8ADCA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458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226094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supervisado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basado en modelos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corresponde con un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lineal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 predicciones computando una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 ponderada de las características de entrada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sumándole una constante.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Intenta predecir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continuos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022C-1C98-C8F7-09E7-CB9E2ACA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1B781-3D0E-BFB3-F34E-1ADCA535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E8CF3D1-0733-F6D9-D6EB-18A44FCA4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55" y="285817"/>
            <a:ext cx="6437083" cy="17076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9D76C2-068D-4AE4-B39E-78F2A6212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2" y="2436562"/>
            <a:ext cx="2093077" cy="3196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/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variables de entrada o predictoras.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F829AA4-796A-A35E-6509-87A6D64CD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445615"/>
                <a:ext cx="3632999" cy="368755"/>
              </a:xfrm>
              <a:prstGeom prst="rect">
                <a:avLst/>
              </a:prstGeom>
              <a:blipFill>
                <a:blip r:embed="rId5"/>
                <a:stretch>
                  <a:fillRect t="-6349" b="-222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/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variable de salida o respuesta.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6A7E0AB-2605-3A84-7550-DEAEDD97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359" y="2894607"/>
                <a:ext cx="3632999" cy="368755"/>
              </a:xfrm>
              <a:prstGeom prst="rect">
                <a:avLst/>
              </a:prstGeom>
              <a:blipFill>
                <a:blip r:embed="rId6"/>
                <a:stretch>
                  <a:fillRect t="-8065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/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conjunto de características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2E28286-E823-7FD9-FCB4-1F2311207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436562"/>
                <a:ext cx="3880756" cy="368755"/>
              </a:xfrm>
              <a:prstGeom prst="rect">
                <a:avLst/>
              </a:prstGeom>
              <a:blipFill>
                <a:blip r:embed="rId7"/>
                <a:stretch>
                  <a:fillRect t="-8065" b="-24194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/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características o variables de entrada.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3331209-FD03-F2ED-A294-616D4F7F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396" y="2930803"/>
                <a:ext cx="3880756" cy="665118"/>
              </a:xfrm>
              <a:prstGeom prst="rect">
                <a:avLst/>
              </a:prstGeom>
              <a:blipFill>
                <a:blip r:embed="rId8"/>
                <a:stretch>
                  <a:fillRect l="-1095" t="-4505" r="-1252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/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número de observaciones en el conjunto de entrenamiento.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763330-C6D6-474D-826A-6CF65C04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5" y="5713759"/>
                <a:ext cx="3150690" cy="665118"/>
              </a:xfrm>
              <a:prstGeom prst="rect">
                <a:avLst/>
              </a:prstGeom>
              <a:blipFill>
                <a:blip r:embed="rId9"/>
                <a:stretch>
                  <a:fillRect l="-1349" t="-3604" r="-1541" b="-1261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>
            <a:extLst>
              <a:ext uri="{FF2B5EF4-FFF2-40B4-BE49-F238E27FC236}">
                <a16:creationId xmlns:a16="http://schemas.microsoft.com/office/drawing/2014/main" id="{BF60F9F6-A053-889B-88D0-CE5F4CC29D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9855" y="4052684"/>
            <a:ext cx="3880756" cy="23480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91011E-4AA7-12F3-2124-08F81601E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7098" y="4052684"/>
            <a:ext cx="3880756" cy="23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6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D474-F191-7ADE-80AF-90B9F4BC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B0925-FE8B-2171-B0FD-39646842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E33B310-578B-D7E8-E7D2-7FFC16C174CA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usa comúnmente para ponderar la relación entre dos o más variables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 modo que, dado un valor específico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(es decir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MX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se pueda predecir un valor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E33B310-578B-D7E8-E7D2-7FFC16C1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646331"/>
              </a:xfrm>
              <a:prstGeom prst="rect">
                <a:avLst/>
              </a:prstGeom>
              <a:blipFill>
                <a:blip r:embed="rId3"/>
                <a:stretch>
                  <a:fillRect l="-457" t="-3704" b="-1296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/>
              <p:nvPr/>
            </p:nvSpPr>
            <p:spPr>
              <a:xfrm>
                <a:off x="964022" y="3212035"/>
                <a:ext cx="9332916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Matemáticamente, la regresión de una variable aleatoria Y sobre una variable aleatoria X se expresa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35FD52-CED8-E37A-B4EB-C5F0A03B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3212035"/>
                <a:ext cx="9332916" cy="923330"/>
              </a:xfrm>
              <a:prstGeom prst="rect">
                <a:avLst/>
              </a:prstGeom>
              <a:blipFill>
                <a:blip r:embed="rId4"/>
                <a:stretch>
                  <a:fillRect l="-457" t="-3268" r="-1109" b="-457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A2962E-4E63-4AF0-AE5B-6C31007F2AB7}"/>
                  </a:ext>
                </a:extLst>
              </p:cNvPr>
              <p:cNvSpPr txBox="1"/>
              <p:nvPr/>
            </p:nvSpPr>
            <p:spPr>
              <a:xfrm>
                <a:off x="964022" y="4341894"/>
                <a:ext cx="9332916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regresión 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sobre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lineal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 se expresa como:</a:t>
                </a:r>
              </a:p>
              <a:p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MX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los parámetros desconocidos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representan el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intercepto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la 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pendiente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una recta específica, respectivamente.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A2962E-4E63-4AF0-AE5B-6C31007F2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4341894"/>
                <a:ext cx="9332916" cy="1754326"/>
              </a:xfrm>
              <a:prstGeom prst="rect">
                <a:avLst/>
              </a:prstGeom>
              <a:blipFill>
                <a:blip r:embed="rId5"/>
                <a:stretch>
                  <a:fillRect l="-457" t="-1379" r="-522" b="-413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60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4326-BA97-2DFB-F646-A14CEA40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A34EA-0E0C-82A0-E86D-36AE8E55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286232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modelo lineal de primer orden es el modelo de probabilidad más simple, el cual se representa de la siguiente manera: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Donde: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variable de salida, dependiente o de respuesta.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variable de entrada, independiente o predictora.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el componente de error aleatorio.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el intercepto y ordena al origen de la línea recta.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pendiente de la línea recta.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6D141D9-78F7-DFB8-9C9D-5A81F966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2862322"/>
              </a:xfrm>
              <a:prstGeom prst="rect">
                <a:avLst/>
              </a:prstGeom>
              <a:blipFill>
                <a:blip r:embed="rId3"/>
                <a:stretch>
                  <a:fillRect l="-457" t="-847" r="-522" b="-2119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36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5DE0-1032-FEF4-C9B1-0F8ED46D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1B6B6-D2A1-6BA2-48D4-481EA14E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F3C7CA-8BF4-BF64-EB20-241E59F0241C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92333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Supongamos, por ejemplo, que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la edad de una persona y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 salario anual del trabajador. En un modelo de regresión lineal, el salario promedio de los trabajadores con una determinada edad sería una función lineal de dicha edad.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F3C7CA-8BF4-BF64-EB20-241E59F02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923330"/>
              </a:xfrm>
              <a:prstGeom prst="rect">
                <a:avLst/>
              </a:prstGeom>
              <a:blipFill>
                <a:blip r:embed="rId3"/>
                <a:stretch>
                  <a:fillRect l="-457" t="-2597" r="-522" b="-844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">
            <a:extLst>
              <a:ext uri="{FF2B5EF4-FFF2-40B4-BE49-F238E27FC236}">
                <a16:creationId xmlns:a16="http://schemas.microsoft.com/office/drawing/2014/main" id="{5527C958-FF6C-5A33-AB55-D1336A81BFB1}"/>
              </a:ext>
            </a:extLst>
          </p:cNvPr>
          <p:cNvPicPr/>
          <p:nvPr/>
        </p:nvPicPr>
        <p:blipFill>
          <a:blip r:embed="rId4"/>
          <a:srcRect l="-3751" t="13255" r="3751" b="2567"/>
          <a:stretch/>
        </p:blipFill>
        <p:spPr bwMode="auto">
          <a:xfrm>
            <a:off x="964022" y="3581367"/>
            <a:ext cx="4002433" cy="283873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6ABF9A-24F3-2F03-CF34-0D8713DDB538}"/>
              </a:ext>
            </a:extLst>
          </p:cNvPr>
          <p:cNvSpPr txBox="1"/>
          <p:nvPr/>
        </p:nvSpPr>
        <p:spPr>
          <a:xfrm>
            <a:off x="5213444" y="3821373"/>
            <a:ext cx="5595583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utilizan los datos disponibles para estimar la pendiente y el intercepto.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715433-99B6-9065-715A-82615ADB0078}"/>
                  </a:ext>
                </a:extLst>
              </p:cNvPr>
              <p:cNvSpPr txBox="1"/>
              <p:nvPr/>
            </p:nvSpPr>
            <p:spPr>
              <a:xfrm>
                <a:off x="5213444" y="4596187"/>
                <a:ext cx="5595583" cy="106182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Esto se logra encontrando la ecuación de la recta que mejor se ajuste a nuestros datos, es decir, elegir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tal manera que: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715433-99B6-9065-715A-82615ADB0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444" y="4596187"/>
                <a:ext cx="5595583" cy="1061829"/>
              </a:xfrm>
              <a:prstGeom prst="rect">
                <a:avLst/>
              </a:prstGeom>
              <a:blipFill>
                <a:blip r:embed="rId5"/>
                <a:stretch>
                  <a:fillRect l="-544" t="-1714" r="-5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18D0A08-F5A0-1280-9B7A-5ED22B400334}"/>
              </a:ext>
            </a:extLst>
          </p:cNvPr>
          <p:cNvSpPr txBox="1"/>
          <p:nvPr/>
        </p:nvSpPr>
        <p:spPr>
          <a:xfrm>
            <a:off x="5684614" y="5978937"/>
            <a:ext cx="147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 esperado de 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51783C-C83C-ED05-8BAD-33CA1289CAC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157814" y="5490993"/>
            <a:ext cx="246989" cy="62644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11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C4F7-913E-C0EE-630A-8AB2EE6D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979A0-DFA4-4B7A-0A78-1267F694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B56FBB-931E-78FD-D965-1521A9076F10}"/>
                  </a:ext>
                </a:extLst>
              </p:cNvPr>
              <p:cNvSpPr txBox="1"/>
              <p:nvPr/>
            </p:nvSpPr>
            <p:spPr>
              <a:xfrm>
                <a:off x="964022" y="2353304"/>
                <a:ext cx="9332916" cy="120032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Error: Se le llama </a:t>
                </a:r>
                <a:r>
                  <a:rPr lang="es-MX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</a:t>
                </a:r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también residuo a la diferencia entre el valor observado y el valor pronosticado por el modelo de línea recta, denotado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 algn="just"/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B56FBB-931E-78FD-D965-1521A9076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53304"/>
                <a:ext cx="9332916" cy="1200329"/>
              </a:xfrm>
              <a:prstGeom prst="rect">
                <a:avLst/>
              </a:prstGeom>
              <a:blipFill>
                <a:blip r:embed="rId3"/>
                <a:stretch>
                  <a:fillRect l="-457" t="-2010" r="-522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B02B6B2-33E5-6564-AFE6-AD24F2B68E0E}"/>
                  </a:ext>
                </a:extLst>
              </p:cNvPr>
              <p:cNvSpPr txBox="1"/>
              <p:nvPr/>
            </p:nvSpPr>
            <p:spPr>
              <a:xfrm>
                <a:off x="6101686" y="3794091"/>
                <a:ext cx="5595583" cy="1106713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recta que minimiza la suma de cuadrados de los errores, se le llama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mejor ajuste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mínimos cuadrados 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s-MX" sz="1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 de regresión</a:t>
                </a:r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16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B02B6B2-33E5-6564-AFE6-AD24F2B68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686" y="3794091"/>
                <a:ext cx="5595583" cy="1106713"/>
              </a:xfrm>
              <a:prstGeom prst="rect">
                <a:avLst/>
              </a:prstGeom>
              <a:blipFill>
                <a:blip r:embed="rId4"/>
                <a:stretch>
                  <a:fillRect l="-653" t="-1639" r="-435" b="-54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4223012-A22A-7101-7904-80ACE99F631E}"/>
                  </a:ext>
                </a:extLst>
              </p:cNvPr>
              <p:cNvSpPr txBox="1"/>
              <p:nvPr/>
            </p:nvSpPr>
            <p:spPr>
              <a:xfrm>
                <a:off x="6101686" y="5018432"/>
                <a:ext cx="5595583" cy="59804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son las estimaciones de los parámetros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respectivamente.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4223012-A22A-7101-7904-80ACE99F6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686" y="5018432"/>
                <a:ext cx="5595583" cy="598049"/>
              </a:xfrm>
              <a:prstGeom prst="rect">
                <a:avLst/>
              </a:prstGeom>
              <a:blipFill>
                <a:blip r:embed="rId5"/>
                <a:stretch>
                  <a:fillRect l="-653" t="-101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">
            <a:extLst>
              <a:ext uri="{FF2B5EF4-FFF2-40B4-BE49-F238E27FC236}">
                <a16:creationId xmlns:a16="http://schemas.microsoft.com/office/drawing/2014/main" id="{3CC582CA-164F-8E68-49F9-68E2A29154B9}"/>
              </a:ext>
            </a:extLst>
          </p:cNvPr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296480" y="3794091"/>
            <a:ext cx="5334000" cy="26974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9D69BA4-65DD-8BBC-C92E-222AEC03AB38}"/>
              </a:ext>
            </a:extLst>
          </p:cNvPr>
          <p:cNvSpPr txBox="1"/>
          <p:nvPr/>
        </p:nvSpPr>
        <p:spPr>
          <a:xfrm>
            <a:off x="6101686" y="5775023"/>
            <a:ext cx="5595583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  <a:buNone/>
            </a:pPr>
            <a:r>
              <a:rPr lang="es-MX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 reducir al mínimo las distancias desde los puntos a la recta ajustada, se utiliza el </a:t>
            </a:r>
            <a:r>
              <a:rPr lang="es-MX" sz="16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principio de mínimos cuadrados</a:t>
            </a:r>
            <a:r>
              <a:rPr lang="es-MX" sz="16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DAF78-17D2-CF53-3443-196C83DB73C0}"/>
              </a:ext>
            </a:extLst>
          </p:cNvPr>
          <p:cNvSpPr txBox="1"/>
          <p:nvPr/>
        </p:nvSpPr>
        <p:spPr>
          <a:xfrm>
            <a:off x="1583269" y="2894986"/>
            <a:ext cx="358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 esperado o estimado del error</a:t>
            </a:r>
          </a:p>
        </p:txBody>
      </p:sp>
    </p:spTree>
    <p:extLst>
      <p:ext uri="{BB962C8B-B14F-4D97-AF65-F5344CB8AC3E}">
        <p14:creationId xmlns:p14="http://schemas.microsoft.com/office/powerpoint/2010/main" val="20870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7D66-3DF0-1BBD-4B15-36FD1FB5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AB24E-602C-9902-4639-49ED9C30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/>
              <p:nvPr/>
            </p:nvSpPr>
            <p:spPr>
              <a:xfrm>
                <a:off x="964022" y="2321972"/>
                <a:ext cx="4931811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Considera el modelo lineal de primer orden: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E2FBD37-A53D-2999-0F25-5ADCC021D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2" y="2321972"/>
                <a:ext cx="4931811" cy="646331"/>
              </a:xfrm>
              <a:prstGeom prst="rect">
                <a:avLst/>
              </a:prstGeom>
              <a:blipFill>
                <a:blip r:embed="rId3"/>
                <a:stretch>
                  <a:fillRect l="-863" t="-4630" b="-6481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/>
              <p:nvPr/>
            </p:nvSpPr>
            <p:spPr>
              <a:xfrm>
                <a:off x="964021" y="3252753"/>
                <a:ext cx="4931811" cy="938334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Denotamos a la recta que minimiza la suma de cuadrados de los errores como: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583409A-0439-6B5B-A07A-53340D10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3252753"/>
                <a:ext cx="4931811" cy="938334"/>
              </a:xfrm>
              <a:prstGeom prst="rect">
                <a:avLst/>
              </a:prstGeom>
              <a:blipFill>
                <a:blip r:embed="rId4"/>
                <a:stretch>
                  <a:fillRect l="-863" t="-3205" r="-986" b="-4487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/>
              <p:nvPr/>
            </p:nvSpPr>
            <p:spPr>
              <a:xfrm>
                <a:off x="964021" y="4500440"/>
                <a:ext cx="4931811" cy="103028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los estimadores que se minimizan a la suma de cuadrados dada por:</a:t>
                </a: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MX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s-MX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s-MX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MX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46DD19-8BB0-545C-8016-143E17465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1" y="4500440"/>
                <a:ext cx="4931811" cy="1030282"/>
              </a:xfrm>
              <a:prstGeom prst="rect">
                <a:avLst/>
              </a:prstGeom>
              <a:blipFill>
                <a:blip r:embed="rId5"/>
                <a:stretch>
                  <a:fillRect l="-5549" t="-1754" r="-986" b="-63158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/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E025EB3-1B10-3D60-DFA0-990A78739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625" y="2974773"/>
                <a:ext cx="2108974" cy="4542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/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acc>
                                <m:accPr>
                                  <m:chr m:val="̅"/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s-MX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MX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MX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067610D-A629-FF90-2028-D5F479028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054" y="3921984"/>
                <a:ext cx="3324115" cy="9714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B098F6-2A7C-E4F5-3B3F-0ABB3F29C306}"/>
                  </a:ext>
                </a:extLst>
              </p:cNvPr>
              <p:cNvSpPr txBox="1"/>
              <p:nvPr/>
            </p:nvSpPr>
            <p:spPr>
              <a:xfrm>
                <a:off x="863936" y="5694937"/>
                <a:ext cx="5131979" cy="1090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minimizar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utiliza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derivada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se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calculan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puntos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criticos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se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Segunda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derivada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para determiner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un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minimo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es un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maximo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y con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ello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estimar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parametros</a:t>
                </a: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MX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MX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B098F6-2A7C-E4F5-3B3F-0ABB3F29C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36" y="5694937"/>
                <a:ext cx="5131979" cy="1090491"/>
              </a:xfrm>
              <a:prstGeom prst="rect">
                <a:avLst/>
              </a:prstGeom>
              <a:blipFill>
                <a:blip r:embed="rId8"/>
                <a:stretch>
                  <a:fillRect l="-713" t="-1676" b="-6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92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A1C0-FC20-98DC-BD32-5F547120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8AADD-C580-3B0F-CFBD-B113EF73E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60" y="188088"/>
            <a:ext cx="9715339" cy="880423"/>
          </a:xfrm>
        </p:spPr>
        <p:txBody>
          <a:bodyPr rtlCol="0">
            <a:noAutofit/>
          </a:bodyPr>
          <a:lstStyle/>
          <a:p>
            <a:pPr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Supuestos de la distribución de los Errores </a:t>
            </a:r>
            <a:r>
              <a:rPr lang="es-ES" sz="26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residuales</a:t>
            </a:r>
            <a:b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 validar nuestro modelo de regresión lineal)</a:t>
            </a:r>
            <a:endParaRPr lang="es-ES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/>
              <p:nvPr/>
            </p:nvSpPr>
            <p:spPr>
              <a:xfrm>
                <a:off x="230033" y="1365715"/>
                <a:ext cx="5254091" cy="92333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media de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cero. </a:t>
                </a:r>
              </a:p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Mean(residuos(modelo) ~= 0</a:t>
                </a: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19276E-D2C9-8587-6C92-950462DB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3" y="1365715"/>
                <a:ext cx="5254091" cy="923330"/>
              </a:xfrm>
              <a:prstGeom prst="rect">
                <a:avLst/>
              </a:prstGeom>
              <a:blipFill>
                <a:blip r:embed="rId3"/>
                <a:stretch>
                  <a:fillRect l="-926" t="-2614" r="-810" b="-9150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/>
              <p:nvPr/>
            </p:nvSpPr>
            <p:spPr>
              <a:xfrm>
                <a:off x="230034" y="2545679"/>
                <a:ext cx="5254091" cy="1354217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varianza de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constante. </a:t>
                </a:r>
              </a:p>
              <a:p>
                <a:pPr algn="just"/>
                <a:r>
                  <a:rPr lang="es-MX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Breusch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-Pagan Test</a:t>
                </a:r>
              </a:p>
              <a:p>
                <a:pPr algn="just"/>
                <a:r>
                  <a:rPr lang="es-MX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s-MX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s-MX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homocedasticidad</a:t>
                </a:r>
              </a:p>
              <a:p>
                <a:pPr algn="just"/>
                <a:r>
                  <a:rPr lang="es-MX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s-MX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s-MX" sz="1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heterocedasticidad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93D7751-6365-DC90-42ED-3E8A286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34" y="2545679"/>
                <a:ext cx="5254091" cy="1354217"/>
              </a:xfrm>
              <a:prstGeom prst="rect">
                <a:avLst/>
              </a:prstGeom>
              <a:blipFill>
                <a:blip r:embed="rId4"/>
                <a:stretch>
                  <a:fillRect l="-926" t="-2232" r="-810" b="-3125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/>
              <p:nvPr/>
            </p:nvSpPr>
            <p:spPr>
              <a:xfrm>
                <a:off x="223407" y="4156530"/>
                <a:ext cx="5267344" cy="1200329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decir, la distribución de probabilidad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normal. </a:t>
                </a:r>
              </a:p>
              <a:p>
                <a:pPr algn="just"/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Shapiro Test</a:t>
                </a:r>
              </a:p>
              <a:p>
                <a:pPr algn="just"/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Jarque </a:t>
                </a:r>
                <a:r>
                  <a:rPr lang="es-MX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Bera</a:t>
                </a:r>
                <a:r>
                  <a:rPr lang="es-MX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Test (forma)</a:t>
                </a: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42921F4-1272-8D9B-9865-750E5266A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07" y="4156530"/>
                <a:ext cx="5267344" cy="1200329"/>
              </a:xfrm>
              <a:prstGeom prst="rect">
                <a:avLst/>
              </a:prstGeom>
              <a:blipFill>
                <a:blip r:embed="rId5"/>
                <a:stretch>
                  <a:fillRect l="-924" t="-2513" r="-808" b="-6533"/>
                </a:stretch>
              </a:blipFill>
              <a:ln>
                <a:solidFill>
                  <a:schemeClr val="tx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E4CBE6A5-BA08-39E5-651F-561752EF4E05}"/>
              </a:ext>
            </a:extLst>
          </p:cNvPr>
          <p:cNvSpPr txBox="1"/>
          <p:nvPr/>
        </p:nvSpPr>
        <p:spPr>
          <a:xfrm>
            <a:off x="218661" y="5613494"/>
            <a:ext cx="5254091" cy="120032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Los errores asociados con dos observaciones diferentes son independentes. Que una observación no dependa de la otra, que no haya correlación entre ellas.</a:t>
            </a:r>
          </a:p>
          <a:p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Durbin-Watson Test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E43E40-2C9A-3185-9472-B85AEF8B4DD4}"/>
              </a:ext>
            </a:extLst>
          </p:cNvPr>
          <p:cNvSpPr/>
          <p:nvPr/>
        </p:nvSpPr>
        <p:spPr>
          <a:xfrm>
            <a:off x="7040018" y="1502135"/>
            <a:ext cx="382137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el modelo no tiene sesgo sistemático.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E4BEE46-48D6-0E9D-48CE-918496178C4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5484124" y="1825301"/>
            <a:ext cx="1555894" cy="20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BC6E99-73CD-422A-FCEE-C4BDDE747D09}"/>
              </a:ext>
            </a:extLst>
          </p:cNvPr>
          <p:cNvSpPr/>
          <p:nvPr/>
        </p:nvSpPr>
        <p:spPr>
          <a:xfrm>
            <a:off x="7040018" y="2800191"/>
            <a:ext cx="3821373" cy="835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asegura que los errores tienen la misma dispersión en todas las observaciones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BC5B17-652D-5479-8E75-5E0F4F69F8A6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5484125" y="3217717"/>
            <a:ext cx="1555893" cy="5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0B12A4-777C-F63B-21ED-C0B928AEE7B0}"/>
              </a:ext>
            </a:extLst>
          </p:cNvPr>
          <p:cNvSpPr/>
          <p:nvPr/>
        </p:nvSpPr>
        <p:spPr>
          <a:xfrm>
            <a:off x="7040018" y="4334640"/>
            <a:ext cx="3821373" cy="835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estimadores sean óptimos en términos de máxima verosimilitud y para la validez de pruebas estadísticas.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D7BA1A2-6BDB-581B-FF6A-2B36663FA45D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5490751" y="4752166"/>
            <a:ext cx="1549267" cy="45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C8A599-C26D-0A8C-069D-AFDE0C4678C5}"/>
              </a:ext>
            </a:extLst>
          </p:cNvPr>
          <p:cNvSpPr/>
          <p:nvPr/>
        </p:nvSpPr>
        <p:spPr>
          <a:xfrm>
            <a:off x="7040018" y="5662779"/>
            <a:ext cx="3821373" cy="11017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los errores están correlacionados, las estimaciones de los coeficientes siguen siendo insesgados, y esto es lo que no queremos.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837EF9D-83A2-D253-F2C9-CB5D063153FF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5472752" y="6213658"/>
            <a:ext cx="156726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6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4328</TotalTime>
  <Words>818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Regresión Lineal</vt:lpstr>
      <vt:lpstr>Regresión Lineal</vt:lpstr>
      <vt:lpstr>Regresión Lineal</vt:lpstr>
      <vt:lpstr>Regresión Lineal</vt:lpstr>
      <vt:lpstr>Regresión Lineal</vt:lpstr>
      <vt:lpstr>Ejemplo</vt:lpstr>
      <vt:lpstr>Ejemplo</vt:lpstr>
      <vt:lpstr>Ejemplo</vt:lpstr>
      <vt:lpstr>Supuestos de la distribución de los Errores e  o residuales  (para validar nuestro modelo de regresión lineal)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Enrique Garcia</cp:lastModifiedBy>
  <cp:revision>84</cp:revision>
  <dcterms:created xsi:type="dcterms:W3CDTF">2023-09-16T20:42:33Z</dcterms:created>
  <dcterms:modified xsi:type="dcterms:W3CDTF">2025-05-21T00:09:34Z</dcterms:modified>
</cp:coreProperties>
</file>
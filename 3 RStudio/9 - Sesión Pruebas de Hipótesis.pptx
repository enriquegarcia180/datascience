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sldIdLst>
    <p:sldId id="268" r:id="rId2"/>
    <p:sldId id="269" r:id="rId3"/>
    <p:sldId id="281" r:id="rId4"/>
    <p:sldId id="297" r:id="rId5"/>
    <p:sldId id="280" r:id="rId6"/>
    <p:sldId id="282" r:id="rId7"/>
    <p:sldId id="283" r:id="rId8"/>
    <p:sldId id="293" r:id="rId9"/>
    <p:sldId id="284" r:id="rId10"/>
    <p:sldId id="285" r:id="rId11"/>
    <p:sldId id="294" r:id="rId12"/>
    <p:sldId id="286" r:id="rId13"/>
    <p:sldId id="287" r:id="rId14"/>
    <p:sldId id="296" r:id="rId15"/>
    <p:sldId id="288" r:id="rId16"/>
    <p:sldId id="295" r:id="rId17"/>
    <p:sldId id="292" r:id="rId18"/>
    <p:sldId id="291" r:id="rId19"/>
    <p:sldId id="289" r:id="rId20"/>
    <p:sldId id="290" r:id="rId21"/>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useTimings="0">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Estilo claro 1 - Acento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505E3EF-67EA-436B-97B2-0124C06EBD24}" styleName="Estilo medio 4 - Énfasis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Estilo medio 2 - Énfasis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Estilo medio 2 - Énfasis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E3FDE45-AF77-4B5C-9715-49D594BDF05E}" styleName="Estilo claro 1 - Acento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Estilo claro 1 - Acento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D27102A9-8310-4765-A935-A1911B00CA55}" styleName="Estilo claro 1 - Acento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66" d="100"/>
          <a:sy n="66" d="100"/>
        </p:scale>
        <p:origin x="668" y="2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E06FD9-7C5A-4B1C-968A-BB507C3E1197}" type="datetimeFigureOut">
              <a:rPr lang="es-MX" smtClean="0"/>
              <a:t>12/05/2025</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B6384F-A249-4C3C-8731-5338BA85F774}" type="slidenum">
              <a:rPr lang="es-MX" smtClean="0"/>
              <a:t>‹#›</a:t>
            </a:fld>
            <a:endParaRPr lang="es-MX"/>
          </a:p>
        </p:txBody>
      </p:sp>
    </p:spTree>
    <p:extLst>
      <p:ext uri="{BB962C8B-B14F-4D97-AF65-F5344CB8AC3E}">
        <p14:creationId xmlns:p14="http://schemas.microsoft.com/office/powerpoint/2010/main" val="31408590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9C7E07-3C67-C64C-8DA0-0404F6303970}"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155265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2</a:t>
            </a:fld>
            <a:endParaRPr lang="es-ES"/>
          </a:p>
        </p:txBody>
      </p:sp>
    </p:spTree>
    <p:extLst>
      <p:ext uri="{BB962C8B-B14F-4D97-AF65-F5344CB8AC3E}">
        <p14:creationId xmlns:p14="http://schemas.microsoft.com/office/powerpoint/2010/main" val="13274242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3</a:t>
            </a:fld>
            <a:endParaRPr lang="es-ES"/>
          </a:p>
        </p:txBody>
      </p:sp>
    </p:spTree>
    <p:extLst>
      <p:ext uri="{BB962C8B-B14F-4D97-AF65-F5344CB8AC3E}">
        <p14:creationId xmlns:p14="http://schemas.microsoft.com/office/powerpoint/2010/main" val="4689701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5</a:t>
            </a:fld>
            <a:endParaRPr lang="es-ES"/>
          </a:p>
        </p:txBody>
      </p:sp>
    </p:spTree>
    <p:extLst>
      <p:ext uri="{BB962C8B-B14F-4D97-AF65-F5344CB8AC3E}">
        <p14:creationId xmlns:p14="http://schemas.microsoft.com/office/powerpoint/2010/main" val="8982105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6</a:t>
            </a:fld>
            <a:endParaRPr lang="es-ES"/>
          </a:p>
        </p:txBody>
      </p:sp>
    </p:spTree>
    <p:extLst>
      <p:ext uri="{BB962C8B-B14F-4D97-AF65-F5344CB8AC3E}">
        <p14:creationId xmlns:p14="http://schemas.microsoft.com/office/powerpoint/2010/main" val="19635075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7</a:t>
            </a:fld>
            <a:endParaRPr lang="es-ES"/>
          </a:p>
        </p:txBody>
      </p:sp>
    </p:spTree>
    <p:extLst>
      <p:ext uri="{BB962C8B-B14F-4D97-AF65-F5344CB8AC3E}">
        <p14:creationId xmlns:p14="http://schemas.microsoft.com/office/powerpoint/2010/main" val="26087534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8</a:t>
            </a:fld>
            <a:endParaRPr lang="es-ES"/>
          </a:p>
        </p:txBody>
      </p:sp>
    </p:spTree>
    <p:extLst>
      <p:ext uri="{BB962C8B-B14F-4D97-AF65-F5344CB8AC3E}">
        <p14:creationId xmlns:p14="http://schemas.microsoft.com/office/powerpoint/2010/main" val="12403264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9</a:t>
            </a:fld>
            <a:endParaRPr lang="es-ES"/>
          </a:p>
        </p:txBody>
      </p:sp>
    </p:spTree>
    <p:extLst>
      <p:ext uri="{BB962C8B-B14F-4D97-AF65-F5344CB8AC3E}">
        <p14:creationId xmlns:p14="http://schemas.microsoft.com/office/powerpoint/2010/main" val="3680851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10</a:t>
            </a:fld>
            <a:endParaRPr lang="es-ES"/>
          </a:p>
        </p:txBody>
      </p:sp>
    </p:spTree>
    <p:extLst>
      <p:ext uri="{BB962C8B-B14F-4D97-AF65-F5344CB8AC3E}">
        <p14:creationId xmlns:p14="http://schemas.microsoft.com/office/powerpoint/2010/main" val="40681486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11</a:t>
            </a:fld>
            <a:endParaRPr lang="es-ES"/>
          </a:p>
        </p:txBody>
      </p:sp>
    </p:spTree>
    <p:extLst>
      <p:ext uri="{BB962C8B-B14F-4D97-AF65-F5344CB8AC3E}">
        <p14:creationId xmlns:p14="http://schemas.microsoft.com/office/powerpoint/2010/main" val="30578419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12</a:t>
            </a:fld>
            <a:endParaRPr lang="es-ES"/>
          </a:p>
        </p:txBody>
      </p:sp>
    </p:spTree>
    <p:extLst>
      <p:ext uri="{BB962C8B-B14F-4D97-AF65-F5344CB8AC3E}">
        <p14:creationId xmlns:p14="http://schemas.microsoft.com/office/powerpoint/2010/main" val="16660714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13</a:t>
            </a:fld>
            <a:endParaRPr lang="es-ES"/>
          </a:p>
        </p:txBody>
      </p:sp>
    </p:spTree>
    <p:extLst>
      <p:ext uri="{BB962C8B-B14F-4D97-AF65-F5344CB8AC3E}">
        <p14:creationId xmlns:p14="http://schemas.microsoft.com/office/powerpoint/2010/main" val="13289655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82B2F-93B1-98EB-417C-1BB34CB87BC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9E65FFF-A4BA-5ACE-7B46-A77B903C2EE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0ADD84F-F001-9D3D-39F6-C144A4DFEF74}"/>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6A66AF70-C68C-A882-05A7-CCF109731443}"/>
              </a:ext>
            </a:extLst>
          </p:cNvPr>
          <p:cNvSpPr>
            <a:spLocks noGrp="1"/>
          </p:cNvSpPr>
          <p:nvPr>
            <p:ph type="sldNum" sz="quarter" idx="5"/>
          </p:nvPr>
        </p:nvSpPr>
        <p:spPr/>
        <p:txBody>
          <a:bodyPr/>
          <a:lstStyle/>
          <a:p>
            <a:pPr rtl="0"/>
            <a:fld id="{A89C7E07-3C67-C64C-8DA0-0404F6303970}" type="slidenum">
              <a:rPr lang="es-ES" smtClean="0"/>
              <a:t>14</a:t>
            </a:fld>
            <a:endParaRPr lang="es-ES"/>
          </a:p>
        </p:txBody>
      </p:sp>
    </p:spTree>
    <p:extLst>
      <p:ext uri="{BB962C8B-B14F-4D97-AF65-F5344CB8AC3E}">
        <p14:creationId xmlns:p14="http://schemas.microsoft.com/office/powerpoint/2010/main" val="37846738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15</a:t>
            </a:fld>
            <a:endParaRPr lang="es-ES"/>
          </a:p>
        </p:txBody>
      </p:sp>
    </p:spTree>
    <p:extLst>
      <p:ext uri="{BB962C8B-B14F-4D97-AF65-F5344CB8AC3E}">
        <p14:creationId xmlns:p14="http://schemas.microsoft.com/office/powerpoint/2010/main" val="36619384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16</a:t>
            </a:fld>
            <a:endParaRPr lang="es-ES"/>
          </a:p>
        </p:txBody>
      </p:sp>
    </p:spTree>
    <p:extLst>
      <p:ext uri="{BB962C8B-B14F-4D97-AF65-F5344CB8AC3E}">
        <p14:creationId xmlns:p14="http://schemas.microsoft.com/office/powerpoint/2010/main" val="30728887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17</a:t>
            </a:fld>
            <a:endParaRPr lang="es-ES"/>
          </a:p>
        </p:txBody>
      </p:sp>
    </p:spTree>
    <p:extLst>
      <p:ext uri="{BB962C8B-B14F-4D97-AF65-F5344CB8AC3E}">
        <p14:creationId xmlns:p14="http://schemas.microsoft.com/office/powerpoint/2010/main" val="18161767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18</a:t>
            </a:fld>
            <a:endParaRPr lang="es-ES"/>
          </a:p>
        </p:txBody>
      </p:sp>
    </p:spTree>
    <p:extLst>
      <p:ext uri="{BB962C8B-B14F-4D97-AF65-F5344CB8AC3E}">
        <p14:creationId xmlns:p14="http://schemas.microsoft.com/office/powerpoint/2010/main" val="40424053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19</a:t>
            </a:fld>
            <a:endParaRPr lang="es-ES"/>
          </a:p>
        </p:txBody>
      </p:sp>
    </p:spTree>
    <p:extLst>
      <p:ext uri="{BB962C8B-B14F-4D97-AF65-F5344CB8AC3E}">
        <p14:creationId xmlns:p14="http://schemas.microsoft.com/office/powerpoint/2010/main" val="9490170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20</a:t>
            </a:fld>
            <a:endParaRPr lang="es-ES"/>
          </a:p>
        </p:txBody>
      </p:sp>
    </p:spTree>
    <p:extLst>
      <p:ext uri="{BB962C8B-B14F-4D97-AF65-F5344CB8AC3E}">
        <p14:creationId xmlns:p14="http://schemas.microsoft.com/office/powerpoint/2010/main" val="36112262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ítulo">
    <p:bg>
      <p:bgPr>
        <a:solidFill>
          <a:schemeClr val="tx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B6987D-0137-DE42-B76B-FF621E808D90}"/>
              </a:ext>
            </a:extLst>
          </p:cNvPr>
          <p:cNvSpPr>
            <a:spLocks noGrp="1"/>
          </p:cNvSpPr>
          <p:nvPr>
            <p:ph type="ctrTitle"/>
          </p:nvPr>
        </p:nvSpPr>
        <p:spPr>
          <a:xfrm>
            <a:off x="6367054" y="2116182"/>
            <a:ext cx="5491571" cy="1514019"/>
          </a:xfrm>
          <a:prstGeom prst="rect">
            <a:avLst/>
          </a:prstGeom>
        </p:spPr>
        <p:txBody>
          <a:bodyPr lIns="0" tIns="0" rIns="0" bIns="0" rtlCol="0" anchor="b">
            <a:noAutofit/>
          </a:bodyPr>
          <a:lstStyle>
            <a:lvl1pPr algn="l">
              <a:defRPr sz="6000" b="1" i="0" spc="100" baseline="0">
                <a:solidFill>
                  <a:schemeClr val="bg1"/>
                </a:solidFill>
                <a:latin typeface="+mj-lt"/>
              </a:defRPr>
            </a:lvl1pPr>
          </a:lstStyle>
          <a:p>
            <a:pPr rtl="0"/>
            <a:r>
              <a:rPr lang="es-ES" noProof="0"/>
              <a:t>Haga clic para modificar el estilo de título del patrón</a:t>
            </a:r>
            <a:endParaRPr lang="es-ES" noProof="0" dirty="0"/>
          </a:p>
        </p:txBody>
      </p:sp>
      <p:grpSp>
        <p:nvGrpSpPr>
          <p:cNvPr id="9" name="Grupo 8">
            <a:extLst>
              <a:ext uri="{FF2B5EF4-FFF2-40B4-BE49-F238E27FC236}">
                <a16:creationId xmlns:a16="http://schemas.microsoft.com/office/drawing/2014/main" id="{C26C18C3-ED25-DD4B-BA72-24932D54DE37}"/>
              </a:ext>
            </a:extLst>
          </p:cNvPr>
          <p:cNvGrpSpPr>
            <a:grpSpLocks/>
          </p:cNvGrpSpPr>
          <p:nvPr userDrawn="1"/>
        </p:nvGrpSpPr>
        <p:grpSpPr bwMode="auto">
          <a:xfrm>
            <a:off x="1" y="758752"/>
            <a:ext cx="6099248" cy="6099248"/>
            <a:chOff x="0" y="12289"/>
            <a:chExt cx="3550" cy="3551"/>
          </a:xfrm>
        </p:grpSpPr>
        <p:sp>
          <p:nvSpPr>
            <p:cNvPr id="10" name="Forma libre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1" name="Forma libre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2" name="Forma libre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18" name="Marcador de texto 29">
            <a:extLst>
              <a:ext uri="{FF2B5EF4-FFF2-40B4-BE49-F238E27FC236}">
                <a16:creationId xmlns:a16="http://schemas.microsoft.com/office/drawing/2014/main" id="{276A9CD7-E675-3048-86D3-3546A2F6B456}"/>
              </a:ext>
            </a:extLst>
          </p:cNvPr>
          <p:cNvSpPr>
            <a:spLocks noGrp="1"/>
          </p:cNvSpPr>
          <p:nvPr>
            <p:ph type="body" sz="quarter" idx="11"/>
          </p:nvPr>
        </p:nvSpPr>
        <p:spPr>
          <a:xfrm>
            <a:off x="6367055" y="4549553"/>
            <a:ext cx="5491570" cy="953337"/>
          </a:xfrm>
        </p:spPr>
        <p:txBody>
          <a:bodyPr lIns="0" tIns="0" rIns="0" bIns="0" rtlCol="0">
            <a:noAutofit/>
          </a:bodyPr>
          <a:lstStyle>
            <a:lvl1pPr marL="0" indent="0">
              <a:buNone/>
              <a:defRPr sz="1800" b="0" i="0">
                <a:solidFill>
                  <a:schemeClr val="tx2"/>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13" name="Conector recto 12">
            <a:extLst>
              <a:ext uri="{FF2B5EF4-FFF2-40B4-BE49-F238E27FC236}">
                <a16:creationId xmlns:a16="http://schemas.microsoft.com/office/drawing/2014/main" id="{A69706A2-3726-FE4E-B923-E75D48597816}"/>
              </a:ext>
            </a:extLst>
          </p:cNvPr>
          <p:cNvCxnSpPr>
            <a:cxnSpLocks/>
          </p:cNvCxnSpPr>
          <p:nvPr userDrawn="1"/>
        </p:nvCxnSpPr>
        <p:spPr>
          <a:xfrm>
            <a:off x="6367055" y="4252111"/>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7396690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upo 5">
            <a:extLst>
              <a:ext uri="{FF2B5EF4-FFF2-40B4-BE49-F238E27FC236}">
                <a16:creationId xmlns:a16="http://schemas.microsoft.com/office/drawing/2014/main" id="{806C6F65-35CD-D64B-992A-0C1C1E00384D}"/>
              </a:ext>
            </a:extLst>
          </p:cNvPr>
          <p:cNvGrpSpPr/>
          <p:nvPr userDrawn="1"/>
        </p:nvGrpSpPr>
        <p:grpSpPr>
          <a:xfrm>
            <a:off x="6362700" y="0"/>
            <a:ext cx="5829298" cy="3235602"/>
            <a:chOff x="5612972" y="1"/>
            <a:chExt cx="6615961" cy="3672246"/>
          </a:xfrm>
        </p:grpSpPr>
        <p:sp>
          <p:nvSpPr>
            <p:cNvPr id="7" name="Autoforma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8" name="Forma libre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9" name="Forma libre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0" name="Forma libre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1" name="Forma libre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12" name="Título 1">
            <a:extLst>
              <a:ext uri="{FF2B5EF4-FFF2-40B4-BE49-F238E27FC236}">
                <a16:creationId xmlns:a16="http://schemas.microsoft.com/office/drawing/2014/main" id="{39F93F26-ED5C-E74E-BFBD-E3054DC1B9C1}"/>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spc="50" baseline="0">
                <a:latin typeface="+mj-lt"/>
              </a:defRPr>
            </a:lvl1pPr>
          </a:lstStyle>
          <a:p>
            <a:pPr rtl="0"/>
            <a:r>
              <a:rPr lang="es-ES" noProof="0"/>
              <a:t>Haga clic para modificar el estilo de título del patrón</a:t>
            </a:r>
            <a:endParaRPr lang="es-ES" noProof="0" dirty="0"/>
          </a:p>
        </p:txBody>
      </p:sp>
      <p:cxnSp>
        <p:nvCxnSpPr>
          <p:cNvPr id="13" name="Conector recto 12">
            <a:extLst>
              <a:ext uri="{FF2B5EF4-FFF2-40B4-BE49-F238E27FC236}">
                <a16:creationId xmlns:a16="http://schemas.microsoft.com/office/drawing/2014/main" id="{CF0FD074-81E2-0D4E-8446-C5B415B238A0}"/>
              </a:ext>
            </a:extLst>
          </p:cNvPr>
          <p:cNvCxnSpPr>
            <a:cxnSpLocks/>
          </p:cNvCxnSpPr>
          <p:nvPr userDrawn="1"/>
        </p:nvCxnSpPr>
        <p:spPr>
          <a:xfrm>
            <a:off x="952500" y="1934655"/>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4" name="Marcador de texto 29">
            <a:extLst>
              <a:ext uri="{FF2B5EF4-FFF2-40B4-BE49-F238E27FC236}">
                <a16:creationId xmlns:a16="http://schemas.microsoft.com/office/drawing/2014/main" id="{58AAB058-5FFC-9E4E-AD2E-FB1B4EE51025}"/>
              </a:ext>
            </a:extLst>
          </p:cNvPr>
          <p:cNvSpPr>
            <a:spLocks noGrp="1"/>
          </p:cNvSpPr>
          <p:nvPr>
            <p:ph type="body" sz="quarter" idx="13"/>
          </p:nvPr>
        </p:nvSpPr>
        <p:spPr>
          <a:xfrm>
            <a:off x="952500" y="2818296"/>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15" name="Marcador de texto 29">
            <a:extLst>
              <a:ext uri="{FF2B5EF4-FFF2-40B4-BE49-F238E27FC236}">
                <a16:creationId xmlns:a16="http://schemas.microsoft.com/office/drawing/2014/main" id="{18ABDA74-C3EC-274D-BE87-AC5B825A2A4C}"/>
              </a:ext>
            </a:extLst>
          </p:cNvPr>
          <p:cNvSpPr>
            <a:spLocks noGrp="1"/>
          </p:cNvSpPr>
          <p:nvPr>
            <p:ph type="body" sz="quarter" idx="14"/>
          </p:nvPr>
        </p:nvSpPr>
        <p:spPr>
          <a:xfrm>
            <a:off x="952500" y="2209800"/>
            <a:ext cx="2133600"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16" name="Conector recto 15">
            <a:extLst>
              <a:ext uri="{FF2B5EF4-FFF2-40B4-BE49-F238E27FC236}">
                <a16:creationId xmlns:a16="http://schemas.microsoft.com/office/drawing/2014/main" id="{A3DDE02E-BC75-2645-8725-CA2CFD327A3C}"/>
              </a:ext>
            </a:extLst>
          </p:cNvPr>
          <p:cNvCxnSpPr>
            <a:cxnSpLocks/>
          </p:cNvCxnSpPr>
          <p:nvPr userDrawn="1"/>
        </p:nvCxnSpPr>
        <p:spPr>
          <a:xfrm>
            <a:off x="3663043"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7" name="Marcador de texto 29">
            <a:extLst>
              <a:ext uri="{FF2B5EF4-FFF2-40B4-BE49-F238E27FC236}">
                <a16:creationId xmlns:a16="http://schemas.microsoft.com/office/drawing/2014/main" id="{3ABA9FD1-9B74-F14F-81EF-7B3407196B03}"/>
              </a:ext>
            </a:extLst>
          </p:cNvPr>
          <p:cNvSpPr>
            <a:spLocks noGrp="1"/>
          </p:cNvSpPr>
          <p:nvPr>
            <p:ph type="body" sz="quarter" idx="15"/>
          </p:nvPr>
        </p:nvSpPr>
        <p:spPr>
          <a:xfrm>
            <a:off x="3663042" y="2818296"/>
            <a:ext cx="2128157"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18" name="Marcador de texto 29">
            <a:extLst>
              <a:ext uri="{FF2B5EF4-FFF2-40B4-BE49-F238E27FC236}">
                <a16:creationId xmlns:a16="http://schemas.microsoft.com/office/drawing/2014/main" id="{0E9E9D03-0186-5B4C-A73F-95ADCD08A44A}"/>
              </a:ext>
            </a:extLst>
          </p:cNvPr>
          <p:cNvSpPr>
            <a:spLocks noGrp="1"/>
          </p:cNvSpPr>
          <p:nvPr>
            <p:ph type="body" sz="quarter" idx="16"/>
          </p:nvPr>
        </p:nvSpPr>
        <p:spPr>
          <a:xfrm>
            <a:off x="3663042" y="2209800"/>
            <a:ext cx="2128157"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20" name="Conector recto 19">
            <a:extLst>
              <a:ext uri="{FF2B5EF4-FFF2-40B4-BE49-F238E27FC236}">
                <a16:creationId xmlns:a16="http://schemas.microsoft.com/office/drawing/2014/main" id="{E01EE6FD-FABB-AD48-92DA-19805B502918}"/>
              </a:ext>
            </a:extLst>
          </p:cNvPr>
          <p:cNvCxnSpPr>
            <a:cxnSpLocks/>
          </p:cNvCxnSpPr>
          <p:nvPr userDrawn="1"/>
        </p:nvCxnSpPr>
        <p:spPr>
          <a:xfrm>
            <a:off x="952500" y="4248119"/>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1" name="Marcador de texto 29">
            <a:extLst>
              <a:ext uri="{FF2B5EF4-FFF2-40B4-BE49-F238E27FC236}">
                <a16:creationId xmlns:a16="http://schemas.microsoft.com/office/drawing/2014/main" id="{F953BCFF-5CB8-784F-ACC1-A14670E62196}"/>
              </a:ext>
            </a:extLst>
          </p:cNvPr>
          <p:cNvSpPr>
            <a:spLocks noGrp="1"/>
          </p:cNvSpPr>
          <p:nvPr>
            <p:ph type="body" sz="quarter" idx="19"/>
          </p:nvPr>
        </p:nvSpPr>
        <p:spPr>
          <a:xfrm>
            <a:off x="952500" y="5131299"/>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2" name="Marcador de texto 29">
            <a:extLst>
              <a:ext uri="{FF2B5EF4-FFF2-40B4-BE49-F238E27FC236}">
                <a16:creationId xmlns:a16="http://schemas.microsoft.com/office/drawing/2014/main" id="{97DCC038-CDD3-1D48-B8BA-2617616935C5}"/>
              </a:ext>
            </a:extLst>
          </p:cNvPr>
          <p:cNvSpPr>
            <a:spLocks noGrp="1"/>
          </p:cNvSpPr>
          <p:nvPr>
            <p:ph type="body" sz="quarter" idx="20"/>
          </p:nvPr>
        </p:nvSpPr>
        <p:spPr>
          <a:xfrm>
            <a:off x="952500" y="4522803"/>
            <a:ext cx="2133600"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23" name="Conector recto 22">
            <a:extLst>
              <a:ext uri="{FF2B5EF4-FFF2-40B4-BE49-F238E27FC236}">
                <a16:creationId xmlns:a16="http://schemas.microsoft.com/office/drawing/2014/main" id="{93BB36CC-7349-334D-A028-58D01025E726}"/>
              </a:ext>
            </a:extLst>
          </p:cNvPr>
          <p:cNvCxnSpPr>
            <a:cxnSpLocks/>
          </p:cNvCxnSpPr>
          <p:nvPr userDrawn="1"/>
        </p:nvCxnSpPr>
        <p:spPr>
          <a:xfrm>
            <a:off x="3663043"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4" name="Marcador de texto 29">
            <a:extLst>
              <a:ext uri="{FF2B5EF4-FFF2-40B4-BE49-F238E27FC236}">
                <a16:creationId xmlns:a16="http://schemas.microsoft.com/office/drawing/2014/main" id="{C20DFC6E-CE65-E94B-921D-38F386E173F2}"/>
              </a:ext>
            </a:extLst>
          </p:cNvPr>
          <p:cNvSpPr>
            <a:spLocks noGrp="1"/>
          </p:cNvSpPr>
          <p:nvPr>
            <p:ph type="body" sz="quarter" idx="21"/>
          </p:nvPr>
        </p:nvSpPr>
        <p:spPr>
          <a:xfrm>
            <a:off x="3663042" y="5131299"/>
            <a:ext cx="2128157"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5" name="Marcador de texto 29">
            <a:extLst>
              <a:ext uri="{FF2B5EF4-FFF2-40B4-BE49-F238E27FC236}">
                <a16:creationId xmlns:a16="http://schemas.microsoft.com/office/drawing/2014/main" id="{773FBF72-A3D8-2F4E-BAD2-2755F0BE4A47}"/>
              </a:ext>
            </a:extLst>
          </p:cNvPr>
          <p:cNvSpPr>
            <a:spLocks noGrp="1"/>
          </p:cNvSpPr>
          <p:nvPr>
            <p:ph type="body" sz="quarter" idx="22"/>
          </p:nvPr>
        </p:nvSpPr>
        <p:spPr>
          <a:xfrm>
            <a:off x="3663042" y="4522803"/>
            <a:ext cx="2128157"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26" name="Conector recto 25">
            <a:extLst>
              <a:ext uri="{FF2B5EF4-FFF2-40B4-BE49-F238E27FC236}">
                <a16:creationId xmlns:a16="http://schemas.microsoft.com/office/drawing/2014/main" id="{C402C0D4-D9C4-F547-B996-38177302A3DC}"/>
              </a:ext>
            </a:extLst>
          </p:cNvPr>
          <p:cNvCxnSpPr>
            <a:cxnSpLocks/>
          </p:cNvCxnSpPr>
          <p:nvPr userDrawn="1"/>
        </p:nvCxnSpPr>
        <p:spPr>
          <a:xfrm>
            <a:off x="6367055"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7" name="Marcador de texto 29">
            <a:extLst>
              <a:ext uri="{FF2B5EF4-FFF2-40B4-BE49-F238E27FC236}">
                <a16:creationId xmlns:a16="http://schemas.microsoft.com/office/drawing/2014/main" id="{9B18A1DC-4A61-514B-9F70-1DCC893EBB17}"/>
              </a:ext>
            </a:extLst>
          </p:cNvPr>
          <p:cNvSpPr>
            <a:spLocks noGrp="1"/>
          </p:cNvSpPr>
          <p:nvPr>
            <p:ph type="body" sz="quarter" idx="23"/>
          </p:nvPr>
        </p:nvSpPr>
        <p:spPr>
          <a:xfrm>
            <a:off x="6367054" y="5131299"/>
            <a:ext cx="2129245"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8" name="Marcador de texto 29">
            <a:extLst>
              <a:ext uri="{FF2B5EF4-FFF2-40B4-BE49-F238E27FC236}">
                <a16:creationId xmlns:a16="http://schemas.microsoft.com/office/drawing/2014/main" id="{DD138509-2AA1-D540-90D6-288474956619}"/>
              </a:ext>
            </a:extLst>
          </p:cNvPr>
          <p:cNvSpPr>
            <a:spLocks noGrp="1"/>
          </p:cNvSpPr>
          <p:nvPr>
            <p:ph type="body" sz="quarter" idx="24"/>
          </p:nvPr>
        </p:nvSpPr>
        <p:spPr>
          <a:xfrm>
            <a:off x="6367054" y="4522803"/>
            <a:ext cx="2129245"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 name="Marcador de fecha 1">
            <a:extLst>
              <a:ext uri="{FF2B5EF4-FFF2-40B4-BE49-F238E27FC236}">
                <a16:creationId xmlns:a16="http://schemas.microsoft.com/office/drawing/2014/main" id="{62655503-4608-4F79-A5D4-B2F67958F263}"/>
              </a:ext>
            </a:extLst>
          </p:cNvPr>
          <p:cNvSpPr>
            <a:spLocks noGrp="1"/>
          </p:cNvSpPr>
          <p:nvPr>
            <p:ph type="dt" sz="half" idx="25"/>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0CFFE12A-8763-4EB7-9CEB-5B78076C5C21}"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 de mayo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9DAFA395-FE4C-4A99-A74E-57757D8473E1}"/>
              </a:ext>
            </a:extLst>
          </p:cNvPr>
          <p:cNvSpPr>
            <a:spLocks noGrp="1"/>
          </p:cNvSpPr>
          <p:nvPr>
            <p:ph type="ftr" sz="quarter" idx="2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30A6A117-A0E8-43E1-9120-CE3B8B97667F}"/>
              </a:ext>
            </a:extLst>
          </p:cNvPr>
          <p:cNvSpPr>
            <a:spLocks noGrp="1"/>
          </p:cNvSpPr>
          <p:nvPr>
            <p:ph type="sldNum" sz="quarter" idx="27"/>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32839545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ción">
    <p:spTree>
      <p:nvGrpSpPr>
        <p:cNvPr id="1" name=""/>
        <p:cNvGrpSpPr/>
        <p:nvPr/>
      </p:nvGrpSpPr>
      <p:grpSpPr>
        <a:xfrm>
          <a:off x="0" y="0"/>
          <a:ext cx="0" cy="0"/>
          <a:chOff x="0" y="0"/>
          <a:chExt cx="0" cy="0"/>
        </a:xfrm>
      </p:grpSpPr>
      <p:grpSp>
        <p:nvGrpSpPr>
          <p:cNvPr id="13" name="Grupo 12">
            <a:extLst>
              <a:ext uri="{FF2B5EF4-FFF2-40B4-BE49-F238E27FC236}">
                <a16:creationId xmlns:a16="http://schemas.microsoft.com/office/drawing/2014/main" id="{C82066DD-D313-D148-89C7-338EB873A730}"/>
              </a:ext>
            </a:extLst>
          </p:cNvPr>
          <p:cNvGrpSpPr>
            <a:grpSpLocks/>
          </p:cNvGrpSpPr>
          <p:nvPr userDrawn="1"/>
        </p:nvGrpSpPr>
        <p:grpSpPr bwMode="auto">
          <a:xfrm rot="16200000" flipV="1">
            <a:off x="0" y="3900132"/>
            <a:ext cx="2959226" cy="2959226"/>
            <a:chOff x="0" y="12289"/>
            <a:chExt cx="3550" cy="3551"/>
          </a:xfrm>
        </p:grpSpPr>
        <p:sp>
          <p:nvSpPr>
            <p:cNvPr id="15" name="Forma libre 14">
              <a:extLst>
                <a:ext uri="{FF2B5EF4-FFF2-40B4-BE49-F238E27FC236}">
                  <a16:creationId xmlns:a16="http://schemas.microsoft.com/office/drawing/2014/main" id="{A5BBD7C7-99D1-E841-A081-6912D1F2B85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6" name="Forma libre 15">
              <a:extLst>
                <a:ext uri="{FF2B5EF4-FFF2-40B4-BE49-F238E27FC236}">
                  <a16:creationId xmlns:a16="http://schemas.microsoft.com/office/drawing/2014/main" id="{227A14EE-CB79-754A-8B19-EB9874B3158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9" name="Forma libre 18">
              <a:extLst>
                <a:ext uri="{FF2B5EF4-FFF2-40B4-BE49-F238E27FC236}">
                  <a16:creationId xmlns:a16="http://schemas.microsoft.com/office/drawing/2014/main" id="{35B38B80-C3D3-4C47-B468-C41A8FF36F2A}"/>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14" name="Marcador de posición de imagen 2">
            <a:extLst>
              <a:ext uri="{FF2B5EF4-FFF2-40B4-BE49-F238E27FC236}">
                <a16:creationId xmlns:a16="http://schemas.microsoft.com/office/drawing/2014/main" id="{F0C4E8C2-3240-594A-9D5E-1BCD1AF44C5E}"/>
              </a:ext>
            </a:extLst>
          </p:cNvPr>
          <p:cNvSpPr>
            <a:spLocks noGrp="1"/>
          </p:cNvSpPr>
          <p:nvPr>
            <p:ph type="pic" sz="quarter" idx="13"/>
          </p:nvPr>
        </p:nvSpPr>
        <p:spPr>
          <a:xfrm>
            <a:off x="6096000" y="-22543"/>
            <a:ext cx="6096000" cy="6903086"/>
          </a:xfrm>
        </p:spPr>
        <p:txBody>
          <a:bodyPr rtlCol="0"/>
          <a:lstStyle/>
          <a:p>
            <a:pPr rtl="0"/>
            <a:r>
              <a:rPr lang="es-ES" noProof="0"/>
              <a:t>Haga clic en el icono para agregar una imagen</a:t>
            </a:r>
            <a:endParaRPr lang="es-ES" noProof="0" dirty="0"/>
          </a:p>
        </p:txBody>
      </p:sp>
      <p:sp>
        <p:nvSpPr>
          <p:cNvPr id="9" name="Título 1">
            <a:extLst>
              <a:ext uri="{FF2B5EF4-FFF2-40B4-BE49-F238E27FC236}">
                <a16:creationId xmlns:a16="http://schemas.microsoft.com/office/drawing/2014/main" id="{A5C37098-CEB2-1E45-989B-3DD92F3B1A30}"/>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17" name="Conector recto 16">
            <a:extLst>
              <a:ext uri="{FF2B5EF4-FFF2-40B4-BE49-F238E27FC236}">
                <a16:creationId xmlns:a16="http://schemas.microsoft.com/office/drawing/2014/main" id="{1D23F761-57FC-3649-AE84-0C3EF95EF561}"/>
              </a:ext>
            </a:extLst>
          </p:cNvPr>
          <p:cNvCxnSpPr>
            <a:cxnSpLocks/>
          </p:cNvCxnSpPr>
          <p:nvPr userDrawn="1"/>
        </p:nvCxnSpPr>
        <p:spPr>
          <a:xfrm>
            <a:off x="952500" y="1939108"/>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8" name="Marcador de texto 29">
            <a:extLst>
              <a:ext uri="{FF2B5EF4-FFF2-40B4-BE49-F238E27FC236}">
                <a16:creationId xmlns:a16="http://schemas.microsoft.com/office/drawing/2014/main" id="{E66F2BC9-2F8A-1543-9AFD-9BAB0E75B31C}"/>
              </a:ext>
            </a:extLst>
          </p:cNvPr>
          <p:cNvSpPr>
            <a:spLocks noGrp="1"/>
          </p:cNvSpPr>
          <p:nvPr>
            <p:ph type="body" sz="quarter" idx="11"/>
          </p:nvPr>
        </p:nvSpPr>
        <p:spPr>
          <a:xfrm>
            <a:off x="952499" y="2289363"/>
            <a:ext cx="4572001" cy="2795232"/>
          </a:xfrm>
        </p:spPr>
        <p:txBody>
          <a:bodyPr lIns="0" tIns="0" rIns="0" bIns="0" rtlCol="0">
            <a:noAutofit/>
          </a:bodyPr>
          <a:lstStyle>
            <a:lvl1pPr marL="0" indent="0">
              <a:lnSpc>
                <a:spcPct val="100000"/>
              </a:lnSpc>
              <a:buNone/>
              <a:defRPr sz="16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 name="Marcador de fecha 1">
            <a:extLst>
              <a:ext uri="{FF2B5EF4-FFF2-40B4-BE49-F238E27FC236}">
                <a16:creationId xmlns:a16="http://schemas.microsoft.com/office/drawing/2014/main" id="{CA64E0B3-57C5-4DAF-8531-F39610E77C09}"/>
              </a:ext>
            </a:extLst>
          </p:cNvPr>
          <p:cNvSpPr>
            <a:spLocks noGrp="1"/>
          </p:cNvSpPr>
          <p:nvPr>
            <p:ph type="dt" sz="half" idx="14"/>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845086BA-4771-4251-A1A0-95AEDDEBD7A7}"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 de mayo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B7E0EC46-C626-4D58-AB64-0B3B850D1482}"/>
              </a:ext>
            </a:extLst>
          </p:cNvPr>
          <p:cNvSpPr>
            <a:spLocks noGrp="1"/>
          </p:cNvSpPr>
          <p:nvPr>
            <p:ph type="ftr" sz="quarter" idx="15"/>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8F25D00C-8F5C-4528-87FA-F9431D967555}"/>
              </a:ext>
            </a:extLst>
          </p:cNvPr>
          <p:cNvSpPr>
            <a:spLocks noGrp="1"/>
          </p:cNvSpPr>
          <p:nvPr>
            <p:ph type="sldNum" sz="quarter" idx="1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3865347525"/>
      </p:ext>
    </p:extLst>
  </p:cSld>
  <p:clrMapOvr>
    <a:masterClrMapping/>
  </p:clrMapOvr>
  <p:extLst>
    <p:ext uri="{DCECCB84-F9BA-43D5-87BE-67443E8EF086}">
      <p15:sldGuideLst xmlns:p15="http://schemas.microsoft.com/office/powerpoint/2012/main">
        <p15:guide id="1" pos="600">
          <p15:clr>
            <a:srgbClr val="FBAE40"/>
          </p15:clr>
        </p15:guide>
        <p15:guide id="6" pos="3480">
          <p15:clr>
            <a:srgbClr val="FBAE40"/>
          </p15:clr>
        </p15:guide>
        <p15:guide id="7" orient="horz" pos="1440">
          <p15:clr>
            <a:srgbClr val="FBAE40"/>
          </p15:clr>
        </p15:guide>
        <p15:guide id="9" orient="horz" pos="1224">
          <p15:clr>
            <a:srgbClr val="FBAE40"/>
          </p15:clr>
        </p15:guide>
        <p15:guide id="10" orient="horz" pos="55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escanso">
    <p:bg>
      <p:bgPr>
        <a:solidFill>
          <a:schemeClr val="tx1"/>
        </a:solidFill>
        <a:effectLst/>
      </p:bgPr>
    </p:bg>
    <p:spTree>
      <p:nvGrpSpPr>
        <p:cNvPr id="1" name=""/>
        <p:cNvGrpSpPr/>
        <p:nvPr/>
      </p:nvGrpSpPr>
      <p:grpSpPr>
        <a:xfrm>
          <a:off x="0" y="0"/>
          <a:ext cx="0" cy="0"/>
          <a:chOff x="0" y="0"/>
          <a:chExt cx="0" cy="0"/>
        </a:xfrm>
      </p:grpSpPr>
      <p:sp>
        <p:nvSpPr>
          <p:cNvPr id="21" name="Marcador de posición de imagen 2">
            <a:extLst>
              <a:ext uri="{FF2B5EF4-FFF2-40B4-BE49-F238E27FC236}">
                <a16:creationId xmlns:a16="http://schemas.microsoft.com/office/drawing/2014/main" id="{50E2385F-F6FA-D345-AF77-A9EE8E49310D}"/>
              </a:ext>
            </a:extLst>
          </p:cNvPr>
          <p:cNvSpPr>
            <a:spLocks noGrp="1"/>
          </p:cNvSpPr>
          <p:nvPr>
            <p:ph type="pic" sz="quarter" idx="13"/>
          </p:nvPr>
        </p:nvSpPr>
        <p:spPr>
          <a:xfrm>
            <a:off x="0" y="0"/>
            <a:ext cx="12191998" cy="6858000"/>
          </a:xfrm>
          <a:solidFill>
            <a:schemeClr val="accent2"/>
          </a:solidFill>
        </p:spPr>
        <p:txBody>
          <a:bodyPr rtlCol="0"/>
          <a:lstStyle/>
          <a:p>
            <a:pPr rtl="0"/>
            <a:r>
              <a:rPr lang="es-ES" noProof="0"/>
              <a:t>Haga clic en el icono para agregar una imagen</a:t>
            </a:r>
            <a:endParaRPr lang="es-ES" noProof="0" dirty="0"/>
          </a:p>
        </p:txBody>
      </p:sp>
      <p:sp>
        <p:nvSpPr>
          <p:cNvPr id="18" name="Título 1">
            <a:extLst>
              <a:ext uri="{FF2B5EF4-FFF2-40B4-BE49-F238E27FC236}">
                <a16:creationId xmlns:a16="http://schemas.microsoft.com/office/drawing/2014/main" id="{8D492973-78E3-D34E-835E-CF2D4517016D}"/>
              </a:ext>
            </a:extLst>
          </p:cNvPr>
          <p:cNvSpPr>
            <a:spLocks noGrp="1"/>
          </p:cNvSpPr>
          <p:nvPr>
            <p:ph type="title"/>
          </p:nvPr>
        </p:nvSpPr>
        <p:spPr>
          <a:xfrm>
            <a:off x="7193943" y="3045437"/>
            <a:ext cx="4941477" cy="610863"/>
          </a:xfrm>
          <a:prstGeom prst="rect">
            <a:avLst/>
          </a:prstGeom>
        </p:spPr>
        <p:txBody>
          <a:bodyPr lIns="0" tIns="0" rIns="0" bIns="0" rtlCol="0" anchor="b" anchorCtr="0">
            <a:normAutofit/>
          </a:bodyPr>
          <a:lstStyle>
            <a:lvl1pPr>
              <a:defRPr sz="4100" b="1" i="0" baseline="0">
                <a:solidFill>
                  <a:schemeClr val="tx1"/>
                </a:solidFill>
                <a:latin typeface="+mj-lt"/>
              </a:defRPr>
            </a:lvl1pPr>
          </a:lstStyle>
          <a:p>
            <a:pPr rtl="0"/>
            <a:r>
              <a:rPr lang="es-ES" noProof="0"/>
              <a:t>Haga clic para modificar el estilo de título del patrón</a:t>
            </a:r>
            <a:endParaRPr lang="es-ES" noProof="0" dirty="0"/>
          </a:p>
        </p:txBody>
      </p:sp>
      <p:cxnSp>
        <p:nvCxnSpPr>
          <p:cNvPr id="20" name="Conector recto 19">
            <a:extLst>
              <a:ext uri="{FF2B5EF4-FFF2-40B4-BE49-F238E27FC236}">
                <a16:creationId xmlns:a16="http://schemas.microsoft.com/office/drawing/2014/main" id="{4BE3A3D6-A0AD-C84D-8B2A-743F5F95432E}"/>
              </a:ext>
            </a:extLst>
          </p:cNvPr>
          <p:cNvCxnSpPr>
            <a:cxnSpLocks/>
          </p:cNvCxnSpPr>
          <p:nvPr userDrawn="1"/>
        </p:nvCxnSpPr>
        <p:spPr>
          <a:xfrm>
            <a:off x="7154721" y="4003877"/>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grpSp>
        <p:nvGrpSpPr>
          <p:cNvPr id="22" name="Grupo 21">
            <a:extLst>
              <a:ext uri="{FF2B5EF4-FFF2-40B4-BE49-F238E27FC236}">
                <a16:creationId xmlns:a16="http://schemas.microsoft.com/office/drawing/2014/main" id="{F4CB38BE-0FF2-694C-AA3C-D73DBF7C332C}"/>
              </a:ext>
            </a:extLst>
          </p:cNvPr>
          <p:cNvGrpSpPr>
            <a:grpSpLocks/>
          </p:cNvGrpSpPr>
          <p:nvPr userDrawn="1"/>
        </p:nvGrpSpPr>
        <p:grpSpPr bwMode="auto">
          <a:xfrm rot="10800000">
            <a:off x="9509760" y="-3"/>
            <a:ext cx="2682238" cy="2682238"/>
            <a:chOff x="0" y="12289"/>
            <a:chExt cx="3550" cy="3551"/>
          </a:xfrm>
          <a:solidFill>
            <a:schemeClr val="tx1"/>
          </a:solidFill>
        </p:grpSpPr>
        <p:sp>
          <p:nvSpPr>
            <p:cNvPr id="23" name="Forma libre 22">
              <a:extLst>
                <a:ext uri="{FF2B5EF4-FFF2-40B4-BE49-F238E27FC236}">
                  <a16:creationId xmlns:a16="http://schemas.microsoft.com/office/drawing/2014/main" id="{F0257420-2EA0-6348-8B9E-1414F529726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4" name="Forma libre 23">
              <a:extLst>
                <a:ext uri="{FF2B5EF4-FFF2-40B4-BE49-F238E27FC236}">
                  <a16:creationId xmlns:a16="http://schemas.microsoft.com/office/drawing/2014/main" id="{7FE65C23-C0EF-BB41-884A-01C2A7356159}"/>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5" name="Forma libre 24">
              <a:extLst>
                <a:ext uri="{FF2B5EF4-FFF2-40B4-BE49-F238E27FC236}">
                  <a16:creationId xmlns:a16="http://schemas.microsoft.com/office/drawing/2014/main" id="{F73F5EB6-53C7-D44C-9003-FB5A81F9890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Tree>
    <p:extLst>
      <p:ext uri="{BB962C8B-B14F-4D97-AF65-F5344CB8AC3E}">
        <p14:creationId xmlns:p14="http://schemas.microsoft.com/office/powerpoint/2010/main" val="1240272940"/>
      </p:ext>
    </p:extLst>
  </p:cSld>
  <p:clrMapOvr>
    <a:masterClrMapping/>
  </p:clrMapOvr>
  <p:extLst>
    <p:ext uri="{DCECCB84-F9BA-43D5-87BE-67443E8EF086}">
      <p15:sldGuideLst xmlns:p15="http://schemas.microsoft.com/office/powerpoint/2012/main">
        <p15:guide id="2" pos="7104">
          <p15:clr>
            <a:srgbClr val="FBAE40"/>
          </p15:clr>
        </p15:guide>
        <p15:guide id="3" pos="4344">
          <p15:clr>
            <a:srgbClr val="FBAE40"/>
          </p15:clr>
        </p15:guide>
        <p15:guide id="4" pos="4560">
          <p15:clr>
            <a:srgbClr val="FBAE40"/>
          </p15:clr>
        </p15:guide>
        <p15:guide id="8" orient="horz" pos="184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Gráfico">
    <p:bg>
      <p:bgPr>
        <a:solidFill>
          <a:schemeClr val="tx1"/>
        </a:solidFill>
        <a:effectLst/>
      </p:bgPr>
    </p:bg>
    <p:spTree>
      <p:nvGrpSpPr>
        <p:cNvPr id="1" name=""/>
        <p:cNvGrpSpPr/>
        <p:nvPr/>
      </p:nvGrpSpPr>
      <p:grpSpPr>
        <a:xfrm>
          <a:off x="0" y="0"/>
          <a:ext cx="0" cy="0"/>
          <a:chOff x="0" y="0"/>
          <a:chExt cx="0" cy="0"/>
        </a:xfrm>
      </p:grpSpPr>
      <p:sp>
        <p:nvSpPr>
          <p:cNvPr id="6" name="Marcador de posición de gráfico 5">
            <a:extLst>
              <a:ext uri="{FF2B5EF4-FFF2-40B4-BE49-F238E27FC236}">
                <a16:creationId xmlns:a16="http://schemas.microsoft.com/office/drawing/2014/main" id="{75992517-0394-6B43-B15D-2A86A34512F3}"/>
              </a:ext>
            </a:extLst>
          </p:cNvPr>
          <p:cNvSpPr>
            <a:spLocks noGrp="1"/>
          </p:cNvSpPr>
          <p:nvPr>
            <p:ph type="chart" sz="quarter" idx="10"/>
          </p:nvPr>
        </p:nvSpPr>
        <p:spPr>
          <a:xfrm>
            <a:off x="952500" y="1939108"/>
            <a:ext cx="10352810" cy="4110702"/>
          </a:xfrm>
        </p:spPr>
        <p:txBody>
          <a:bodyPr rtlCol="0"/>
          <a:lstStyle>
            <a:lvl1pPr>
              <a:defRPr>
                <a:solidFill>
                  <a:schemeClr val="tx1"/>
                </a:solidFill>
              </a:defRPr>
            </a:lvl1pPr>
          </a:lstStyle>
          <a:p>
            <a:pPr rtl="0"/>
            <a:r>
              <a:rPr lang="es-ES" noProof="0"/>
              <a:t>Haga clic en el icono para agregar un gráfico</a:t>
            </a:r>
          </a:p>
        </p:txBody>
      </p:sp>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ES" noProof="0"/>
              <a:t>Haga clic para editar </a:t>
            </a:r>
          </a:p>
        </p:txBody>
      </p:sp>
      <p:sp>
        <p:nvSpPr>
          <p:cNvPr id="2" name="Marcador de fecha 1">
            <a:extLst>
              <a:ext uri="{FF2B5EF4-FFF2-40B4-BE49-F238E27FC236}">
                <a16:creationId xmlns:a16="http://schemas.microsoft.com/office/drawing/2014/main" id="{371012B1-809A-45CE-9FED-46D08DC8C42B}"/>
              </a:ext>
            </a:extLst>
          </p:cNvPr>
          <p:cNvSpPr>
            <a:spLocks noGrp="1"/>
          </p:cNvSpPr>
          <p:nvPr>
            <p:ph type="dt" sz="half" idx="1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6A99CD11-04C6-421F-AE19-E5D29CCF776B}"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 de mayo de 2025</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3FB6FA27-6601-4107-A3C9-808CB4430246}"/>
              </a:ext>
            </a:extLst>
          </p:cNvPr>
          <p:cNvSpPr>
            <a:spLocks noGrp="1"/>
          </p:cNvSpPr>
          <p:nvPr>
            <p:ph type="ftr" sz="quarter" idx="12"/>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0919432A-F8B5-4A96-AEE6-2E159658D5DD}"/>
              </a:ext>
            </a:extLst>
          </p:cNvPr>
          <p:cNvSpPr>
            <a:spLocks noGrp="1"/>
          </p:cNvSpPr>
          <p:nvPr>
            <p:ph type="sldNum" sz="quarter" idx="13"/>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3704365143"/>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a">
    <p:bg>
      <p:bgPr>
        <a:solidFill>
          <a:schemeClr val="tx1"/>
        </a:solidFill>
        <a:effectLst/>
      </p:bgPr>
    </p:bg>
    <p:spTree>
      <p:nvGrpSpPr>
        <p:cNvPr id="1" name=""/>
        <p:cNvGrpSpPr/>
        <p:nvPr/>
      </p:nvGrpSpPr>
      <p:grpSpPr>
        <a:xfrm>
          <a:off x="0" y="0"/>
          <a:ext cx="0" cy="0"/>
          <a:chOff x="0" y="0"/>
          <a:chExt cx="0" cy="0"/>
        </a:xfrm>
      </p:grpSpPr>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ES" noProof="0"/>
              <a:t>Haga clic para editar </a:t>
            </a:r>
          </a:p>
        </p:txBody>
      </p:sp>
      <p:sp>
        <p:nvSpPr>
          <p:cNvPr id="9" name="Marcador de título 2">
            <a:extLst>
              <a:ext uri="{FF2B5EF4-FFF2-40B4-BE49-F238E27FC236}">
                <a16:creationId xmlns:a16="http://schemas.microsoft.com/office/drawing/2014/main" id="{1506B022-475A-6647-98FF-D5C319A0C7C4}"/>
              </a:ext>
            </a:extLst>
          </p:cNvPr>
          <p:cNvSpPr>
            <a:spLocks noGrp="1"/>
          </p:cNvSpPr>
          <p:nvPr>
            <p:ph type="tbl" sz="quarter" idx="10"/>
          </p:nvPr>
        </p:nvSpPr>
        <p:spPr>
          <a:xfrm>
            <a:off x="952500" y="2209800"/>
            <a:ext cx="10287000" cy="2593109"/>
          </a:xfrm>
        </p:spPr>
        <p:txBody>
          <a:bodyPr rtlCol="0"/>
          <a:lstStyle/>
          <a:p>
            <a:pPr rtl="0"/>
            <a:r>
              <a:rPr lang="es-ES" noProof="0"/>
              <a:t>Haga clic en el icono para agregar una tabla</a:t>
            </a:r>
          </a:p>
        </p:txBody>
      </p:sp>
      <p:sp>
        <p:nvSpPr>
          <p:cNvPr id="2" name="Marcador de fecha 1">
            <a:extLst>
              <a:ext uri="{FF2B5EF4-FFF2-40B4-BE49-F238E27FC236}">
                <a16:creationId xmlns:a16="http://schemas.microsoft.com/office/drawing/2014/main" id="{9B2411D2-78FE-46C1-9EA9-C6A882903B53}"/>
              </a:ext>
            </a:extLst>
          </p:cNvPr>
          <p:cNvSpPr>
            <a:spLocks noGrp="1"/>
          </p:cNvSpPr>
          <p:nvPr>
            <p:ph type="dt" sz="half" idx="1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68820299-DC87-4039-A7B5-9AC50CF7A216}"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 de mayo de 2025</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C04DAF8F-82DB-4DBE-9041-71217A4516CB}"/>
              </a:ext>
            </a:extLst>
          </p:cNvPr>
          <p:cNvSpPr>
            <a:spLocks noGrp="1"/>
          </p:cNvSpPr>
          <p:nvPr>
            <p:ph type="ftr" sz="quarter" idx="12"/>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782F761B-6706-439D-9C75-43E751AB195C}"/>
              </a:ext>
            </a:extLst>
          </p:cNvPr>
          <p:cNvSpPr>
            <a:spLocks noGrp="1"/>
          </p:cNvSpPr>
          <p:nvPr>
            <p:ph type="sldNum" sz="quarter" idx="13"/>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4080274302"/>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ita">
    <p:bg>
      <p:bgPr>
        <a:solidFill>
          <a:schemeClr val="tx1"/>
        </a:solidFill>
        <a:effectLst/>
      </p:bgPr>
    </p:bg>
    <p:spTree>
      <p:nvGrpSpPr>
        <p:cNvPr id="1" name=""/>
        <p:cNvGrpSpPr/>
        <p:nvPr/>
      </p:nvGrpSpPr>
      <p:grpSpPr>
        <a:xfrm>
          <a:off x="0" y="0"/>
          <a:ext cx="0" cy="0"/>
          <a:chOff x="0" y="0"/>
          <a:chExt cx="0" cy="0"/>
        </a:xfrm>
      </p:grpSpPr>
      <p:sp>
        <p:nvSpPr>
          <p:cNvPr id="9" name="Título 1">
            <a:extLst>
              <a:ext uri="{FF2B5EF4-FFF2-40B4-BE49-F238E27FC236}">
                <a16:creationId xmlns:a16="http://schemas.microsoft.com/office/drawing/2014/main" id="{A5C37098-CEB2-1E45-989B-3DD92F3B1A30}"/>
              </a:ext>
            </a:extLst>
          </p:cNvPr>
          <p:cNvSpPr>
            <a:spLocks noGrp="1"/>
          </p:cNvSpPr>
          <p:nvPr>
            <p:ph type="title"/>
          </p:nvPr>
        </p:nvSpPr>
        <p:spPr>
          <a:xfrm>
            <a:off x="964022" y="2476500"/>
            <a:ext cx="7132320" cy="3289971"/>
          </a:xfrm>
          <a:prstGeom prst="rect">
            <a:avLst/>
          </a:prstGeom>
          <a:ln>
            <a:noFill/>
          </a:ln>
        </p:spPr>
        <p:txBody>
          <a:bodyPr lIns="0" tIns="0" rIns="0" bIns="0" rtlCol="0" anchor="t" anchorCtr="0">
            <a:normAutofit/>
          </a:bodyPr>
          <a:lstStyle>
            <a:lvl1pPr>
              <a:lnSpc>
                <a:spcPct val="100000"/>
              </a:lnSpc>
              <a:defRPr sz="2800" b="0" i="0">
                <a:solidFill>
                  <a:schemeClr val="bg1"/>
                </a:solidFill>
                <a:latin typeface="+mn-lt"/>
              </a:defRPr>
            </a:lvl1pPr>
          </a:lstStyle>
          <a:p>
            <a:pPr rtl="0"/>
            <a:r>
              <a:rPr lang="es-ES" noProof="0"/>
              <a:t>Haga clic para modificar el estilo de título del patrón</a:t>
            </a:r>
            <a:endParaRPr lang="es-ES" noProof="0" dirty="0"/>
          </a:p>
        </p:txBody>
      </p:sp>
      <p:sp>
        <p:nvSpPr>
          <p:cNvPr id="10" name="Cuadro de texto 9">
            <a:extLst>
              <a:ext uri="{FF2B5EF4-FFF2-40B4-BE49-F238E27FC236}">
                <a16:creationId xmlns:a16="http://schemas.microsoft.com/office/drawing/2014/main" id="{E902327D-DBD4-7A4E-ABF2-A946A559A8AD}"/>
              </a:ext>
            </a:extLst>
          </p:cNvPr>
          <p:cNvSpPr txBox="1"/>
          <p:nvPr userDrawn="1"/>
        </p:nvSpPr>
        <p:spPr>
          <a:xfrm>
            <a:off x="699948" y="548291"/>
            <a:ext cx="1589372" cy="31700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0000" b="1" i="0" u="none" strike="noStrike" kern="1200" cap="none" spc="0" normalizeH="0" baseline="0" noProof="0" dirty="0">
                <a:ln>
                  <a:noFill/>
                </a:ln>
                <a:solidFill>
                  <a:prstClr val="black"/>
                </a:solidFill>
                <a:effectLst/>
                <a:uLnTx/>
                <a:uFillTx/>
                <a:latin typeface="Franklin Gothic Book"/>
                <a:ea typeface="+mn-ea"/>
                <a:cs typeface="+mn-cs"/>
              </a:rPr>
              <a:t>“</a:t>
            </a:r>
          </a:p>
        </p:txBody>
      </p:sp>
      <p:grpSp>
        <p:nvGrpSpPr>
          <p:cNvPr id="18" name="Grupo 17">
            <a:extLst>
              <a:ext uri="{FF2B5EF4-FFF2-40B4-BE49-F238E27FC236}">
                <a16:creationId xmlns:a16="http://schemas.microsoft.com/office/drawing/2014/main" id="{6ACB4ADD-D9F4-984E-B29D-A2CF6D19E810}"/>
              </a:ext>
            </a:extLst>
          </p:cNvPr>
          <p:cNvGrpSpPr/>
          <p:nvPr userDrawn="1"/>
        </p:nvGrpSpPr>
        <p:grpSpPr>
          <a:xfrm>
            <a:off x="6362700" y="0"/>
            <a:ext cx="5829298" cy="3235602"/>
            <a:chOff x="5612972" y="1"/>
            <a:chExt cx="6615961" cy="3672246"/>
          </a:xfrm>
        </p:grpSpPr>
        <p:sp>
          <p:nvSpPr>
            <p:cNvPr id="19" name="Autoforma 24">
              <a:extLst>
                <a:ext uri="{FF2B5EF4-FFF2-40B4-BE49-F238E27FC236}">
                  <a16:creationId xmlns:a16="http://schemas.microsoft.com/office/drawing/2014/main" id="{5017C477-A988-7041-8A67-3D8294D6AD7C}"/>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0" name="Forma libre 19">
              <a:extLst>
                <a:ext uri="{FF2B5EF4-FFF2-40B4-BE49-F238E27FC236}">
                  <a16:creationId xmlns:a16="http://schemas.microsoft.com/office/drawing/2014/main" id="{206D7F37-5DD1-A24E-9CCA-84B2A168554D}"/>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1" name="Forma libre 20">
              <a:extLst>
                <a:ext uri="{FF2B5EF4-FFF2-40B4-BE49-F238E27FC236}">
                  <a16:creationId xmlns:a16="http://schemas.microsoft.com/office/drawing/2014/main" id="{A6E321C8-096C-1B41-B14F-4CA7AE04BB1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2" name="Forma libre 21">
              <a:extLst>
                <a:ext uri="{FF2B5EF4-FFF2-40B4-BE49-F238E27FC236}">
                  <a16:creationId xmlns:a16="http://schemas.microsoft.com/office/drawing/2014/main" id="{32B3FDD4-EB13-F44F-99D0-BFAB06F00B3A}"/>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3" name="Forma libre 22">
              <a:extLst>
                <a:ext uri="{FF2B5EF4-FFF2-40B4-BE49-F238E27FC236}">
                  <a16:creationId xmlns:a16="http://schemas.microsoft.com/office/drawing/2014/main" id="{A20BCBD2-A735-0C43-8C55-B384372AC62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grpSp>
        <p:nvGrpSpPr>
          <p:cNvPr id="24" name="Grupo 23">
            <a:extLst>
              <a:ext uri="{FF2B5EF4-FFF2-40B4-BE49-F238E27FC236}">
                <a16:creationId xmlns:a16="http://schemas.microsoft.com/office/drawing/2014/main" id="{669A90A7-BF26-684E-8C8B-638053DA1234}"/>
              </a:ext>
            </a:extLst>
          </p:cNvPr>
          <p:cNvGrpSpPr>
            <a:grpSpLocks/>
          </p:cNvGrpSpPr>
          <p:nvPr userDrawn="1"/>
        </p:nvGrpSpPr>
        <p:grpSpPr bwMode="auto">
          <a:xfrm rot="16200000" flipV="1">
            <a:off x="0" y="3900132"/>
            <a:ext cx="2959226" cy="2959226"/>
            <a:chOff x="0" y="12289"/>
            <a:chExt cx="3550" cy="3551"/>
          </a:xfrm>
        </p:grpSpPr>
        <p:sp>
          <p:nvSpPr>
            <p:cNvPr id="25" name="Forma libre 24">
              <a:extLst>
                <a:ext uri="{FF2B5EF4-FFF2-40B4-BE49-F238E27FC236}">
                  <a16:creationId xmlns:a16="http://schemas.microsoft.com/office/drawing/2014/main" id="{861D8E86-886A-8744-BC4C-FE82B02438F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6" name="Forma libre 25">
              <a:extLst>
                <a:ext uri="{FF2B5EF4-FFF2-40B4-BE49-F238E27FC236}">
                  <a16:creationId xmlns:a16="http://schemas.microsoft.com/office/drawing/2014/main" id="{2D967470-E96E-8843-AAD2-E0C8B807793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7" name="Forma libre 26">
              <a:extLst>
                <a:ext uri="{FF2B5EF4-FFF2-40B4-BE49-F238E27FC236}">
                  <a16:creationId xmlns:a16="http://schemas.microsoft.com/office/drawing/2014/main" id="{C8A27D09-765D-3949-BCCA-238C3514D4CF}"/>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Tree>
    <p:extLst>
      <p:ext uri="{BB962C8B-B14F-4D97-AF65-F5344CB8AC3E}">
        <p14:creationId xmlns:p14="http://schemas.microsoft.com/office/powerpoint/2010/main" val="60561421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560">
          <p15:clr>
            <a:srgbClr val="FBAE40"/>
          </p15:clr>
        </p15:guide>
        <p15:guide id="8" orient="horz" pos="1752">
          <p15:clr>
            <a:srgbClr val="FBAE40"/>
          </p15:clr>
        </p15:guide>
        <p15:guide id="9" orient="horz" pos="1248">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quipo">
    <p:bg>
      <p:bgPr>
        <a:solidFill>
          <a:schemeClr val="tx1"/>
        </a:solidFill>
        <a:effectLst/>
      </p:bgPr>
    </p:bg>
    <p:spTree>
      <p:nvGrpSpPr>
        <p:cNvPr id="1" name=""/>
        <p:cNvGrpSpPr/>
        <p:nvPr/>
      </p:nvGrpSpPr>
      <p:grpSpPr>
        <a:xfrm>
          <a:off x="0" y="0"/>
          <a:ext cx="0" cy="0"/>
          <a:chOff x="0" y="0"/>
          <a:chExt cx="0" cy="0"/>
        </a:xfrm>
      </p:grpSpPr>
      <p:grpSp>
        <p:nvGrpSpPr>
          <p:cNvPr id="25" name="Grupo 24">
            <a:extLst>
              <a:ext uri="{FF2B5EF4-FFF2-40B4-BE49-F238E27FC236}">
                <a16:creationId xmlns:a16="http://schemas.microsoft.com/office/drawing/2014/main" id="{A7D9F21A-75CF-6045-8FA1-C4F4E21B699C}"/>
              </a:ext>
            </a:extLst>
          </p:cNvPr>
          <p:cNvGrpSpPr>
            <a:grpSpLocks/>
          </p:cNvGrpSpPr>
          <p:nvPr userDrawn="1"/>
        </p:nvGrpSpPr>
        <p:grpSpPr bwMode="auto">
          <a:xfrm rot="16200000" flipV="1">
            <a:off x="0" y="3900132"/>
            <a:ext cx="2959226" cy="2959226"/>
            <a:chOff x="0" y="12289"/>
            <a:chExt cx="3550" cy="3551"/>
          </a:xfrm>
        </p:grpSpPr>
        <p:sp>
          <p:nvSpPr>
            <p:cNvPr id="26" name="Forma libre 25">
              <a:extLst>
                <a:ext uri="{FF2B5EF4-FFF2-40B4-BE49-F238E27FC236}">
                  <a16:creationId xmlns:a16="http://schemas.microsoft.com/office/drawing/2014/main" id="{AEA7E377-BB07-FA43-B532-10A92EE030B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7" name="Forma libre 26">
              <a:extLst>
                <a:ext uri="{FF2B5EF4-FFF2-40B4-BE49-F238E27FC236}">
                  <a16:creationId xmlns:a16="http://schemas.microsoft.com/office/drawing/2014/main" id="{F18DE645-B3D5-2F4E-AAD6-002FEF13A310}"/>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6" name="Forma libre 35">
              <a:extLst>
                <a:ext uri="{FF2B5EF4-FFF2-40B4-BE49-F238E27FC236}">
                  <a16:creationId xmlns:a16="http://schemas.microsoft.com/office/drawing/2014/main" id="{B90F6499-BA50-2340-A026-32C79B6BFAF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38" name="Marcador de posición de imagen 25">
            <a:extLst>
              <a:ext uri="{FF2B5EF4-FFF2-40B4-BE49-F238E27FC236}">
                <a16:creationId xmlns:a16="http://schemas.microsoft.com/office/drawing/2014/main" id="{2274C164-503B-E746-A155-849A9BC2406E}"/>
              </a:ext>
            </a:extLst>
          </p:cNvPr>
          <p:cNvSpPr>
            <a:spLocks noGrp="1"/>
          </p:cNvSpPr>
          <p:nvPr>
            <p:ph type="pic" sz="quarter" idx="18"/>
          </p:nvPr>
        </p:nvSpPr>
        <p:spPr>
          <a:xfrm>
            <a:off x="954268" y="2572883"/>
            <a:ext cx="2118245" cy="2037217"/>
          </a:xfrm>
          <a:prstGeom prst="rect">
            <a:avLst/>
          </a:prstGeom>
        </p:spPr>
        <p:txBody>
          <a:bodyPr rtlCol="0"/>
          <a:lstStyle/>
          <a:p>
            <a:pPr rtl="0"/>
            <a:r>
              <a:rPr lang="es-ES" noProof="0"/>
              <a:t>Haga clic en el icono para agregar una imagen</a:t>
            </a:r>
            <a:endParaRPr lang="es-ES" noProof="0" dirty="0"/>
          </a:p>
        </p:txBody>
      </p:sp>
      <p:sp>
        <p:nvSpPr>
          <p:cNvPr id="61" name="Título 1">
            <a:extLst>
              <a:ext uri="{FF2B5EF4-FFF2-40B4-BE49-F238E27FC236}">
                <a16:creationId xmlns:a16="http://schemas.microsoft.com/office/drawing/2014/main" id="{E2F20AFE-B282-5146-B0D6-F2FC1B6D303E}"/>
              </a:ext>
            </a:extLst>
          </p:cNvPr>
          <p:cNvSpPr>
            <a:spLocks noGrp="1"/>
          </p:cNvSpPr>
          <p:nvPr>
            <p:ph type="title"/>
          </p:nvPr>
        </p:nvSpPr>
        <p:spPr>
          <a:xfrm>
            <a:off x="964022" y="879063"/>
            <a:ext cx="75322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ES" noProof="0"/>
              <a:t>Haga clic para modificar el estilo de título del patrón</a:t>
            </a:r>
            <a:endParaRPr lang="es-ES" noProof="0" dirty="0"/>
          </a:p>
        </p:txBody>
      </p:sp>
      <p:cxnSp>
        <p:nvCxnSpPr>
          <p:cNvPr id="62" name="Conector recto 61">
            <a:extLst>
              <a:ext uri="{FF2B5EF4-FFF2-40B4-BE49-F238E27FC236}">
                <a16:creationId xmlns:a16="http://schemas.microsoft.com/office/drawing/2014/main" id="{F777D2F0-DE3F-8343-B97A-E7FA440532FD}"/>
              </a:ext>
            </a:extLst>
          </p:cNvPr>
          <p:cNvCxnSpPr>
            <a:cxnSpLocks/>
          </p:cNvCxnSpPr>
          <p:nvPr userDrawn="1"/>
        </p:nvCxnSpPr>
        <p:spPr>
          <a:xfrm>
            <a:off x="952500" y="1939108"/>
            <a:ext cx="2133600" cy="0"/>
          </a:xfrm>
          <a:prstGeom prst="line">
            <a:avLst/>
          </a:prstGeom>
          <a:ln w="101600">
            <a:solidFill>
              <a:schemeClr val="tx1"/>
            </a:solidFill>
          </a:ln>
        </p:spPr>
        <p:style>
          <a:lnRef idx="1">
            <a:schemeClr val="dk1"/>
          </a:lnRef>
          <a:fillRef idx="0">
            <a:schemeClr val="dk1"/>
          </a:fillRef>
          <a:effectRef idx="0">
            <a:schemeClr val="dk1"/>
          </a:effectRef>
          <a:fontRef idx="minor">
            <a:schemeClr val="tx1"/>
          </a:fontRef>
        </p:style>
      </p:cxnSp>
      <p:sp>
        <p:nvSpPr>
          <p:cNvPr id="63" name="Marcador de posición de imagen 25">
            <a:extLst>
              <a:ext uri="{FF2B5EF4-FFF2-40B4-BE49-F238E27FC236}">
                <a16:creationId xmlns:a16="http://schemas.microsoft.com/office/drawing/2014/main" id="{AF1B5ED8-33F6-FB44-AA92-F0D227BB310C}"/>
              </a:ext>
            </a:extLst>
          </p:cNvPr>
          <p:cNvSpPr>
            <a:spLocks noGrp="1"/>
          </p:cNvSpPr>
          <p:nvPr>
            <p:ph type="pic" sz="quarter" idx="24"/>
          </p:nvPr>
        </p:nvSpPr>
        <p:spPr>
          <a:xfrm>
            <a:off x="3658280" y="2572883"/>
            <a:ext cx="2118245" cy="2037217"/>
          </a:xfrm>
          <a:prstGeom prst="rect">
            <a:avLst/>
          </a:prstGeom>
        </p:spPr>
        <p:txBody>
          <a:bodyPr rtlCol="0"/>
          <a:lstStyle/>
          <a:p>
            <a:pPr rtl="0"/>
            <a:r>
              <a:rPr lang="es-ES" noProof="0"/>
              <a:t>Haga clic en el icono para agregar una imagen</a:t>
            </a:r>
            <a:endParaRPr lang="es-ES" noProof="0" dirty="0"/>
          </a:p>
        </p:txBody>
      </p:sp>
      <p:sp>
        <p:nvSpPr>
          <p:cNvPr id="72" name="Marcador de texto 29">
            <a:extLst>
              <a:ext uri="{FF2B5EF4-FFF2-40B4-BE49-F238E27FC236}">
                <a16:creationId xmlns:a16="http://schemas.microsoft.com/office/drawing/2014/main" id="{0D824BDD-2D23-C943-8FE9-60B7B23B5ECD}"/>
              </a:ext>
            </a:extLst>
          </p:cNvPr>
          <p:cNvSpPr>
            <a:spLocks noGrp="1"/>
          </p:cNvSpPr>
          <p:nvPr>
            <p:ph type="body" sz="quarter" idx="12"/>
          </p:nvPr>
        </p:nvSpPr>
        <p:spPr>
          <a:xfrm>
            <a:off x="952500" y="5393169"/>
            <a:ext cx="2133600"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3" name="Marcador de texto 29">
            <a:extLst>
              <a:ext uri="{FF2B5EF4-FFF2-40B4-BE49-F238E27FC236}">
                <a16:creationId xmlns:a16="http://schemas.microsoft.com/office/drawing/2014/main" id="{2F3D441E-DFB1-084B-8192-C6CBECCA40B9}"/>
              </a:ext>
            </a:extLst>
          </p:cNvPr>
          <p:cNvSpPr>
            <a:spLocks noGrp="1"/>
          </p:cNvSpPr>
          <p:nvPr>
            <p:ph type="body" sz="quarter" idx="11"/>
          </p:nvPr>
        </p:nvSpPr>
        <p:spPr>
          <a:xfrm>
            <a:off x="952500" y="4986745"/>
            <a:ext cx="2133600"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4" name="Marcador de texto 29">
            <a:extLst>
              <a:ext uri="{FF2B5EF4-FFF2-40B4-BE49-F238E27FC236}">
                <a16:creationId xmlns:a16="http://schemas.microsoft.com/office/drawing/2014/main" id="{25797825-E7AE-2C41-A965-E6F0D70D9747}"/>
              </a:ext>
            </a:extLst>
          </p:cNvPr>
          <p:cNvSpPr>
            <a:spLocks noGrp="1"/>
          </p:cNvSpPr>
          <p:nvPr>
            <p:ph type="body" sz="quarter" idx="13"/>
          </p:nvPr>
        </p:nvSpPr>
        <p:spPr>
          <a:xfrm>
            <a:off x="3663042" y="5393169"/>
            <a:ext cx="2128157"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5" name="Marcador de texto 29">
            <a:extLst>
              <a:ext uri="{FF2B5EF4-FFF2-40B4-BE49-F238E27FC236}">
                <a16:creationId xmlns:a16="http://schemas.microsoft.com/office/drawing/2014/main" id="{63C1927C-E23B-204E-9F3A-2A67D2BF702C}"/>
              </a:ext>
            </a:extLst>
          </p:cNvPr>
          <p:cNvSpPr>
            <a:spLocks noGrp="1"/>
          </p:cNvSpPr>
          <p:nvPr>
            <p:ph type="body" sz="quarter" idx="15"/>
          </p:nvPr>
        </p:nvSpPr>
        <p:spPr>
          <a:xfrm>
            <a:off x="3663042" y="4986745"/>
            <a:ext cx="2128157"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6" name="Marcador de texto 29">
            <a:extLst>
              <a:ext uri="{FF2B5EF4-FFF2-40B4-BE49-F238E27FC236}">
                <a16:creationId xmlns:a16="http://schemas.microsoft.com/office/drawing/2014/main" id="{EC81F0F5-C204-7248-A336-A655814A8A34}"/>
              </a:ext>
            </a:extLst>
          </p:cNvPr>
          <p:cNvSpPr>
            <a:spLocks noGrp="1"/>
          </p:cNvSpPr>
          <p:nvPr>
            <p:ph type="body" sz="quarter" idx="16"/>
          </p:nvPr>
        </p:nvSpPr>
        <p:spPr>
          <a:xfrm>
            <a:off x="6367054" y="5393169"/>
            <a:ext cx="2129245"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7" name="Marcador de texto 29">
            <a:extLst>
              <a:ext uri="{FF2B5EF4-FFF2-40B4-BE49-F238E27FC236}">
                <a16:creationId xmlns:a16="http://schemas.microsoft.com/office/drawing/2014/main" id="{C9FEF82E-4E9C-8343-9D36-C4A00D7137CC}"/>
              </a:ext>
            </a:extLst>
          </p:cNvPr>
          <p:cNvSpPr>
            <a:spLocks noGrp="1"/>
          </p:cNvSpPr>
          <p:nvPr>
            <p:ph type="body" sz="quarter" idx="31"/>
          </p:nvPr>
        </p:nvSpPr>
        <p:spPr>
          <a:xfrm>
            <a:off x="6367054" y="4986745"/>
            <a:ext cx="2129245"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8" name="Marcador de texto 29">
            <a:extLst>
              <a:ext uri="{FF2B5EF4-FFF2-40B4-BE49-F238E27FC236}">
                <a16:creationId xmlns:a16="http://schemas.microsoft.com/office/drawing/2014/main" id="{F8AF6664-A005-7A42-9AEF-C5AA5603E49D}"/>
              </a:ext>
            </a:extLst>
          </p:cNvPr>
          <p:cNvSpPr>
            <a:spLocks noGrp="1"/>
          </p:cNvSpPr>
          <p:nvPr>
            <p:ph type="body" sz="quarter" idx="19"/>
          </p:nvPr>
        </p:nvSpPr>
        <p:spPr>
          <a:xfrm>
            <a:off x="9110254" y="5393169"/>
            <a:ext cx="2129245"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9" name="Marcador de texto 29">
            <a:extLst>
              <a:ext uri="{FF2B5EF4-FFF2-40B4-BE49-F238E27FC236}">
                <a16:creationId xmlns:a16="http://schemas.microsoft.com/office/drawing/2014/main" id="{5F6C1E52-E2B6-5F45-A863-5BB35ABAFCD6}"/>
              </a:ext>
            </a:extLst>
          </p:cNvPr>
          <p:cNvSpPr>
            <a:spLocks noGrp="1"/>
          </p:cNvSpPr>
          <p:nvPr>
            <p:ph type="body" sz="quarter" idx="21"/>
          </p:nvPr>
        </p:nvSpPr>
        <p:spPr>
          <a:xfrm>
            <a:off x="9110254" y="4986745"/>
            <a:ext cx="2129245"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grpSp>
        <p:nvGrpSpPr>
          <p:cNvPr id="23" name="Grupo 22">
            <a:extLst>
              <a:ext uri="{FF2B5EF4-FFF2-40B4-BE49-F238E27FC236}">
                <a16:creationId xmlns:a16="http://schemas.microsoft.com/office/drawing/2014/main" id="{EFD0B2D5-B3C2-D847-A220-86CB6A37E418}"/>
              </a:ext>
            </a:extLst>
          </p:cNvPr>
          <p:cNvGrpSpPr/>
          <p:nvPr userDrawn="1"/>
        </p:nvGrpSpPr>
        <p:grpSpPr>
          <a:xfrm>
            <a:off x="6362700" y="0"/>
            <a:ext cx="5829298" cy="3235602"/>
            <a:chOff x="5612972" y="1"/>
            <a:chExt cx="6615961" cy="3672246"/>
          </a:xfrm>
        </p:grpSpPr>
        <p:sp>
          <p:nvSpPr>
            <p:cNvPr id="28" name="Autoforma 24">
              <a:extLst>
                <a:ext uri="{FF2B5EF4-FFF2-40B4-BE49-F238E27FC236}">
                  <a16:creationId xmlns:a16="http://schemas.microsoft.com/office/drawing/2014/main" id="{A7FD25A4-760F-814C-915F-DD6E89CA3A40}"/>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9" name="Forma libre 28">
              <a:extLst>
                <a:ext uri="{FF2B5EF4-FFF2-40B4-BE49-F238E27FC236}">
                  <a16:creationId xmlns:a16="http://schemas.microsoft.com/office/drawing/2014/main" id="{A0CC8369-E81F-D447-87D8-1AF0C58EAC07}"/>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0" name="Forma libre 29">
              <a:extLst>
                <a:ext uri="{FF2B5EF4-FFF2-40B4-BE49-F238E27FC236}">
                  <a16:creationId xmlns:a16="http://schemas.microsoft.com/office/drawing/2014/main" id="{C41CA81E-EF54-D048-8775-CD4AB37A7DF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1" name="Forma libre 30">
              <a:extLst>
                <a:ext uri="{FF2B5EF4-FFF2-40B4-BE49-F238E27FC236}">
                  <a16:creationId xmlns:a16="http://schemas.microsoft.com/office/drawing/2014/main" id="{D95A4B85-923E-B641-B239-2A1999AB294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2" name="Forma libre 31">
              <a:extLst>
                <a:ext uri="{FF2B5EF4-FFF2-40B4-BE49-F238E27FC236}">
                  <a16:creationId xmlns:a16="http://schemas.microsoft.com/office/drawing/2014/main" id="{501386DC-76EB-F34E-AD0E-22957D3B38D5}"/>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66" name="Marcador de posición de imagen 25">
            <a:extLst>
              <a:ext uri="{FF2B5EF4-FFF2-40B4-BE49-F238E27FC236}">
                <a16:creationId xmlns:a16="http://schemas.microsoft.com/office/drawing/2014/main" id="{2D21D633-C51E-E94E-BAE3-96F52F76E496}"/>
              </a:ext>
            </a:extLst>
          </p:cNvPr>
          <p:cNvSpPr>
            <a:spLocks noGrp="1"/>
          </p:cNvSpPr>
          <p:nvPr>
            <p:ph type="pic" sz="quarter" idx="27"/>
          </p:nvPr>
        </p:nvSpPr>
        <p:spPr>
          <a:xfrm>
            <a:off x="6362292" y="2572883"/>
            <a:ext cx="2118245" cy="2037217"/>
          </a:xfrm>
          <a:prstGeom prst="rect">
            <a:avLst/>
          </a:prstGeom>
        </p:spPr>
        <p:txBody>
          <a:bodyPr rtlCol="0"/>
          <a:lstStyle/>
          <a:p>
            <a:pPr rtl="0"/>
            <a:r>
              <a:rPr lang="es-ES" noProof="0"/>
              <a:t>Haga clic en el icono para agregar una imagen</a:t>
            </a:r>
            <a:endParaRPr lang="es-ES" noProof="0" dirty="0"/>
          </a:p>
        </p:txBody>
      </p:sp>
      <p:sp>
        <p:nvSpPr>
          <p:cNvPr id="69" name="Marcador de posición de imagen 25">
            <a:extLst>
              <a:ext uri="{FF2B5EF4-FFF2-40B4-BE49-F238E27FC236}">
                <a16:creationId xmlns:a16="http://schemas.microsoft.com/office/drawing/2014/main" id="{639EFA5A-9C69-DF4D-81B7-FA1F8CCCF934}"/>
              </a:ext>
            </a:extLst>
          </p:cNvPr>
          <p:cNvSpPr>
            <a:spLocks noGrp="1"/>
          </p:cNvSpPr>
          <p:nvPr>
            <p:ph type="pic" sz="quarter" idx="30"/>
          </p:nvPr>
        </p:nvSpPr>
        <p:spPr>
          <a:xfrm>
            <a:off x="9112023" y="2572883"/>
            <a:ext cx="2118245" cy="2037217"/>
          </a:xfrm>
          <a:prstGeom prst="rect">
            <a:avLst/>
          </a:prstGeom>
        </p:spPr>
        <p:txBody>
          <a:bodyPr rtlCol="0"/>
          <a:lstStyle/>
          <a:p>
            <a:pPr rtl="0"/>
            <a:r>
              <a:rPr lang="es-ES" noProof="0"/>
              <a:t>Haga clic en el icono para agregar una imagen</a:t>
            </a:r>
            <a:endParaRPr lang="es-ES" noProof="0" dirty="0"/>
          </a:p>
        </p:txBody>
      </p:sp>
      <p:sp>
        <p:nvSpPr>
          <p:cNvPr id="2" name="Marcador de fecha 1">
            <a:extLst>
              <a:ext uri="{FF2B5EF4-FFF2-40B4-BE49-F238E27FC236}">
                <a16:creationId xmlns:a16="http://schemas.microsoft.com/office/drawing/2014/main" id="{8ED89364-B1CB-4E72-A6BB-95A34B50661C}"/>
              </a:ext>
            </a:extLst>
          </p:cNvPr>
          <p:cNvSpPr>
            <a:spLocks noGrp="1"/>
          </p:cNvSpPr>
          <p:nvPr>
            <p:ph type="dt" sz="half" idx="32"/>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7BEA095D-F9AB-465B-A2BC-526B797F4865}"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 de mayo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8E09328F-B310-4BF3-883E-BA9A39676AF2}"/>
              </a:ext>
            </a:extLst>
          </p:cNvPr>
          <p:cNvSpPr>
            <a:spLocks noGrp="1"/>
          </p:cNvSpPr>
          <p:nvPr>
            <p:ph type="ftr" sz="quarter" idx="33"/>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04192EF2-9336-43EF-A365-1F54000F7DE9}"/>
              </a:ext>
            </a:extLst>
          </p:cNvPr>
          <p:cNvSpPr>
            <a:spLocks noGrp="1"/>
          </p:cNvSpPr>
          <p:nvPr>
            <p:ph type="sldNum" sz="quarter" idx="34"/>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249628144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4008">
          <p15:clr>
            <a:srgbClr val="FBAE40"/>
          </p15:clr>
        </p15:guide>
        <p15:guide id="5" pos="1944">
          <p15:clr>
            <a:srgbClr val="FBAE40"/>
          </p15:clr>
        </p15:guide>
        <p15:guide id="6" pos="3648">
          <p15:clr>
            <a:srgbClr val="FBAE40"/>
          </p15:clr>
        </p15:guide>
        <p15:guide id="7" orient="horz" pos="1392">
          <p15:clr>
            <a:srgbClr val="FBAE40"/>
          </p15:clr>
        </p15:guide>
        <p15:guide id="8" orient="horz" pos="552">
          <p15:clr>
            <a:srgbClr val="FBAE40"/>
          </p15:clr>
        </p15:guide>
        <p15:guide id="9" orient="horz" pos="1224">
          <p15:clr>
            <a:srgbClr val="FBAE40"/>
          </p15:clr>
        </p15:guide>
        <p15:guide id="10" pos="5352">
          <p15:clr>
            <a:srgbClr val="FBAE40"/>
          </p15:clr>
        </p15:guide>
        <p15:guide id="11" pos="5736">
          <p15:clr>
            <a:srgbClr val="FBAE40"/>
          </p15:clr>
        </p15:guide>
        <p15:guide id="12" orient="horz" pos="2904">
          <p15:clr>
            <a:srgbClr val="FBAE40"/>
          </p15:clr>
        </p15:guide>
        <p15:guide id="13" orient="horz" pos="1608">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Escala de tiempo ">
    <p:bg>
      <p:bgPr>
        <a:solidFill>
          <a:schemeClr val="tx1"/>
        </a:solidFill>
        <a:effectLst/>
      </p:bgPr>
    </p:bg>
    <p:spTree>
      <p:nvGrpSpPr>
        <p:cNvPr id="1" name=""/>
        <p:cNvGrpSpPr/>
        <p:nvPr/>
      </p:nvGrpSpPr>
      <p:grpSpPr>
        <a:xfrm>
          <a:off x="0" y="0"/>
          <a:ext cx="0" cy="0"/>
          <a:chOff x="0" y="0"/>
          <a:chExt cx="0" cy="0"/>
        </a:xfrm>
      </p:grpSpPr>
      <p:cxnSp>
        <p:nvCxnSpPr>
          <p:cNvPr id="21" name="Conector recto 20">
            <a:extLst>
              <a:ext uri="{FF2B5EF4-FFF2-40B4-BE49-F238E27FC236}">
                <a16:creationId xmlns:a16="http://schemas.microsoft.com/office/drawing/2014/main" id="{040046AF-E5BF-854D-9986-7C3019770FE7}"/>
              </a:ext>
            </a:extLst>
          </p:cNvPr>
          <p:cNvCxnSpPr>
            <a:cxnSpLocks/>
          </p:cNvCxnSpPr>
          <p:nvPr userDrawn="1"/>
        </p:nvCxnSpPr>
        <p:spPr>
          <a:xfrm flipH="1">
            <a:off x="1045959" y="2213783"/>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6" name="Conector recto 25">
            <a:extLst>
              <a:ext uri="{FF2B5EF4-FFF2-40B4-BE49-F238E27FC236}">
                <a16:creationId xmlns:a16="http://schemas.microsoft.com/office/drawing/2014/main" id="{76CA14A6-0144-BC49-A8D4-C979D13258C0}"/>
              </a:ext>
            </a:extLst>
          </p:cNvPr>
          <p:cNvCxnSpPr>
            <a:cxnSpLocks/>
          </p:cNvCxnSpPr>
          <p:nvPr userDrawn="1"/>
        </p:nvCxnSpPr>
        <p:spPr>
          <a:xfrm flipH="1">
            <a:off x="6180493" y="2213783"/>
            <a:ext cx="11102"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FA582FC2-A135-5743-B9C0-6AC7225B42E1}"/>
              </a:ext>
            </a:extLst>
          </p:cNvPr>
          <p:cNvCxnSpPr>
            <a:cxnSpLocks/>
          </p:cNvCxnSpPr>
          <p:nvPr userDrawn="1"/>
        </p:nvCxnSpPr>
        <p:spPr>
          <a:xfrm flipH="1">
            <a:off x="8745623" y="3904712"/>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4" name="Conector recto 23">
            <a:extLst>
              <a:ext uri="{FF2B5EF4-FFF2-40B4-BE49-F238E27FC236}">
                <a16:creationId xmlns:a16="http://schemas.microsoft.com/office/drawing/2014/main" id="{77C43222-5868-0247-838F-58F4F6C8EE75}"/>
              </a:ext>
            </a:extLst>
          </p:cNvPr>
          <p:cNvCxnSpPr>
            <a:cxnSpLocks/>
          </p:cNvCxnSpPr>
          <p:nvPr userDrawn="1"/>
        </p:nvCxnSpPr>
        <p:spPr>
          <a:xfrm flipH="1">
            <a:off x="3611089" y="3895941"/>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sp>
        <p:nvSpPr>
          <p:cNvPr id="30" name="Título 1">
            <a:extLst>
              <a:ext uri="{FF2B5EF4-FFF2-40B4-BE49-F238E27FC236}">
                <a16:creationId xmlns:a16="http://schemas.microsoft.com/office/drawing/2014/main" id="{46EEE005-F78A-9D4F-B159-964376C387DD}"/>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ES" noProof="0"/>
              <a:t>Haga clic para editar </a:t>
            </a:r>
          </a:p>
        </p:txBody>
      </p:sp>
      <p:sp>
        <p:nvSpPr>
          <p:cNvPr id="96" name="Marcador de texto 29">
            <a:extLst>
              <a:ext uri="{FF2B5EF4-FFF2-40B4-BE49-F238E27FC236}">
                <a16:creationId xmlns:a16="http://schemas.microsoft.com/office/drawing/2014/main" id="{FC61536F-8EA7-5A48-AF76-8B0E251BD8CB}"/>
              </a:ext>
            </a:extLst>
          </p:cNvPr>
          <p:cNvSpPr>
            <a:spLocks noGrp="1"/>
          </p:cNvSpPr>
          <p:nvPr>
            <p:ph type="body" sz="quarter" idx="12" hasCustomPrompt="1"/>
          </p:nvPr>
        </p:nvSpPr>
        <p:spPr>
          <a:xfrm>
            <a:off x="1296955" y="2934856"/>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editar </a:t>
            </a:r>
          </a:p>
        </p:txBody>
      </p:sp>
      <p:sp>
        <p:nvSpPr>
          <p:cNvPr id="97" name="Marcador de texto 29">
            <a:extLst>
              <a:ext uri="{FF2B5EF4-FFF2-40B4-BE49-F238E27FC236}">
                <a16:creationId xmlns:a16="http://schemas.microsoft.com/office/drawing/2014/main" id="{64FFD994-BD97-ED49-8607-286ECBB1CDA3}"/>
              </a:ext>
            </a:extLst>
          </p:cNvPr>
          <p:cNvSpPr>
            <a:spLocks noGrp="1"/>
          </p:cNvSpPr>
          <p:nvPr>
            <p:ph type="body" sz="quarter" idx="11" hasCustomPrompt="1"/>
          </p:nvPr>
        </p:nvSpPr>
        <p:spPr>
          <a:xfrm>
            <a:off x="1296955" y="2568686"/>
            <a:ext cx="2133600" cy="205837"/>
          </a:xfrm>
          <a:ln>
            <a:noFill/>
          </a:ln>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editar </a:t>
            </a:r>
          </a:p>
        </p:txBody>
      </p:sp>
      <p:sp>
        <p:nvSpPr>
          <p:cNvPr id="102" name="Marcador de texto 29">
            <a:extLst>
              <a:ext uri="{FF2B5EF4-FFF2-40B4-BE49-F238E27FC236}">
                <a16:creationId xmlns:a16="http://schemas.microsoft.com/office/drawing/2014/main" id="{D1ADE805-BFBC-ED47-B9CB-6CB2FF02E868}"/>
              </a:ext>
            </a:extLst>
          </p:cNvPr>
          <p:cNvSpPr>
            <a:spLocks noGrp="1"/>
          </p:cNvSpPr>
          <p:nvPr>
            <p:ph type="body" sz="quarter" idx="30" hasCustomPrompt="1"/>
          </p:nvPr>
        </p:nvSpPr>
        <p:spPr>
          <a:xfrm>
            <a:off x="3897799" y="5087328"/>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editar </a:t>
            </a:r>
          </a:p>
        </p:txBody>
      </p:sp>
      <p:sp>
        <p:nvSpPr>
          <p:cNvPr id="103" name="Marcador de texto 29">
            <a:extLst>
              <a:ext uri="{FF2B5EF4-FFF2-40B4-BE49-F238E27FC236}">
                <a16:creationId xmlns:a16="http://schemas.microsoft.com/office/drawing/2014/main" id="{334A3589-641F-F547-891B-149579153B75}"/>
              </a:ext>
            </a:extLst>
          </p:cNvPr>
          <p:cNvSpPr>
            <a:spLocks noGrp="1"/>
          </p:cNvSpPr>
          <p:nvPr>
            <p:ph type="body" sz="quarter" idx="31" hasCustomPrompt="1"/>
          </p:nvPr>
        </p:nvSpPr>
        <p:spPr>
          <a:xfrm>
            <a:off x="3897799"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rtl="0">
              <a:spcBef>
                <a:spcPts val="400"/>
              </a:spcBef>
              <a:buNone/>
            </a:pPr>
            <a:r>
              <a:rPr lang="es-ES" noProof="0"/>
              <a:t>Haga clic para editar </a:t>
            </a:r>
          </a:p>
        </p:txBody>
      </p:sp>
      <p:sp>
        <p:nvSpPr>
          <p:cNvPr id="106" name="Marcador de texto 29">
            <a:extLst>
              <a:ext uri="{FF2B5EF4-FFF2-40B4-BE49-F238E27FC236}">
                <a16:creationId xmlns:a16="http://schemas.microsoft.com/office/drawing/2014/main" id="{A63F8454-D12E-A641-ABD0-8977D3F5EC05}"/>
              </a:ext>
            </a:extLst>
          </p:cNvPr>
          <p:cNvSpPr>
            <a:spLocks noGrp="1"/>
          </p:cNvSpPr>
          <p:nvPr>
            <p:ph type="body" sz="quarter" idx="32" hasCustomPrompt="1"/>
          </p:nvPr>
        </p:nvSpPr>
        <p:spPr>
          <a:xfrm>
            <a:off x="9001711" y="5087328"/>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editar </a:t>
            </a:r>
          </a:p>
        </p:txBody>
      </p:sp>
      <p:sp>
        <p:nvSpPr>
          <p:cNvPr id="107" name="Marcador de texto 29">
            <a:extLst>
              <a:ext uri="{FF2B5EF4-FFF2-40B4-BE49-F238E27FC236}">
                <a16:creationId xmlns:a16="http://schemas.microsoft.com/office/drawing/2014/main" id="{F35AA15D-DBAD-9840-8764-A5B6D486A234}"/>
              </a:ext>
            </a:extLst>
          </p:cNvPr>
          <p:cNvSpPr>
            <a:spLocks noGrp="1"/>
          </p:cNvSpPr>
          <p:nvPr>
            <p:ph type="body" sz="quarter" idx="33" hasCustomPrompt="1"/>
          </p:nvPr>
        </p:nvSpPr>
        <p:spPr>
          <a:xfrm>
            <a:off x="9001711"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rtl="0">
              <a:spcBef>
                <a:spcPts val="400"/>
              </a:spcBef>
              <a:buNone/>
            </a:pPr>
            <a:r>
              <a:rPr lang="es-ES" noProof="0"/>
              <a:t>Haga clic para editar </a:t>
            </a:r>
          </a:p>
        </p:txBody>
      </p:sp>
      <p:sp>
        <p:nvSpPr>
          <p:cNvPr id="108" name="Marcador de texto 29">
            <a:extLst>
              <a:ext uri="{FF2B5EF4-FFF2-40B4-BE49-F238E27FC236}">
                <a16:creationId xmlns:a16="http://schemas.microsoft.com/office/drawing/2014/main" id="{8357CA0F-1A55-B145-8305-562F0DF22543}"/>
              </a:ext>
            </a:extLst>
          </p:cNvPr>
          <p:cNvSpPr>
            <a:spLocks noGrp="1"/>
          </p:cNvSpPr>
          <p:nvPr>
            <p:ph type="body" sz="quarter" idx="34" hasCustomPrompt="1"/>
          </p:nvPr>
        </p:nvSpPr>
        <p:spPr>
          <a:xfrm>
            <a:off x="6438143" y="2934856"/>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editar </a:t>
            </a:r>
          </a:p>
        </p:txBody>
      </p:sp>
      <p:sp>
        <p:nvSpPr>
          <p:cNvPr id="109" name="Marcador de texto 29">
            <a:extLst>
              <a:ext uri="{FF2B5EF4-FFF2-40B4-BE49-F238E27FC236}">
                <a16:creationId xmlns:a16="http://schemas.microsoft.com/office/drawing/2014/main" id="{D6C49F6F-AF28-8942-8442-8F54A1DC388B}"/>
              </a:ext>
            </a:extLst>
          </p:cNvPr>
          <p:cNvSpPr>
            <a:spLocks noGrp="1"/>
          </p:cNvSpPr>
          <p:nvPr>
            <p:ph type="body" sz="quarter" idx="35" hasCustomPrompt="1"/>
          </p:nvPr>
        </p:nvSpPr>
        <p:spPr>
          <a:xfrm>
            <a:off x="6438143" y="2568686"/>
            <a:ext cx="2133600" cy="205837"/>
          </a:xfrm>
          <a:ln>
            <a:noFill/>
          </a:ln>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editar </a:t>
            </a:r>
          </a:p>
        </p:txBody>
      </p:sp>
      <p:cxnSp>
        <p:nvCxnSpPr>
          <p:cNvPr id="8" name="Conector recto 7">
            <a:extLst>
              <a:ext uri="{FF2B5EF4-FFF2-40B4-BE49-F238E27FC236}">
                <a16:creationId xmlns:a16="http://schemas.microsoft.com/office/drawing/2014/main" id="{4CE2724A-BCA1-604F-9D18-BF05746408C2}"/>
              </a:ext>
            </a:extLst>
          </p:cNvPr>
          <p:cNvCxnSpPr/>
          <p:nvPr userDrawn="1"/>
        </p:nvCxnSpPr>
        <p:spPr>
          <a:xfrm>
            <a:off x="967689" y="3968780"/>
            <a:ext cx="10275477" cy="0"/>
          </a:xfrm>
          <a:prstGeom prst="line">
            <a:avLst/>
          </a:prstGeom>
          <a:ln w="165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44" name="Rectángulo 43">
            <a:extLst>
              <a:ext uri="{FF2B5EF4-FFF2-40B4-BE49-F238E27FC236}">
                <a16:creationId xmlns:a16="http://schemas.microsoft.com/office/drawing/2014/main" id="{4923D7D1-A9CC-C34C-86FF-43B5C8978712}"/>
              </a:ext>
            </a:extLst>
          </p:cNvPr>
          <p:cNvSpPr/>
          <p:nvPr userDrawn="1"/>
        </p:nvSpPr>
        <p:spPr>
          <a:xfrm>
            <a:off x="964323"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47" name="Rectángulo 46">
            <a:extLst>
              <a:ext uri="{FF2B5EF4-FFF2-40B4-BE49-F238E27FC236}">
                <a16:creationId xmlns:a16="http://schemas.microsoft.com/office/drawing/2014/main" id="{6119FF13-13AB-3448-B24E-58E18B3CE2B6}"/>
              </a:ext>
            </a:extLst>
          </p:cNvPr>
          <p:cNvSpPr/>
          <p:nvPr userDrawn="1"/>
        </p:nvSpPr>
        <p:spPr>
          <a:xfrm>
            <a:off x="3531590"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 name="Rectángulo 26">
            <a:extLst>
              <a:ext uri="{FF2B5EF4-FFF2-40B4-BE49-F238E27FC236}">
                <a16:creationId xmlns:a16="http://schemas.microsoft.com/office/drawing/2014/main" id="{22F8F982-870E-AE44-B0D3-B3313BC48DB7}"/>
              </a:ext>
            </a:extLst>
          </p:cNvPr>
          <p:cNvSpPr/>
          <p:nvPr userDrawn="1"/>
        </p:nvSpPr>
        <p:spPr>
          <a:xfrm>
            <a:off x="6098857"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 name="Rectángulo 28">
            <a:extLst>
              <a:ext uri="{FF2B5EF4-FFF2-40B4-BE49-F238E27FC236}">
                <a16:creationId xmlns:a16="http://schemas.microsoft.com/office/drawing/2014/main" id="{C549A137-DB5E-9C40-8C0A-ED607212022C}"/>
              </a:ext>
            </a:extLst>
          </p:cNvPr>
          <p:cNvSpPr/>
          <p:nvPr userDrawn="1"/>
        </p:nvSpPr>
        <p:spPr>
          <a:xfrm>
            <a:off x="8666124"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 name="Marcador de fecha 1">
            <a:extLst>
              <a:ext uri="{FF2B5EF4-FFF2-40B4-BE49-F238E27FC236}">
                <a16:creationId xmlns:a16="http://schemas.microsoft.com/office/drawing/2014/main" id="{21DC2552-C347-4C3D-8C92-4A6981227C0E}"/>
              </a:ext>
            </a:extLst>
          </p:cNvPr>
          <p:cNvSpPr>
            <a:spLocks noGrp="1"/>
          </p:cNvSpPr>
          <p:nvPr>
            <p:ph type="dt" sz="half" idx="3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F99D83C0-D2D5-496F-A305-9D3513BEF95B}"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 de mayo de 2025</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A5B7C35C-F3E4-4522-8711-16E4F9052C2C}"/>
              </a:ext>
            </a:extLst>
          </p:cNvPr>
          <p:cNvSpPr>
            <a:spLocks noGrp="1"/>
          </p:cNvSpPr>
          <p:nvPr>
            <p:ph type="ftr" sz="quarter" idx="37"/>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1F4D6BAD-56F4-42F1-A2B3-FDB73364FD40}"/>
              </a:ext>
            </a:extLst>
          </p:cNvPr>
          <p:cNvSpPr>
            <a:spLocks noGrp="1"/>
          </p:cNvSpPr>
          <p:nvPr>
            <p:ph type="sldNum" sz="quarter" idx="38"/>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388604201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3768">
          <p15:clr>
            <a:srgbClr val="FBAE40"/>
          </p15:clr>
        </p15:guide>
        <p15:guide id="9" orient="horz" pos="552">
          <p15:clr>
            <a:srgbClr val="FBAE40"/>
          </p15:clr>
        </p15:guide>
        <p15:guide id="10" orient="horz" pos="1512">
          <p15:clr>
            <a:srgbClr val="FBAE40"/>
          </p15:clr>
        </p15:guide>
        <p15:guide id="11" orient="horz" pos="283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ol">
    <p:bg>
      <p:bgPr>
        <a:solidFill>
          <a:schemeClr val="tx1"/>
        </a:solidFill>
        <a:effectLst/>
      </p:bgPr>
    </p:bg>
    <p:spTree>
      <p:nvGrpSpPr>
        <p:cNvPr id="1" name=""/>
        <p:cNvGrpSpPr/>
        <p:nvPr/>
      </p:nvGrpSpPr>
      <p:grpSpPr>
        <a:xfrm>
          <a:off x="0" y="0"/>
          <a:ext cx="0" cy="0"/>
          <a:chOff x="0" y="0"/>
          <a:chExt cx="0" cy="0"/>
        </a:xfrm>
      </p:grpSpPr>
      <p:grpSp>
        <p:nvGrpSpPr>
          <p:cNvPr id="19" name="Grupo 18">
            <a:extLst>
              <a:ext uri="{FF2B5EF4-FFF2-40B4-BE49-F238E27FC236}">
                <a16:creationId xmlns:a16="http://schemas.microsoft.com/office/drawing/2014/main" id="{BDEF3328-825B-3946-8472-DB93D6A32867}"/>
              </a:ext>
            </a:extLst>
          </p:cNvPr>
          <p:cNvGrpSpPr>
            <a:grpSpLocks/>
          </p:cNvGrpSpPr>
          <p:nvPr userDrawn="1"/>
        </p:nvGrpSpPr>
        <p:grpSpPr bwMode="auto">
          <a:xfrm rot="16200000" flipV="1">
            <a:off x="0" y="3900132"/>
            <a:ext cx="2959226" cy="2959226"/>
            <a:chOff x="0" y="12289"/>
            <a:chExt cx="3550" cy="3551"/>
          </a:xfrm>
        </p:grpSpPr>
        <p:sp>
          <p:nvSpPr>
            <p:cNvPr id="20" name="Forma libre 19">
              <a:extLst>
                <a:ext uri="{FF2B5EF4-FFF2-40B4-BE49-F238E27FC236}">
                  <a16:creationId xmlns:a16="http://schemas.microsoft.com/office/drawing/2014/main" id="{4E4E09DF-AF21-0E4A-9838-14DFBFFED7D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1" name="Forma libre 20">
              <a:extLst>
                <a:ext uri="{FF2B5EF4-FFF2-40B4-BE49-F238E27FC236}">
                  <a16:creationId xmlns:a16="http://schemas.microsoft.com/office/drawing/2014/main" id="{653F54AE-9BC1-3A45-A129-4028EADE406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2" name="Forma libre 21">
              <a:extLst>
                <a:ext uri="{FF2B5EF4-FFF2-40B4-BE49-F238E27FC236}">
                  <a16:creationId xmlns:a16="http://schemas.microsoft.com/office/drawing/2014/main" id="{254F6D22-4944-974A-999E-F9E22F15952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32" name="Títu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33" name="Conector rec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Marcador de texto 2">
            <a:extLst>
              <a:ext uri="{FF2B5EF4-FFF2-40B4-BE49-F238E27FC236}">
                <a16:creationId xmlns:a16="http://schemas.microsoft.com/office/drawing/2014/main" id="{A6147D10-E7D7-8F40-AF69-726398729333}"/>
              </a:ext>
            </a:extLst>
          </p:cNvPr>
          <p:cNvSpPr>
            <a:spLocks noGrp="1"/>
          </p:cNvSpPr>
          <p:nvPr>
            <p:ph type="body" idx="1"/>
          </p:nvPr>
        </p:nvSpPr>
        <p:spPr>
          <a:xfrm>
            <a:off x="964023" y="2300984"/>
            <a:ext cx="4827178" cy="404216"/>
          </a:xfrm>
          <a:prstGeom prst="rect">
            <a:avLst/>
          </a:prstGeom>
        </p:spPr>
        <p:txBody>
          <a:bodyPr lIns="0" tIns="0" rIns="0" bIns="0" rtlCol="0" anchor="t" anchorCtr="0">
            <a:normAutofit/>
          </a:bodyPr>
          <a:lstStyle>
            <a:lvl1pPr marL="0" indent="0">
              <a:buNone/>
              <a:defRPr sz="1800" b="0" i="0" spc="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25" name="Marcador de texto 2">
            <a:extLst>
              <a:ext uri="{FF2B5EF4-FFF2-40B4-BE49-F238E27FC236}">
                <a16:creationId xmlns:a16="http://schemas.microsoft.com/office/drawing/2014/main" id="{3A0EE708-F36B-444B-9A8B-D48D69535E45}"/>
              </a:ext>
            </a:extLst>
          </p:cNvPr>
          <p:cNvSpPr>
            <a:spLocks noGrp="1"/>
          </p:cNvSpPr>
          <p:nvPr>
            <p:ph type="body" idx="10"/>
          </p:nvPr>
        </p:nvSpPr>
        <p:spPr>
          <a:xfrm>
            <a:off x="6362700" y="2300984"/>
            <a:ext cx="4764829" cy="404216"/>
          </a:xfrm>
          <a:prstGeom prst="rect">
            <a:avLst/>
          </a:prstGeom>
        </p:spPr>
        <p:txBody>
          <a:bodyPr lIns="0" tIns="0" rIns="0" bIns="0" rtlCol="0" anchor="t" anchorCtr="0">
            <a:normAutofit/>
          </a:bodyPr>
          <a:lstStyle>
            <a:lvl1pPr marL="0" indent="0">
              <a:buNone/>
              <a:defRPr sz="1800" b="0" i="0" spc="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27" name="Marcador de contenido 3">
            <a:extLst>
              <a:ext uri="{FF2B5EF4-FFF2-40B4-BE49-F238E27FC236}">
                <a16:creationId xmlns:a16="http://schemas.microsoft.com/office/drawing/2014/main" id="{E81957B7-CEA6-A446-A203-471CF9A57FFD}"/>
              </a:ext>
            </a:extLst>
          </p:cNvPr>
          <p:cNvSpPr>
            <a:spLocks noGrp="1"/>
          </p:cNvSpPr>
          <p:nvPr>
            <p:ph sz="half" idx="2"/>
          </p:nvPr>
        </p:nvSpPr>
        <p:spPr>
          <a:xfrm>
            <a:off x="964023" y="2799146"/>
            <a:ext cx="4827178"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sp>
        <p:nvSpPr>
          <p:cNvPr id="28" name="Marcador de posición de contenido 3">
            <a:extLst>
              <a:ext uri="{FF2B5EF4-FFF2-40B4-BE49-F238E27FC236}">
                <a16:creationId xmlns:a16="http://schemas.microsoft.com/office/drawing/2014/main" id="{E40D4044-0F7B-0647-BAB5-16B23EBD9ECD}"/>
              </a:ext>
            </a:extLst>
          </p:cNvPr>
          <p:cNvSpPr>
            <a:spLocks noGrp="1"/>
          </p:cNvSpPr>
          <p:nvPr>
            <p:ph sz="half" idx="13"/>
          </p:nvPr>
        </p:nvSpPr>
        <p:spPr>
          <a:xfrm>
            <a:off x="6362700" y="2799146"/>
            <a:ext cx="4756241"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cxnSp>
        <p:nvCxnSpPr>
          <p:cNvPr id="15" name="Conector recto 14">
            <a:extLst>
              <a:ext uri="{FF2B5EF4-FFF2-40B4-BE49-F238E27FC236}">
                <a16:creationId xmlns:a16="http://schemas.microsoft.com/office/drawing/2014/main" id="{ED51C063-0222-064B-8A2E-485FE9EAC10D}"/>
              </a:ext>
            </a:extLst>
          </p:cNvPr>
          <p:cNvCxnSpPr>
            <a:cxnSpLocks/>
          </p:cNvCxnSpPr>
          <p:nvPr userDrawn="1"/>
        </p:nvCxnSpPr>
        <p:spPr>
          <a:xfrm>
            <a:off x="63627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 name="Marcador de fecha 1">
            <a:extLst>
              <a:ext uri="{FF2B5EF4-FFF2-40B4-BE49-F238E27FC236}">
                <a16:creationId xmlns:a16="http://schemas.microsoft.com/office/drawing/2014/main" id="{4914D182-A7DD-4F7B-B207-262854316EDA}"/>
              </a:ext>
            </a:extLst>
          </p:cNvPr>
          <p:cNvSpPr>
            <a:spLocks noGrp="1"/>
          </p:cNvSpPr>
          <p:nvPr>
            <p:ph type="dt" sz="half" idx="14"/>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7F69136C-C4B2-45F2-BCFC-515A0853BD43}"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 de mayo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10B29252-5D0B-4B9D-9FBD-8EC0929FE096}"/>
              </a:ext>
            </a:extLst>
          </p:cNvPr>
          <p:cNvSpPr>
            <a:spLocks noGrp="1"/>
          </p:cNvSpPr>
          <p:nvPr>
            <p:ph type="ftr" sz="quarter" idx="15"/>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5BB4FEF6-E217-4110-BBF5-C4B77ADC8457}"/>
              </a:ext>
            </a:extLst>
          </p:cNvPr>
          <p:cNvSpPr>
            <a:spLocks noGrp="1"/>
          </p:cNvSpPr>
          <p:nvPr>
            <p:ph type="sldNum" sz="quarter" idx="1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395094789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col">
    <p:bg>
      <p:bgPr>
        <a:solidFill>
          <a:schemeClr val="tx1"/>
        </a:solidFill>
        <a:effectLst/>
      </p:bgPr>
    </p:bg>
    <p:spTree>
      <p:nvGrpSpPr>
        <p:cNvPr id="1" name=""/>
        <p:cNvGrpSpPr/>
        <p:nvPr/>
      </p:nvGrpSpPr>
      <p:grpSpPr>
        <a:xfrm>
          <a:off x="0" y="0"/>
          <a:ext cx="0" cy="0"/>
          <a:chOff x="0" y="0"/>
          <a:chExt cx="0" cy="0"/>
        </a:xfrm>
      </p:grpSpPr>
      <p:grpSp>
        <p:nvGrpSpPr>
          <p:cNvPr id="37" name="Grupo 36">
            <a:extLst>
              <a:ext uri="{FF2B5EF4-FFF2-40B4-BE49-F238E27FC236}">
                <a16:creationId xmlns:a16="http://schemas.microsoft.com/office/drawing/2014/main" id="{868B08E5-2F7C-7749-8BDF-386EAF974BB0}"/>
              </a:ext>
            </a:extLst>
          </p:cNvPr>
          <p:cNvGrpSpPr>
            <a:grpSpLocks/>
          </p:cNvGrpSpPr>
          <p:nvPr userDrawn="1"/>
        </p:nvGrpSpPr>
        <p:grpSpPr bwMode="auto">
          <a:xfrm rot="16200000" flipV="1">
            <a:off x="0" y="3900132"/>
            <a:ext cx="2959226" cy="2959226"/>
            <a:chOff x="0" y="12289"/>
            <a:chExt cx="3550" cy="3551"/>
          </a:xfrm>
        </p:grpSpPr>
        <p:sp>
          <p:nvSpPr>
            <p:cNvPr id="38" name="Forma libre 37">
              <a:extLst>
                <a:ext uri="{FF2B5EF4-FFF2-40B4-BE49-F238E27FC236}">
                  <a16:creationId xmlns:a16="http://schemas.microsoft.com/office/drawing/2014/main" id="{F3E300C0-0B72-9048-9E16-2166E1A88FE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9" name="Forma libre 38">
              <a:extLst>
                <a:ext uri="{FF2B5EF4-FFF2-40B4-BE49-F238E27FC236}">
                  <a16:creationId xmlns:a16="http://schemas.microsoft.com/office/drawing/2014/main" id="{E4AA520D-9D51-3A42-B9B1-DF72169BC8DB}"/>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40" name="Forma libre 39">
              <a:extLst>
                <a:ext uri="{FF2B5EF4-FFF2-40B4-BE49-F238E27FC236}">
                  <a16:creationId xmlns:a16="http://schemas.microsoft.com/office/drawing/2014/main" id="{D5F2735E-137C-DB47-AEF0-EFC871A3237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32" name="Títu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33" name="Conector rec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Marcador de texto 2">
            <a:extLst>
              <a:ext uri="{FF2B5EF4-FFF2-40B4-BE49-F238E27FC236}">
                <a16:creationId xmlns:a16="http://schemas.microsoft.com/office/drawing/2014/main" id="{A6147D10-E7D7-8F40-AF69-726398729333}"/>
              </a:ext>
            </a:extLst>
          </p:cNvPr>
          <p:cNvSpPr>
            <a:spLocks noGrp="1"/>
          </p:cNvSpPr>
          <p:nvPr>
            <p:ph type="body" idx="1"/>
          </p:nvPr>
        </p:nvSpPr>
        <p:spPr>
          <a:xfrm>
            <a:off x="952500"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s-ES" noProof="0"/>
              <a:t>Haga clic para modificar los estilos de texto del patrón</a:t>
            </a:r>
          </a:p>
        </p:txBody>
      </p:sp>
      <p:sp>
        <p:nvSpPr>
          <p:cNvPr id="27" name="Marcador de contenido 3">
            <a:extLst>
              <a:ext uri="{FF2B5EF4-FFF2-40B4-BE49-F238E27FC236}">
                <a16:creationId xmlns:a16="http://schemas.microsoft.com/office/drawing/2014/main" id="{E81957B7-CEA6-A446-A203-471CF9A57FFD}"/>
              </a:ext>
            </a:extLst>
          </p:cNvPr>
          <p:cNvSpPr>
            <a:spLocks noGrp="1"/>
          </p:cNvSpPr>
          <p:nvPr>
            <p:ph sz="half" idx="2"/>
          </p:nvPr>
        </p:nvSpPr>
        <p:spPr>
          <a:xfrm>
            <a:off x="952500" y="2799146"/>
            <a:ext cx="3036477"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sp>
        <p:nvSpPr>
          <p:cNvPr id="20" name="Marcador de texto 2">
            <a:extLst>
              <a:ext uri="{FF2B5EF4-FFF2-40B4-BE49-F238E27FC236}">
                <a16:creationId xmlns:a16="http://schemas.microsoft.com/office/drawing/2014/main" id="{057DFE0A-61D9-1B48-8196-EA94D04685DD}"/>
              </a:ext>
            </a:extLst>
          </p:cNvPr>
          <p:cNvSpPr>
            <a:spLocks noGrp="1"/>
          </p:cNvSpPr>
          <p:nvPr>
            <p:ph type="body" idx="10"/>
          </p:nvPr>
        </p:nvSpPr>
        <p:spPr>
          <a:xfrm>
            <a:off x="4569372"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s-ES" noProof="0"/>
              <a:t>Haga clic para modificar los estilos de texto del patrón</a:t>
            </a:r>
          </a:p>
        </p:txBody>
      </p:sp>
      <p:sp>
        <p:nvSpPr>
          <p:cNvPr id="21" name="Marcador de contenido 3">
            <a:extLst>
              <a:ext uri="{FF2B5EF4-FFF2-40B4-BE49-F238E27FC236}">
                <a16:creationId xmlns:a16="http://schemas.microsoft.com/office/drawing/2014/main" id="{C946754A-F105-644E-99A4-DC80B9944243}"/>
              </a:ext>
            </a:extLst>
          </p:cNvPr>
          <p:cNvSpPr>
            <a:spLocks noGrp="1"/>
          </p:cNvSpPr>
          <p:nvPr>
            <p:ph sz="half" idx="11"/>
          </p:nvPr>
        </p:nvSpPr>
        <p:spPr>
          <a:xfrm>
            <a:off x="4569372" y="2799146"/>
            <a:ext cx="3050628"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sp>
        <p:nvSpPr>
          <p:cNvPr id="22" name="Marcador de texto 2">
            <a:extLst>
              <a:ext uri="{FF2B5EF4-FFF2-40B4-BE49-F238E27FC236}">
                <a16:creationId xmlns:a16="http://schemas.microsoft.com/office/drawing/2014/main" id="{368648FC-FC9A-5645-8F0C-390FFFAE180D}"/>
              </a:ext>
            </a:extLst>
          </p:cNvPr>
          <p:cNvSpPr>
            <a:spLocks noGrp="1"/>
          </p:cNvSpPr>
          <p:nvPr>
            <p:ph type="body" idx="12"/>
          </p:nvPr>
        </p:nvSpPr>
        <p:spPr>
          <a:xfrm>
            <a:off x="8187017"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s-ES" noProof="0"/>
              <a:t>Haga clic para modificar los estilos de texto del patrón</a:t>
            </a:r>
          </a:p>
        </p:txBody>
      </p:sp>
      <p:sp>
        <p:nvSpPr>
          <p:cNvPr id="24" name="Marcador de posición de contenido 3">
            <a:extLst>
              <a:ext uri="{FF2B5EF4-FFF2-40B4-BE49-F238E27FC236}">
                <a16:creationId xmlns:a16="http://schemas.microsoft.com/office/drawing/2014/main" id="{BBB849DC-B114-D145-9879-4FE0688BF57E}"/>
              </a:ext>
            </a:extLst>
          </p:cNvPr>
          <p:cNvSpPr>
            <a:spLocks noGrp="1"/>
          </p:cNvSpPr>
          <p:nvPr>
            <p:ph sz="half" idx="13"/>
          </p:nvPr>
        </p:nvSpPr>
        <p:spPr>
          <a:xfrm>
            <a:off x="8187017" y="2799146"/>
            <a:ext cx="3036477"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cxnSp>
        <p:nvCxnSpPr>
          <p:cNvPr id="26" name="Conector recto 25">
            <a:extLst>
              <a:ext uri="{FF2B5EF4-FFF2-40B4-BE49-F238E27FC236}">
                <a16:creationId xmlns:a16="http://schemas.microsoft.com/office/drawing/2014/main" id="{9F0C4CE5-5F02-B143-8FD1-1B235D270DAC}"/>
              </a:ext>
            </a:extLst>
          </p:cNvPr>
          <p:cNvCxnSpPr>
            <a:cxnSpLocks/>
          </p:cNvCxnSpPr>
          <p:nvPr userDrawn="1"/>
        </p:nvCxnSpPr>
        <p:spPr>
          <a:xfrm>
            <a:off x="4569372"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cxnSp>
        <p:nvCxnSpPr>
          <p:cNvPr id="28" name="Conector recto 27">
            <a:extLst>
              <a:ext uri="{FF2B5EF4-FFF2-40B4-BE49-F238E27FC236}">
                <a16:creationId xmlns:a16="http://schemas.microsoft.com/office/drawing/2014/main" id="{289A8C14-DB28-F34E-8098-168D4C75AF23}"/>
              </a:ext>
            </a:extLst>
          </p:cNvPr>
          <p:cNvCxnSpPr>
            <a:cxnSpLocks/>
          </p:cNvCxnSpPr>
          <p:nvPr userDrawn="1"/>
        </p:nvCxnSpPr>
        <p:spPr>
          <a:xfrm>
            <a:off x="8187017"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 name="Marcador de fecha 1">
            <a:extLst>
              <a:ext uri="{FF2B5EF4-FFF2-40B4-BE49-F238E27FC236}">
                <a16:creationId xmlns:a16="http://schemas.microsoft.com/office/drawing/2014/main" id="{F0FA07F3-F8E4-4505-85EC-22734AC68792}"/>
              </a:ext>
            </a:extLst>
          </p:cNvPr>
          <p:cNvSpPr>
            <a:spLocks noGrp="1"/>
          </p:cNvSpPr>
          <p:nvPr>
            <p:ph type="dt" sz="half" idx="14"/>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846AC6E8-C089-4970-88B6-A9DF4F2A5ECC}"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 de mayo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D5165D22-FEF5-4F30-8822-5D2378806A9B}"/>
              </a:ext>
            </a:extLst>
          </p:cNvPr>
          <p:cNvSpPr>
            <a:spLocks noGrp="1"/>
          </p:cNvSpPr>
          <p:nvPr>
            <p:ph type="ftr" sz="quarter" idx="15"/>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1540F86B-3DA3-4708-AAF5-387BA115C415}"/>
              </a:ext>
            </a:extLst>
          </p:cNvPr>
          <p:cNvSpPr>
            <a:spLocks noGrp="1"/>
          </p:cNvSpPr>
          <p:nvPr>
            <p:ph type="sldNum" sz="quarter" idx="1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128561778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520">
          <p15:clr>
            <a:srgbClr val="FBAE40"/>
          </p15:clr>
        </p15:guide>
        <p15:guide id="4" pos="5160">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4800">
          <p15:clr>
            <a:srgbClr val="FBAE40"/>
          </p15:clr>
        </p15:guide>
        <p15:guide id="11" pos="2880">
          <p15:clr>
            <a:srgbClr val="FBAE40"/>
          </p15:clr>
        </p15:guide>
        <p15:guide id="12" orient="horz" pos="17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sumen ">
    <p:bg>
      <p:bgPr>
        <a:solidFill>
          <a:schemeClr val="tx1"/>
        </a:solidFill>
        <a:effectLst/>
      </p:bgPr>
    </p:bg>
    <p:spTree>
      <p:nvGrpSpPr>
        <p:cNvPr id="1" name=""/>
        <p:cNvGrpSpPr/>
        <p:nvPr/>
      </p:nvGrpSpPr>
      <p:grpSpPr>
        <a:xfrm>
          <a:off x="0" y="0"/>
          <a:ext cx="0" cy="0"/>
          <a:chOff x="0" y="0"/>
          <a:chExt cx="0" cy="0"/>
        </a:xfrm>
      </p:grpSpPr>
      <p:sp>
        <p:nvSpPr>
          <p:cNvPr id="32" name="Títu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33" name="Conector rec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3" name="Marcador de texto 2">
            <a:extLst>
              <a:ext uri="{FF2B5EF4-FFF2-40B4-BE49-F238E27FC236}">
                <a16:creationId xmlns:a16="http://schemas.microsoft.com/office/drawing/2014/main" id="{0DA8C895-11B9-EA40-B0F8-0F4FE9881512}"/>
              </a:ext>
            </a:extLst>
          </p:cNvPr>
          <p:cNvSpPr>
            <a:spLocks noGrp="1"/>
          </p:cNvSpPr>
          <p:nvPr>
            <p:ph type="body" sz="quarter" idx="10"/>
          </p:nvPr>
        </p:nvSpPr>
        <p:spPr>
          <a:xfrm>
            <a:off x="952500" y="2656904"/>
            <a:ext cx="4838700" cy="574318"/>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grpSp>
        <p:nvGrpSpPr>
          <p:cNvPr id="15" name="Grupo 14">
            <a:extLst>
              <a:ext uri="{FF2B5EF4-FFF2-40B4-BE49-F238E27FC236}">
                <a16:creationId xmlns:a16="http://schemas.microsoft.com/office/drawing/2014/main" id="{C47A1EE0-4011-3749-B01C-FC489EEDF880}"/>
              </a:ext>
            </a:extLst>
          </p:cNvPr>
          <p:cNvGrpSpPr>
            <a:grpSpLocks/>
          </p:cNvGrpSpPr>
          <p:nvPr userDrawn="1"/>
        </p:nvGrpSpPr>
        <p:grpSpPr bwMode="auto">
          <a:xfrm rot="10800000">
            <a:off x="8870040" y="0"/>
            <a:ext cx="3325208" cy="3325208"/>
            <a:chOff x="0" y="12289"/>
            <a:chExt cx="3550" cy="3551"/>
          </a:xfrm>
        </p:grpSpPr>
        <p:sp>
          <p:nvSpPr>
            <p:cNvPr id="16" name="Forma libre 15">
              <a:extLst>
                <a:ext uri="{FF2B5EF4-FFF2-40B4-BE49-F238E27FC236}">
                  <a16:creationId xmlns:a16="http://schemas.microsoft.com/office/drawing/2014/main" id="{17EED68A-6660-2643-BBFB-B6AB92A7C22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7" name="Forma libre 16">
              <a:extLst>
                <a:ext uri="{FF2B5EF4-FFF2-40B4-BE49-F238E27FC236}">
                  <a16:creationId xmlns:a16="http://schemas.microsoft.com/office/drawing/2014/main" id="{BECF9FB8-F6C7-C54D-99F4-11FDF26D7F9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8" name="Forma libre 17">
              <a:extLst>
                <a:ext uri="{FF2B5EF4-FFF2-40B4-BE49-F238E27FC236}">
                  <a16:creationId xmlns:a16="http://schemas.microsoft.com/office/drawing/2014/main" id="{46C7C62D-7D3B-934C-AFF9-0F10E727B42E}"/>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4" name="Marcador de texto 3">
            <a:extLst>
              <a:ext uri="{FF2B5EF4-FFF2-40B4-BE49-F238E27FC236}">
                <a16:creationId xmlns:a16="http://schemas.microsoft.com/office/drawing/2014/main" id="{FF85D552-3AFC-4D21-A944-9D41E128A96E}"/>
              </a:ext>
            </a:extLst>
          </p:cNvPr>
          <p:cNvSpPr>
            <a:spLocks noGrp="1"/>
          </p:cNvSpPr>
          <p:nvPr>
            <p:ph type="body" sz="quarter" idx="12"/>
          </p:nvPr>
        </p:nvSpPr>
        <p:spPr>
          <a:xfrm>
            <a:off x="952500" y="2286000"/>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1" name="Marcador de texto 2">
            <a:extLst>
              <a:ext uri="{FF2B5EF4-FFF2-40B4-BE49-F238E27FC236}">
                <a16:creationId xmlns:a16="http://schemas.microsoft.com/office/drawing/2014/main" id="{BE8C2EDB-9C70-49A2-865C-E5CD77D3E741}"/>
              </a:ext>
            </a:extLst>
          </p:cNvPr>
          <p:cNvSpPr>
            <a:spLocks noGrp="1"/>
          </p:cNvSpPr>
          <p:nvPr>
            <p:ph type="body" sz="quarter" idx="13"/>
          </p:nvPr>
        </p:nvSpPr>
        <p:spPr>
          <a:xfrm>
            <a:off x="953655" y="3841846"/>
            <a:ext cx="4838700" cy="636754"/>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sp>
        <p:nvSpPr>
          <p:cNvPr id="22" name="Marcador de texto 3">
            <a:extLst>
              <a:ext uri="{FF2B5EF4-FFF2-40B4-BE49-F238E27FC236}">
                <a16:creationId xmlns:a16="http://schemas.microsoft.com/office/drawing/2014/main" id="{EE50320A-D017-45C6-9986-94BC43911E98}"/>
              </a:ext>
            </a:extLst>
          </p:cNvPr>
          <p:cNvSpPr>
            <a:spLocks noGrp="1"/>
          </p:cNvSpPr>
          <p:nvPr>
            <p:ph type="body" sz="quarter" idx="14"/>
          </p:nvPr>
        </p:nvSpPr>
        <p:spPr>
          <a:xfrm>
            <a:off x="953655" y="3470942"/>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3" name="Marcador de texto 2">
            <a:extLst>
              <a:ext uri="{FF2B5EF4-FFF2-40B4-BE49-F238E27FC236}">
                <a16:creationId xmlns:a16="http://schemas.microsoft.com/office/drawing/2014/main" id="{673EB498-F5D2-4E15-990A-2AFA4A377CBB}"/>
              </a:ext>
            </a:extLst>
          </p:cNvPr>
          <p:cNvSpPr>
            <a:spLocks noGrp="1"/>
          </p:cNvSpPr>
          <p:nvPr>
            <p:ph type="body" sz="quarter" idx="15"/>
          </p:nvPr>
        </p:nvSpPr>
        <p:spPr>
          <a:xfrm>
            <a:off x="952500" y="5017901"/>
            <a:ext cx="4838700" cy="908340"/>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sp>
        <p:nvSpPr>
          <p:cNvPr id="24" name="Marcador de texto 3">
            <a:extLst>
              <a:ext uri="{FF2B5EF4-FFF2-40B4-BE49-F238E27FC236}">
                <a16:creationId xmlns:a16="http://schemas.microsoft.com/office/drawing/2014/main" id="{1F528150-326B-4BB3-AC38-7FC805DB6BA7}"/>
              </a:ext>
            </a:extLst>
          </p:cNvPr>
          <p:cNvSpPr>
            <a:spLocks noGrp="1"/>
          </p:cNvSpPr>
          <p:nvPr>
            <p:ph type="body" sz="quarter" idx="16"/>
          </p:nvPr>
        </p:nvSpPr>
        <p:spPr>
          <a:xfrm>
            <a:off x="952500" y="4646997"/>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5" name="Marcador de texto 2">
            <a:extLst>
              <a:ext uri="{FF2B5EF4-FFF2-40B4-BE49-F238E27FC236}">
                <a16:creationId xmlns:a16="http://schemas.microsoft.com/office/drawing/2014/main" id="{20EBEFF7-AECA-409B-9ACC-A63A168283BE}"/>
              </a:ext>
            </a:extLst>
          </p:cNvPr>
          <p:cNvSpPr>
            <a:spLocks noGrp="1"/>
          </p:cNvSpPr>
          <p:nvPr>
            <p:ph type="body" sz="quarter" idx="17"/>
          </p:nvPr>
        </p:nvSpPr>
        <p:spPr>
          <a:xfrm>
            <a:off x="6399647" y="2656904"/>
            <a:ext cx="4838700" cy="574318"/>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sp>
        <p:nvSpPr>
          <p:cNvPr id="26" name="Marcador de texto 3">
            <a:extLst>
              <a:ext uri="{FF2B5EF4-FFF2-40B4-BE49-F238E27FC236}">
                <a16:creationId xmlns:a16="http://schemas.microsoft.com/office/drawing/2014/main" id="{29E4D063-8666-4D7A-B8C8-2B9383F798E0}"/>
              </a:ext>
            </a:extLst>
          </p:cNvPr>
          <p:cNvSpPr>
            <a:spLocks noGrp="1"/>
          </p:cNvSpPr>
          <p:nvPr>
            <p:ph type="body" sz="quarter" idx="18"/>
          </p:nvPr>
        </p:nvSpPr>
        <p:spPr>
          <a:xfrm>
            <a:off x="6399647" y="2286000"/>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7" name="Marcador de texto 2">
            <a:extLst>
              <a:ext uri="{FF2B5EF4-FFF2-40B4-BE49-F238E27FC236}">
                <a16:creationId xmlns:a16="http://schemas.microsoft.com/office/drawing/2014/main" id="{4717B7CD-A4F9-444E-82B9-8914CB574887}"/>
              </a:ext>
            </a:extLst>
          </p:cNvPr>
          <p:cNvSpPr>
            <a:spLocks noGrp="1"/>
          </p:cNvSpPr>
          <p:nvPr>
            <p:ph type="body" sz="quarter" idx="19"/>
          </p:nvPr>
        </p:nvSpPr>
        <p:spPr>
          <a:xfrm>
            <a:off x="6399647" y="3841846"/>
            <a:ext cx="4838700" cy="908340"/>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sp>
        <p:nvSpPr>
          <p:cNvPr id="28" name="Marcador de texto 3">
            <a:extLst>
              <a:ext uri="{FF2B5EF4-FFF2-40B4-BE49-F238E27FC236}">
                <a16:creationId xmlns:a16="http://schemas.microsoft.com/office/drawing/2014/main" id="{2CF285B7-A950-4326-A4D5-F5D542D2D65B}"/>
              </a:ext>
            </a:extLst>
          </p:cNvPr>
          <p:cNvSpPr>
            <a:spLocks noGrp="1"/>
          </p:cNvSpPr>
          <p:nvPr>
            <p:ph type="body" sz="quarter" idx="20"/>
          </p:nvPr>
        </p:nvSpPr>
        <p:spPr>
          <a:xfrm>
            <a:off x="6399647" y="3470942"/>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 name="Marcador de fecha 1">
            <a:extLst>
              <a:ext uri="{FF2B5EF4-FFF2-40B4-BE49-F238E27FC236}">
                <a16:creationId xmlns:a16="http://schemas.microsoft.com/office/drawing/2014/main" id="{EC45E38A-5516-4C3E-88FC-0DCBD876054B}"/>
              </a:ext>
            </a:extLst>
          </p:cNvPr>
          <p:cNvSpPr>
            <a:spLocks noGrp="1"/>
          </p:cNvSpPr>
          <p:nvPr>
            <p:ph type="dt" sz="half" idx="2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49053CBC-2B39-42EE-A9ED-10AB05B9208E}"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 de mayo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5" name="Marcador de pie de página 4">
            <a:extLst>
              <a:ext uri="{FF2B5EF4-FFF2-40B4-BE49-F238E27FC236}">
                <a16:creationId xmlns:a16="http://schemas.microsoft.com/office/drawing/2014/main" id="{14225273-038D-4F51-A093-83D80104F21A}"/>
              </a:ext>
            </a:extLst>
          </p:cNvPr>
          <p:cNvSpPr>
            <a:spLocks noGrp="1"/>
          </p:cNvSpPr>
          <p:nvPr>
            <p:ph type="ftr" sz="quarter" idx="22"/>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6" name="Marcador de número de diapositiva 5">
            <a:extLst>
              <a:ext uri="{FF2B5EF4-FFF2-40B4-BE49-F238E27FC236}">
                <a16:creationId xmlns:a16="http://schemas.microsoft.com/office/drawing/2014/main" id="{C7F24E14-E0E0-44FA-A4AA-FA63A858730C}"/>
              </a:ext>
            </a:extLst>
          </p:cNvPr>
          <p:cNvSpPr>
            <a:spLocks noGrp="1"/>
          </p:cNvSpPr>
          <p:nvPr>
            <p:ph type="sldNum" sz="quarter" idx="23"/>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263394155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racias">
    <p:bg>
      <p:bgPr>
        <a:solidFill>
          <a:schemeClr val="tx1"/>
        </a:solidFill>
        <a:effectLst/>
      </p:bgPr>
    </p:bg>
    <p:spTree>
      <p:nvGrpSpPr>
        <p:cNvPr id="1" name=""/>
        <p:cNvGrpSpPr/>
        <p:nvPr/>
      </p:nvGrpSpPr>
      <p:grpSpPr>
        <a:xfrm>
          <a:off x="0" y="0"/>
          <a:ext cx="0" cy="0"/>
          <a:chOff x="0" y="0"/>
          <a:chExt cx="0" cy="0"/>
        </a:xfrm>
      </p:grpSpPr>
      <p:sp>
        <p:nvSpPr>
          <p:cNvPr id="16" name="Marcador de texto 29">
            <a:extLst>
              <a:ext uri="{FF2B5EF4-FFF2-40B4-BE49-F238E27FC236}">
                <a16:creationId xmlns:a16="http://schemas.microsoft.com/office/drawing/2014/main" id="{BB778BC5-5409-574B-96E2-B45CDD940DF4}"/>
              </a:ext>
            </a:extLst>
          </p:cNvPr>
          <p:cNvSpPr>
            <a:spLocks noGrp="1"/>
          </p:cNvSpPr>
          <p:nvPr>
            <p:ph type="body" sz="quarter" idx="11"/>
          </p:nvPr>
        </p:nvSpPr>
        <p:spPr>
          <a:xfrm>
            <a:off x="6896100" y="5102063"/>
            <a:ext cx="4914900" cy="588795"/>
          </a:xfrm>
        </p:spPr>
        <p:txBody>
          <a:bodyPr lIns="0" tIns="0" rIns="0" bIns="0" rtlCol="0" anchor="b">
            <a:noAutofit/>
          </a:bodyPr>
          <a:lstStyle>
            <a:lvl1pPr marL="0" indent="0">
              <a:buNone/>
              <a:defRPr sz="1600" b="0" i="0">
                <a:solidFill>
                  <a:schemeClr val="tx2"/>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17" name="Subtítulo 2">
            <a:extLst>
              <a:ext uri="{FF2B5EF4-FFF2-40B4-BE49-F238E27FC236}">
                <a16:creationId xmlns:a16="http://schemas.microsoft.com/office/drawing/2014/main" id="{32916F3A-28FA-9A4B-A780-0D687D932893}"/>
              </a:ext>
            </a:extLst>
          </p:cNvPr>
          <p:cNvSpPr>
            <a:spLocks noGrp="1"/>
          </p:cNvSpPr>
          <p:nvPr>
            <p:ph type="subTitle" idx="1"/>
          </p:nvPr>
        </p:nvSpPr>
        <p:spPr>
          <a:xfrm>
            <a:off x="6907623" y="3591098"/>
            <a:ext cx="4903377" cy="1057791"/>
          </a:xfrm>
        </p:spPr>
        <p:txBody>
          <a:bodyPr lIns="0" tIns="0" rIns="0" bIns="0" rtlCol="0">
            <a:normAutofit/>
          </a:bodyPr>
          <a:lstStyle>
            <a:lvl1pPr marL="0" indent="0" algn="l">
              <a:buNone/>
              <a:defRPr sz="1600" b="0" i="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ES" noProof="0"/>
              <a:t>Haga clic para modificar el estilo de subtítulo del patrón</a:t>
            </a:r>
            <a:endParaRPr lang="es-ES" noProof="0" dirty="0"/>
          </a:p>
        </p:txBody>
      </p:sp>
      <p:sp>
        <p:nvSpPr>
          <p:cNvPr id="26" name="Título 1">
            <a:extLst>
              <a:ext uri="{FF2B5EF4-FFF2-40B4-BE49-F238E27FC236}">
                <a16:creationId xmlns:a16="http://schemas.microsoft.com/office/drawing/2014/main" id="{E29321F6-59C5-6E4C-A846-6AD00848A444}"/>
              </a:ext>
            </a:extLst>
          </p:cNvPr>
          <p:cNvSpPr>
            <a:spLocks noGrp="1"/>
          </p:cNvSpPr>
          <p:nvPr>
            <p:ph type="title"/>
          </p:nvPr>
        </p:nvSpPr>
        <p:spPr>
          <a:xfrm>
            <a:off x="6907623" y="2173658"/>
            <a:ext cx="49033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27" name="Conector recto 26">
            <a:extLst>
              <a:ext uri="{FF2B5EF4-FFF2-40B4-BE49-F238E27FC236}">
                <a16:creationId xmlns:a16="http://schemas.microsoft.com/office/drawing/2014/main" id="{AB5C3BF3-A164-DD48-BD02-4587489DA105}"/>
              </a:ext>
            </a:extLst>
          </p:cNvPr>
          <p:cNvCxnSpPr>
            <a:cxnSpLocks/>
          </p:cNvCxnSpPr>
          <p:nvPr userDrawn="1"/>
        </p:nvCxnSpPr>
        <p:spPr>
          <a:xfrm>
            <a:off x="6896100" y="3233703"/>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1" name="Marcador de posición de imagen 2">
            <a:extLst>
              <a:ext uri="{FF2B5EF4-FFF2-40B4-BE49-F238E27FC236}">
                <a16:creationId xmlns:a16="http://schemas.microsoft.com/office/drawing/2014/main" id="{F8C225AD-C009-894E-8AFA-C94EAA06509C}"/>
              </a:ext>
            </a:extLst>
          </p:cNvPr>
          <p:cNvSpPr>
            <a:spLocks noGrp="1"/>
          </p:cNvSpPr>
          <p:nvPr>
            <p:ph type="pic" sz="quarter" idx="13"/>
          </p:nvPr>
        </p:nvSpPr>
        <p:spPr>
          <a:xfrm>
            <a:off x="0" y="0"/>
            <a:ext cx="6096000" cy="6858000"/>
          </a:xfrm>
        </p:spPr>
        <p:txBody>
          <a:bodyPr rtlCol="0"/>
          <a:lstStyle/>
          <a:p>
            <a:pPr rtl="0"/>
            <a:r>
              <a:rPr lang="es-ES" noProof="0"/>
              <a:t>Haga clic en el icono para agregar una imagen</a:t>
            </a:r>
            <a:endParaRPr lang="es-ES" noProof="0" dirty="0"/>
          </a:p>
        </p:txBody>
      </p:sp>
      <p:grpSp>
        <p:nvGrpSpPr>
          <p:cNvPr id="30" name="Grupo 29">
            <a:extLst>
              <a:ext uri="{FF2B5EF4-FFF2-40B4-BE49-F238E27FC236}">
                <a16:creationId xmlns:a16="http://schemas.microsoft.com/office/drawing/2014/main" id="{FFEF81ED-50DF-3946-87D9-407C13C3CE9F}"/>
              </a:ext>
            </a:extLst>
          </p:cNvPr>
          <p:cNvGrpSpPr>
            <a:grpSpLocks/>
          </p:cNvGrpSpPr>
          <p:nvPr userDrawn="1"/>
        </p:nvGrpSpPr>
        <p:grpSpPr bwMode="auto">
          <a:xfrm rot="10800000">
            <a:off x="8870040" y="0"/>
            <a:ext cx="3325208" cy="3325208"/>
            <a:chOff x="0" y="12289"/>
            <a:chExt cx="3550" cy="3551"/>
          </a:xfrm>
        </p:grpSpPr>
        <p:sp>
          <p:nvSpPr>
            <p:cNvPr id="31" name="Forma libre 30">
              <a:extLst>
                <a:ext uri="{FF2B5EF4-FFF2-40B4-BE49-F238E27FC236}">
                  <a16:creationId xmlns:a16="http://schemas.microsoft.com/office/drawing/2014/main" id="{4B6857A0-601C-9C40-ADB4-7927C7A4ECA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2" name="Forma libre 31">
              <a:extLst>
                <a:ext uri="{FF2B5EF4-FFF2-40B4-BE49-F238E27FC236}">
                  <a16:creationId xmlns:a16="http://schemas.microsoft.com/office/drawing/2014/main" id="{31562ACC-ECB3-4841-A52C-00DAFF438EBF}"/>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3" name="Forma libre 32">
              <a:extLst>
                <a:ext uri="{FF2B5EF4-FFF2-40B4-BE49-F238E27FC236}">
                  <a16:creationId xmlns:a16="http://schemas.microsoft.com/office/drawing/2014/main" id="{77C317B8-91B4-7040-AB8C-CE822CA28AA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Tree>
    <p:extLst>
      <p:ext uri="{BB962C8B-B14F-4D97-AF65-F5344CB8AC3E}">
        <p14:creationId xmlns:p14="http://schemas.microsoft.com/office/powerpoint/2010/main" val="2380417716"/>
      </p:ext>
    </p:extLst>
  </p:cSld>
  <p:clrMapOvr>
    <a:masterClrMapping/>
  </p:clrMapOvr>
  <p:extLst>
    <p:ext uri="{DCECCB84-F9BA-43D5-87BE-67443E8EF086}">
      <p15:sldGuideLst xmlns:p15="http://schemas.microsoft.com/office/powerpoint/2012/main">
        <p15:guide id="1" pos="60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8EED84C6-50E6-6C43-8031-AFF6268E0C06}"/>
              </a:ext>
            </a:extLst>
          </p:cNvPr>
          <p:cNvSpPr>
            <a:spLocks noGrp="1"/>
          </p:cNvSpPr>
          <p:nvPr>
            <p:ph type="body" idx="1"/>
          </p:nvPr>
        </p:nvSpPr>
        <p:spPr>
          <a:xfrm>
            <a:off x="971550" y="1825625"/>
            <a:ext cx="10382250" cy="4351338"/>
          </a:xfrm>
          <a:prstGeom prst="rect">
            <a:avLst/>
          </a:prstGeom>
        </p:spPr>
        <p:txBody>
          <a:bodyPr vert="horz" lIns="91440" tIns="45720" rIns="91440" bIns="45720" rtlCol="0">
            <a:normAutofit/>
          </a:body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12" name="Marcador de título 11">
            <a:extLst>
              <a:ext uri="{FF2B5EF4-FFF2-40B4-BE49-F238E27FC236}">
                <a16:creationId xmlns:a16="http://schemas.microsoft.com/office/drawing/2014/main" id="{D41FC0AE-253D-D242-9C88-017078F8A23A}"/>
              </a:ext>
            </a:extLst>
          </p:cNvPr>
          <p:cNvSpPr>
            <a:spLocks noGrp="1"/>
          </p:cNvSpPr>
          <p:nvPr>
            <p:ph type="title"/>
          </p:nvPr>
        </p:nvSpPr>
        <p:spPr>
          <a:xfrm>
            <a:off x="952500" y="365125"/>
            <a:ext cx="10401300" cy="1325563"/>
          </a:xfrm>
          <a:prstGeom prst="rect">
            <a:avLst/>
          </a:prstGeom>
        </p:spPr>
        <p:txBody>
          <a:bodyPr vert="horz" lIns="91440" tIns="45720" rIns="91440" bIns="45720" rtlCol="0" anchor="ctr">
            <a:normAutofit/>
          </a:bodyPr>
          <a:lstStyle/>
          <a:p>
            <a:pPr rtl="0"/>
            <a:r>
              <a:rPr lang="es-ES" noProof="0"/>
              <a:t>Haga clic para modificar el estilo de título del patrón</a:t>
            </a:r>
          </a:p>
        </p:txBody>
      </p:sp>
      <p:sp>
        <p:nvSpPr>
          <p:cNvPr id="30" name="Marcador de fecha 3">
            <a:extLst>
              <a:ext uri="{FF2B5EF4-FFF2-40B4-BE49-F238E27FC236}">
                <a16:creationId xmlns:a16="http://schemas.microsoft.com/office/drawing/2014/main" id="{EF47083A-6D76-4B4D-87CA-E08E212F781D}"/>
              </a:ext>
            </a:extLst>
          </p:cNvPr>
          <p:cNvSpPr>
            <a:spLocks noGrp="1"/>
          </p:cNvSpPr>
          <p:nvPr>
            <p:ph type="dt" sz="half" idx="2"/>
          </p:nvPr>
        </p:nvSpPr>
        <p:spPr>
          <a:xfrm>
            <a:off x="2992120"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7BF5E43A-1348-4597-A2F5-11856AA9D9CF}"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 de mayo de 2025</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31" name="Marcador de pie de página 4">
            <a:extLst>
              <a:ext uri="{FF2B5EF4-FFF2-40B4-BE49-F238E27FC236}">
                <a16:creationId xmlns:a16="http://schemas.microsoft.com/office/drawing/2014/main" id="{C9955F1C-C0B1-BA44-8905-6991FA0D1EF3}"/>
              </a:ext>
            </a:extLst>
          </p:cNvPr>
          <p:cNvSpPr>
            <a:spLocks noGrp="1"/>
          </p:cNvSpPr>
          <p:nvPr>
            <p:ph type="ftr" sz="quarter" idx="3"/>
          </p:nvPr>
        </p:nvSpPr>
        <p:spPr>
          <a:xfrm>
            <a:off x="1494790" y="6332220"/>
            <a:ext cx="1497330" cy="247651"/>
          </a:xfrm>
          <a:prstGeom prst="rect">
            <a:avLst/>
          </a:prstGeom>
        </p:spPr>
        <p:txBody>
          <a:bodyPr vert="horz" lIns="0" tIns="0" rIns="0" bIns="0" rtlCol="0" anchor="t" anchorCtr="0"/>
          <a:lstStyle>
            <a:lvl1pPr algn="l">
              <a:defRPr sz="1100" b="0" i="0">
                <a:solidFill>
                  <a:schemeClr val="bg1"/>
                </a:solidFill>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black"/>
                </a:solidFill>
                <a:effectLst/>
                <a:uLnTx/>
                <a:uFillTx/>
                <a:latin typeface="Franklin Gothic Demi"/>
                <a:ea typeface="+mn-ea"/>
                <a:cs typeface="+mn-cs"/>
              </a:rPr>
              <a:t>Revisión anual</a:t>
            </a:r>
          </a:p>
        </p:txBody>
      </p:sp>
      <p:sp>
        <p:nvSpPr>
          <p:cNvPr id="32" name="Marcador de posición de número de diapositiva 5">
            <a:extLst>
              <a:ext uri="{FF2B5EF4-FFF2-40B4-BE49-F238E27FC236}">
                <a16:creationId xmlns:a16="http://schemas.microsoft.com/office/drawing/2014/main" id="{C8ADA0DF-3751-9A48-8A21-59F01C782D7C}"/>
              </a:ext>
            </a:extLst>
          </p:cNvPr>
          <p:cNvSpPr>
            <a:spLocks noGrp="1"/>
          </p:cNvSpPr>
          <p:nvPr>
            <p:ph type="sldNum" sz="quarter" idx="4"/>
          </p:nvPr>
        </p:nvSpPr>
        <p:spPr>
          <a:xfrm>
            <a:off x="971550" y="6332220"/>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21902135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p:txStyles>
    <p:titleStyle>
      <a:lvl1pPr algn="l" defTabSz="914400" rtl="0" eaLnBrk="1" latinLnBrk="0" hangingPunct="1">
        <a:lnSpc>
          <a:spcPct val="9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2.xml"/><Relationship Id="rId5" Type="http://schemas.openxmlformats.org/officeDocument/2006/relationships/image" Target="../media/image7.png"/><Relationship Id="rId4" Type="http://schemas.openxmlformats.org/officeDocument/2006/relationships/image" Target="../media/image60.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0.xml"/><Relationship Id="rId1" Type="http://schemas.openxmlformats.org/officeDocument/2006/relationships/slideLayout" Target="../slideLayouts/slideLayout12.xml"/><Relationship Id="rId5" Type="http://schemas.openxmlformats.org/officeDocument/2006/relationships/image" Target="../media/image24.pn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12.xml"/><Relationship Id="rId5" Type="http://schemas.openxmlformats.org/officeDocument/2006/relationships/image" Target="../media/image27.png"/><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hyperlink" Target="https://qcenter.uconn.edu/wp-content/uploads/sites/764/2018/05/Standard-Normal-Ztable.pdf" TargetMode="External"/><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30.png"/><Relationship Id="rId5" Type="http://schemas.microsoft.com/office/2007/relationships/hdphoto" Target="../media/hdphoto1.wdp"/><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3.png"/><Relationship Id="rId7" Type="http://schemas.openxmlformats.org/officeDocument/2006/relationships/image" Target="../media/image36.png"/><Relationship Id="rId12"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35.png"/><Relationship Id="rId11" Type="http://schemas.openxmlformats.org/officeDocument/2006/relationships/hyperlink" Target="https://qcenter.uconn.edu/wp-content/uploads/sites/764/2018/05/Standard-Normal-Ztable.pdf" TargetMode="External"/><Relationship Id="rId5" Type="http://schemas.openxmlformats.org/officeDocument/2006/relationships/image" Target="../media/image22.png"/><Relationship Id="rId10" Type="http://schemas.openxmlformats.org/officeDocument/2006/relationships/hyperlink" Target="https://www.youtube.com/watch?v=oSF89A9aM8U&amp;t=14s" TargetMode="External"/><Relationship Id="rId4" Type="http://schemas.openxmlformats.org/officeDocument/2006/relationships/image" Target="../media/image34.png"/><Relationship Id="rId9" Type="http://schemas.openxmlformats.org/officeDocument/2006/relationships/image" Target="../media/image22.jpeg"/></Relationships>
</file>

<file path=ppt/slides/_rels/slide16.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8.jpeg"/><Relationship Id="rId7" Type="http://schemas.openxmlformats.org/officeDocument/2006/relationships/image" Target="../media/image42.png"/><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41.png"/><Relationship Id="rId5" Type="http://schemas.openxmlformats.org/officeDocument/2006/relationships/image" Target="../media/image40.png"/><Relationship Id="rId10" Type="http://schemas.openxmlformats.org/officeDocument/2006/relationships/image" Target="../media/image30.png"/><Relationship Id="rId4" Type="http://schemas.openxmlformats.org/officeDocument/2006/relationships/image" Target="../media/image39.png"/><Relationship Id="rId9" Type="http://schemas.openxmlformats.org/officeDocument/2006/relationships/hyperlink" Target="https://qcenter.uconn.edu/wp-content/uploads/sites/764/2018/05/Standard-Normal-Ztable.pdf"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44.png"/><Relationship Id="rId7" Type="http://schemas.openxmlformats.org/officeDocument/2006/relationships/image" Target="../media/image47.pn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46.png"/><Relationship Id="rId5" Type="http://schemas.openxmlformats.org/officeDocument/2006/relationships/image" Target="../media/image45.png"/><Relationship Id="rId4" Type="http://schemas.microsoft.com/office/2007/relationships/hdphoto" Target="../media/hdphoto2.wdp"/></Relationships>
</file>

<file path=ppt/slides/_rels/slide18.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notesSlide" Target="../notesSlides/notesSlide17.xml"/><Relationship Id="rId1" Type="http://schemas.openxmlformats.org/officeDocument/2006/relationships/slideLayout" Target="../slideLayouts/slideLayout12.xml"/><Relationship Id="rId5" Type="http://schemas.openxmlformats.org/officeDocument/2006/relationships/image" Target="../media/image49.png"/><Relationship Id="rId4" Type="http://schemas.openxmlformats.org/officeDocument/2006/relationships/image" Target="../media/image48.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3E168C-8042-5B4E-A5A4-A5BF693AE2D6}"/>
              </a:ext>
            </a:extLst>
          </p:cNvPr>
          <p:cNvSpPr>
            <a:spLocks noGrp="1"/>
          </p:cNvSpPr>
          <p:nvPr>
            <p:ph type="ctrTitle"/>
          </p:nvPr>
        </p:nvSpPr>
        <p:spPr>
          <a:xfrm>
            <a:off x="6367054" y="2116182"/>
            <a:ext cx="5491571" cy="1514019"/>
          </a:xfrm>
        </p:spPr>
        <p:txBody>
          <a:bodyPr rtlCol="0"/>
          <a:lstStyle/>
          <a:p>
            <a:pPr algn="ctr" rtl="0"/>
            <a:r>
              <a:rPr lang="es-ES" sz="4400" dirty="0">
                <a:latin typeface="Times New Roman" panose="02020603050405020304" pitchFamily="18" charset="0"/>
                <a:cs typeface="Times New Roman" panose="02020603050405020304" pitchFamily="18" charset="0"/>
              </a:rPr>
              <a:t>Sesión 21: Hipótesis Estadísticas</a:t>
            </a:r>
          </a:p>
        </p:txBody>
      </p:sp>
      <p:sp>
        <p:nvSpPr>
          <p:cNvPr id="3" name="Marcador de texto 2">
            <a:extLst>
              <a:ext uri="{FF2B5EF4-FFF2-40B4-BE49-F238E27FC236}">
                <a16:creationId xmlns:a16="http://schemas.microsoft.com/office/drawing/2014/main" id="{F18E61D8-31A3-2D45-8E25-CBE846E26E1C}"/>
              </a:ext>
            </a:extLst>
          </p:cNvPr>
          <p:cNvSpPr>
            <a:spLocks noGrp="1"/>
          </p:cNvSpPr>
          <p:nvPr>
            <p:ph type="body" sz="quarter" idx="11"/>
          </p:nvPr>
        </p:nvSpPr>
        <p:spPr>
          <a:xfrm>
            <a:off x="6367055" y="4549553"/>
            <a:ext cx="5491570" cy="953337"/>
          </a:xfrm>
        </p:spPr>
        <p:txBody>
          <a:bodyPr rtlCol="0"/>
          <a:lstStyle/>
          <a:p>
            <a:pPr algn="ctr" rtl="0"/>
            <a:r>
              <a:rPr lang="es-ES" dirty="0">
                <a:solidFill>
                  <a:schemeClr val="bg1"/>
                </a:solidFill>
                <a:latin typeface="+mj-lt"/>
              </a:rPr>
              <a:t>Mtro. David Nexticapan Cortes</a:t>
            </a:r>
            <a:endParaRPr lang="es-ES" dirty="0">
              <a:solidFill>
                <a:schemeClr val="bg1"/>
              </a:solidFill>
            </a:endParaRPr>
          </a:p>
          <a:p>
            <a:pPr rtl="0"/>
            <a:endParaRPr lang="es-ES" dirty="0"/>
          </a:p>
        </p:txBody>
      </p:sp>
    </p:spTree>
    <p:extLst>
      <p:ext uri="{BB962C8B-B14F-4D97-AF65-F5344CB8AC3E}">
        <p14:creationId xmlns:p14="http://schemas.microsoft.com/office/powerpoint/2010/main" val="5052716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rtl="0"/>
            <a:r>
              <a:rPr lang="es-ES" sz="2600" dirty="0">
                <a:latin typeface="Times New Roman" panose="02020603050405020304" pitchFamily="18" charset="0"/>
                <a:cs typeface="Times New Roman" panose="02020603050405020304" pitchFamily="18" charset="0"/>
              </a:rPr>
              <a:t>Componentes de una prueba de hipótesis</a:t>
            </a:r>
          </a:p>
        </p:txBody>
      </p:sp>
      <p:sp>
        <p:nvSpPr>
          <p:cNvPr id="28" name="CuadroTexto 27">
            <a:extLst>
              <a:ext uri="{FF2B5EF4-FFF2-40B4-BE49-F238E27FC236}">
                <a16:creationId xmlns:a16="http://schemas.microsoft.com/office/drawing/2014/main" id="{F494AF8A-D47C-6E15-F0A8-B546B382BBB9}"/>
              </a:ext>
            </a:extLst>
          </p:cNvPr>
          <p:cNvSpPr txBox="1"/>
          <p:nvPr/>
        </p:nvSpPr>
        <p:spPr>
          <a:xfrm>
            <a:off x="964023" y="2186609"/>
            <a:ext cx="9332916" cy="646331"/>
          </a:xfrm>
          <a:prstGeom prst="rect">
            <a:avLst/>
          </a:prstGeom>
          <a:noFill/>
          <a:ln>
            <a:solidFill>
              <a:schemeClr val="tx1">
                <a:lumMod val="85000"/>
              </a:schemeClr>
            </a:solidFill>
          </a:ln>
        </p:spPr>
        <p:txBody>
          <a:bodyPr wrap="square" rtlCol="0">
            <a:spAutoFit/>
          </a:bodyPr>
          <a:lstStyle/>
          <a:p>
            <a:pPr marL="285750" indent="-285750" algn="just">
              <a:buFont typeface="Arial" panose="020B0604020202020204" pitchFamily="34" charset="0"/>
              <a:buChar char="•"/>
            </a:pPr>
            <a:r>
              <a:rPr lang="es-MX" dirty="0">
                <a:solidFill>
                  <a:schemeClr val="bg1"/>
                </a:solidFill>
                <a:latin typeface="Times New Roman" panose="02020603050405020304" pitchFamily="18" charset="0"/>
                <a:cs typeface="Times New Roman" panose="02020603050405020304" pitchFamily="18" charset="0"/>
              </a:rPr>
              <a:t>En estadística una </a:t>
            </a:r>
            <a:r>
              <a:rPr lang="es-MX" b="1" i="1" dirty="0">
                <a:solidFill>
                  <a:schemeClr val="bg1"/>
                </a:solidFill>
                <a:latin typeface="Times New Roman" panose="02020603050405020304" pitchFamily="18" charset="0"/>
                <a:cs typeface="Times New Roman" panose="02020603050405020304" pitchFamily="18" charset="0"/>
              </a:rPr>
              <a:t>hipótesis</a:t>
            </a:r>
            <a:r>
              <a:rPr lang="es-MX" dirty="0">
                <a:solidFill>
                  <a:schemeClr val="bg1"/>
                </a:solidFill>
                <a:latin typeface="Times New Roman" panose="02020603050405020304" pitchFamily="18" charset="0"/>
                <a:cs typeface="Times New Roman" panose="02020603050405020304" pitchFamily="18" charset="0"/>
              </a:rPr>
              <a:t> es una aseveración o afirmación acerca de una propiedad de una población. i.e. Media, </a:t>
            </a:r>
            <a:r>
              <a:rPr lang="es-MX" dirty="0" err="1">
                <a:solidFill>
                  <a:schemeClr val="bg1"/>
                </a:solidFill>
                <a:latin typeface="Times New Roman" panose="02020603050405020304" pitchFamily="18" charset="0"/>
                <a:cs typeface="Times New Roman" panose="02020603050405020304" pitchFamily="18" charset="0"/>
              </a:rPr>
              <a:t>var</a:t>
            </a:r>
            <a:r>
              <a:rPr lang="es-MX" dirty="0">
                <a:solidFill>
                  <a:schemeClr val="bg1"/>
                </a:solidFill>
                <a:latin typeface="Times New Roman" panose="02020603050405020304" pitchFamily="18" charset="0"/>
                <a:cs typeface="Times New Roman" panose="02020603050405020304" pitchFamily="18" charset="0"/>
              </a:rPr>
              <a:t>, </a:t>
            </a:r>
            <a:r>
              <a:rPr lang="es-MX" dirty="0" err="1">
                <a:solidFill>
                  <a:schemeClr val="bg1"/>
                </a:solidFill>
                <a:latin typeface="Times New Roman" panose="02020603050405020304" pitchFamily="18" charset="0"/>
                <a:cs typeface="Times New Roman" panose="02020603050405020304" pitchFamily="18" charset="0"/>
              </a:rPr>
              <a:t>etc</a:t>
            </a:r>
            <a:endParaRPr lang="es-MX" dirty="0">
              <a:solidFill>
                <a:schemeClr val="bg1"/>
              </a:solidFill>
              <a:latin typeface="Times New Roman" panose="02020603050405020304" pitchFamily="18" charset="0"/>
              <a:cs typeface="Times New Roman" panose="02020603050405020304" pitchFamily="18" charset="0"/>
            </a:endParaRPr>
          </a:p>
        </p:txBody>
      </p:sp>
      <p:sp>
        <p:nvSpPr>
          <p:cNvPr id="4" name="CuadroTexto 3">
            <a:extLst>
              <a:ext uri="{FF2B5EF4-FFF2-40B4-BE49-F238E27FC236}">
                <a16:creationId xmlns:a16="http://schemas.microsoft.com/office/drawing/2014/main" id="{4B77887F-BB86-8BB4-8E75-761FE414B5F2}"/>
              </a:ext>
            </a:extLst>
          </p:cNvPr>
          <p:cNvSpPr txBox="1"/>
          <p:nvPr/>
        </p:nvSpPr>
        <p:spPr>
          <a:xfrm>
            <a:off x="964022" y="3052679"/>
            <a:ext cx="9332916" cy="646331"/>
          </a:xfrm>
          <a:prstGeom prst="rect">
            <a:avLst/>
          </a:prstGeom>
          <a:noFill/>
          <a:ln>
            <a:solidFill>
              <a:schemeClr val="tx1">
                <a:lumMod val="85000"/>
              </a:schemeClr>
            </a:solidFill>
          </a:ln>
        </p:spPr>
        <p:txBody>
          <a:bodyPr wrap="square" rtlCol="0">
            <a:spAutoFit/>
          </a:bodyPr>
          <a:lstStyle/>
          <a:p>
            <a:pPr marL="285750" indent="-285750" algn="just">
              <a:buFont typeface="Arial" panose="020B0604020202020204" pitchFamily="34" charset="0"/>
              <a:buChar char="•"/>
            </a:pPr>
            <a:r>
              <a:rPr lang="es-MX" dirty="0">
                <a:solidFill>
                  <a:schemeClr val="bg1"/>
                </a:solidFill>
                <a:latin typeface="Times New Roman" panose="02020603050405020304" pitchFamily="18" charset="0"/>
                <a:cs typeface="Times New Roman" panose="02020603050405020304" pitchFamily="18" charset="0"/>
              </a:rPr>
              <a:t>Una </a:t>
            </a:r>
            <a:r>
              <a:rPr lang="es-MX" b="1" i="1" dirty="0">
                <a:solidFill>
                  <a:schemeClr val="bg1"/>
                </a:solidFill>
                <a:latin typeface="Times New Roman" panose="02020603050405020304" pitchFamily="18" charset="0"/>
                <a:cs typeface="Times New Roman" panose="02020603050405020304" pitchFamily="18" charset="0"/>
              </a:rPr>
              <a:t>prueba de hipótesis</a:t>
            </a:r>
            <a:r>
              <a:rPr lang="es-MX" dirty="0">
                <a:solidFill>
                  <a:schemeClr val="bg1"/>
                </a:solidFill>
                <a:latin typeface="Times New Roman" panose="02020603050405020304" pitchFamily="18" charset="0"/>
                <a:cs typeface="Times New Roman" panose="02020603050405020304" pitchFamily="18" charset="0"/>
              </a:rPr>
              <a:t> es un procedimiento estándar para probar una aseveración acerca de una propiedad de una población. </a:t>
            </a:r>
          </a:p>
        </p:txBody>
      </p:sp>
      <mc:AlternateContent xmlns:mc="http://schemas.openxmlformats.org/markup-compatibility/2006">
        <mc:Choice xmlns:a14="http://schemas.microsoft.com/office/drawing/2010/main" Requires="a14">
          <p:sp>
            <p:nvSpPr>
              <p:cNvPr id="5" name="CuadroTexto 4">
                <a:extLst>
                  <a:ext uri="{FF2B5EF4-FFF2-40B4-BE49-F238E27FC236}">
                    <a16:creationId xmlns:a16="http://schemas.microsoft.com/office/drawing/2014/main" id="{4B77887F-BB86-8BB4-8E75-761FE414B5F2}"/>
                  </a:ext>
                </a:extLst>
              </p:cNvPr>
              <p:cNvSpPr txBox="1"/>
              <p:nvPr/>
            </p:nvSpPr>
            <p:spPr>
              <a:xfrm>
                <a:off x="958921" y="3918749"/>
                <a:ext cx="9332916" cy="646331"/>
              </a:xfrm>
              <a:prstGeom prst="rect">
                <a:avLst/>
              </a:prstGeom>
              <a:noFill/>
              <a:ln>
                <a:solidFill>
                  <a:schemeClr val="tx1">
                    <a:lumMod val="85000"/>
                  </a:schemeClr>
                </a:solidFill>
              </a:ln>
            </p:spPr>
            <p:txBody>
              <a:bodyPr wrap="square" rtlCol="0">
                <a:spAutoFit/>
              </a:bodyPr>
              <a:lstStyle/>
              <a:p>
                <a:pPr marL="285750" indent="-285750" algn="just">
                  <a:buFont typeface="Arial" panose="020B0604020202020204" pitchFamily="34" charset="0"/>
                  <a:buChar char="•"/>
                </a:pPr>
                <a:r>
                  <a:rPr lang="es-MX" dirty="0">
                    <a:solidFill>
                      <a:schemeClr val="bg1"/>
                    </a:solidFill>
                    <a:latin typeface="Times New Roman" panose="02020603050405020304" pitchFamily="18" charset="0"/>
                    <a:cs typeface="Times New Roman" panose="02020603050405020304" pitchFamily="18" charset="0"/>
                  </a:rPr>
                  <a:t>La </a:t>
                </a:r>
                <a:r>
                  <a:rPr lang="es-MX" b="1" dirty="0">
                    <a:solidFill>
                      <a:srgbClr val="00B050"/>
                    </a:solidFill>
                    <a:latin typeface="Times New Roman" panose="02020603050405020304" pitchFamily="18" charset="0"/>
                    <a:cs typeface="Times New Roman" panose="02020603050405020304" pitchFamily="18" charset="0"/>
                  </a:rPr>
                  <a:t>hipótesis nula</a:t>
                </a:r>
                <a:r>
                  <a:rPr lang="es-MX" dirty="0">
                    <a:solidFill>
                      <a:srgbClr val="00B050"/>
                    </a:solidFill>
                    <a:latin typeface="Times New Roman" panose="02020603050405020304" pitchFamily="18" charset="0"/>
                    <a:cs typeface="Times New Roman" panose="02020603050405020304" pitchFamily="18" charset="0"/>
                  </a:rPr>
                  <a:t> </a:t>
                </a:r>
                <a:r>
                  <a:rPr lang="es-MX" dirty="0">
                    <a:solidFill>
                      <a:schemeClr val="bg1"/>
                    </a:solidFill>
                    <a:latin typeface="Times New Roman" panose="02020603050405020304" pitchFamily="18" charset="0"/>
                    <a:cs typeface="Times New Roman" panose="02020603050405020304" pitchFamily="18" charset="0"/>
                  </a:rPr>
                  <a:t>(denotada por </a:t>
                </a:r>
                <a14:m>
                  <m:oMath xmlns:m="http://schemas.openxmlformats.org/officeDocument/2006/math">
                    <m:sSub>
                      <m:sSubPr>
                        <m:ctrlPr>
                          <a:rPr lang="es-MX" b="1" i="1" smtClean="0">
                            <a:solidFill>
                              <a:srgbClr val="00B050"/>
                            </a:solidFill>
                            <a:latin typeface="Cambria Math" panose="02040503050406030204" pitchFamily="18" charset="0"/>
                          </a:rPr>
                        </m:ctrlPr>
                      </m:sSubPr>
                      <m:e>
                        <m:r>
                          <a:rPr lang="es-MX" b="1" i="1">
                            <a:solidFill>
                              <a:srgbClr val="00B050"/>
                            </a:solidFill>
                            <a:latin typeface="Cambria Math" panose="02040503050406030204" pitchFamily="18" charset="0"/>
                          </a:rPr>
                          <m:t>𝑯</m:t>
                        </m:r>
                      </m:e>
                      <m:sub>
                        <m:r>
                          <a:rPr lang="es-MX" b="1" i="1">
                            <a:solidFill>
                              <a:srgbClr val="00B050"/>
                            </a:solidFill>
                            <a:latin typeface="Cambria Math" panose="02040503050406030204" pitchFamily="18" charset="0"/>
                          </a:rPr>
                          <m:t>𝟎</m:t>
                        </m:r>
                      </m:sub>
                    </m:sSub>
                  </m:oMath>
                </a14:m>
                <a:r>
                  <a:rPr lang="es-MX" dirty="0">
                    <a:solidFill>
                      <a:schemeClr val="bg1"/>
                    </a:solidFill>
                    <a:latin typeface="Times New Roman" panose="02020603050405020304" pitchFamily="18" charset="0"/>
                    <a:cs typeface="Times New Roman" panose="02020603050405020304" pitchFamily="18" charset="0"/>
                  </a:rPr>
                  <a:t>) es la afirmación de que el valor de un parámetro de la población (como una proporción, media o desviación estándar) es igual a un valor aseverado. </a:t>
                </a:r>
              </a:p>
            </p:txBody>
          </p:sp>
        </mc:Choice>
        <mc:Fallback>
          <p:sp>
            <p:nvSpPr>
              <p:cNvPr id="5" name="CuadroTexto 4">
                <a:extLst>
                  <a:ext uri="{FF2B5EF4-FFF2-40B4-BE49-F238E27FC236}">
                    <a16:creationId xmlns:a16="http://schemas.microsoft.com/office/drawing/2014/main" id="{4B77887F-BB86-8BB4-8E75-761FE414B5F2}"/>
                  </a:ext>
                </a:extLst>
              </p:cNvPr>
              <p:cNvSpPr txBox="1">
                <a:spLocks noRot="1" noChangeAspect="1" noMove="1" noResize="1" noEditPoints="1" noAdjustHandles="1" noChangeArrowheads="1" noChangeShapeType="1" noTextEdit="1"/>
              </p:cNvSpPr>
              <p:nvPr/>
            </p:nvSpPr>
            <p:spPr>
              <a:xfrm>
                <a:off x="958921" y="3918749"/>
                <a:ext cx="9332916" cy="646331"/>
              </a:xfrm>
              <a:prstGeom prst="rect">
                <a:avLst/>
              </a:prstGeom>
              <a:blipFill>
                <a:blip r:embed="rId3"/>
                <a:stretch>
                  <a:fillRect l="-326" t="-4630" r="-522" b="-12963"/>
                </a:stretch>
              </a:blipFill>
              <a:ln>
                <a:solidFill>
                  <a:schemeClr val="tx1">
                    <a:lumMod val="85000"/>
                  </a:schemeClr>
                </a:solidFill>
              </a:ln>
            </p:spPr>
            <p:txBody>
              <a:bodyPr/>
              <a:lstStyle/>
              <a:p>
                <a:r>
                  <a:rPr lang="en-US">
                    <a:noFill/>
                  </a:rPr>
                  <a:t> </a:t>
                </a:r>
              </a:p>
            </p:txBody>
          </p:sp>
        </mc:Fallback>
      </mc:AlternateContent>
      <p:pic>
        <p:nvPicPr>
          <p:cNvPr id="7" name="Imagen 6"/>
          <p:cNvPicPr>
            <a:picLocks noChangeAspect="1"/>
          </p:cNvPicPr>
          <p:nvPr/>
        </p:nvPicPr>
        <p:blipFill>
          <a:blip r:embed="rId4"/>
          <a:stretch>
            <a:fillRect/>
          </a:stretch>
        </p:blipFill>
        <p:spPr>
          <a:xfrm>
            <a:off x="1339129" y="5371480"/>
            <a:ext cx="8572500" cy="476250"/>
          </a:xfrm>
          <a:prstGeom prst="rect">
            <a:avLst/>
          </a:prstGeom>
        </p:spPr>
      </p:pic>
      <p:sp>
        <p:nvSpPr>
          <p:cNvPr id="3" name="CuadroTexto 2">
            <a:extLst>
              <a:ext uri="{FF2B5EF4-FFF2-40B4-BE49-F238E27FC236}">
                <a16:creationId xmlns:a16="http://schemas.microsoft.com/office/drawing/2014/main" id="{AE5025B5-716F-74C9-086C-D168724E6C9C}"/>
              </a:ext>
            </a:extLst>
          </p:cNvPr>
          <p:cNvSpPr txBox="1"/>
          <p:nvPr/>
        </p:nvSpPr>
        <p:spPr>
          <a:xfrm>
            <a:off x="958921" y="4783614"/>
            <a:ext cx="9332916" cy="369332"/>
          </a:xfrm>
          <a:prstGeom prst="rect">
            <a:avLst/>
          </a:prstGeom>
          <a:noFill/>
          <a:ln>
            <a:solidFill>
              <a:schemeClr val="tx1">
                <a:lumMod val="85000"/>
              </a:schemeClr>
            </a:solidFill>
          </a:ln>
        </p:spPr>
        <p:txBody>
          <a:bodyPr wrap="square" rtlCol="0">
            <a:spAutoFit/>
          </a:bodyPr>
          <a:lstStyle/>
          <a:p>
            <a:pPr marL="285750" indent="-285750" algn="just">
              <a:buFont typeface="Arial" panose="020B0604020202020204" pitchFamily="34" charset="0"/>
              <a:buChar char="•"/>
            </a:pPr>
            <a:r>
              <a:rPr lang="es-MX" dirty="0">
                <a:solidFill>
                  <a:schemeClr val="bg1"/>
                </a:solidFill>
                <a:latin typeface="Times New Roman" panose="02020603050405020304" pitchFamily="18" charset="0"/>
                <a:cs typeface="Times New Roman" panose="02020603050405020304" pitchFamily="18" charset="0"/>
              </a:rPr>
              <a:t>Por ejemplo, las siguientes son hipótesis nulas:</a:t>
            </a:r>
          </a:p>
        </p:txBody>
      </p:sp>
      <p:sp>
        <p:nvSpPr>
          <p:cNvPr id="6" name="TextBox 5">
            <a:extLst>
              <a:ext uri="{FF2B5EF4-FFF2-40B4-BE49-F238E27FC236}">
                <a16:creationId xmlns:a16="http://schemas.microsoft.com/office/drawing/2014/main" id="{32857282-E528-A880-3AEF-6EBF85A99117}"/>
              </a:ext>
            </a:extLst>
          </p:cNvPr>
          <p:cNvSpPr txBox="1"/>
          <p:nvPr/>
        </p:nvSpPr>
        <p:spPr>
          <a:xfrm>
            <a:off x="1574799" y="6206067"/>
            <a:ext cx="2260600" cy="369332"/>
          </a:xfrm>
          <a:prstGeom prst="rect">
            <a:avLst/>
          </a:prstGeom>
          <a:noFill/>
        </p:spPr>
        <p:txBody>
          <a:bodyPr wrap="square" rtlCol="0">
            <a:spAutoFit/>
          </a:bodyPr>
          <a:lstStyle/>
          <a:p>
            <a:r>
              <a:rPr lang="en-US" dirty="0">
                <a:solidFill>
                  <a:schemeClr val="bg1"/>
                </a:solidFill>
              </a:rPr>
              <a:t>Puede ser &lt;=, </a:t>
            </a:r>
            <a:r>
              <a:rPr lang="en-US" dirty="0" err="1">
                <a:solidFill>
                  <a:schemeClr val="bg1"/>
                </a:solidFill>
              </a:rPr>
              <a:t>etc</a:t>
            </a:r>
            <a:endParaRPr lang="en-US" dirty="0">
              <a:solidFill>
                <a:schemeClr val="bg1"/>
              </a:solidFill>
            </a:endParaRPr>
          </a:p>
        </p:txBody>
      </p:sp>
    </p:spTree>
    <p:extLst>
      <p:ext uri="{BB962C8B-B14F-4D97-AF65-F5344CB8AC3E}">
        <p14:creationId xmlns:p14="http://schemas.microsoft.com/office/powerpoint/2010/main" val="1241354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1000"/>
                                        <p:tgtEl>
                                          <p:spTgt spid="5"/>
                                        </p:tgtEl>
                                      </p:cBhvr>
                                    </p:animEffect>
                                    <p:anim calcmode="lin" valueType="num">
                                      <p:cBhvr>
                                        <p:cTn id="22" dur="1000" fill="hold"/>
                                        <p:tgtEl>
                                          <p:spTgt spid="5"/>
                                        </p:tgtEl>
                                        <p:attrNameLst>
                                          <p:attrName>ppt_x</p:attrName>
                                        </p:attrNameLst>
                                      </p:cBhvr>
                                      <p:tavLst>
                                        <p:tav tm="0">
                                          <p:val>
                                            <p:strVal val="#ppt_x"/>
                                          </p:val>
                                        </p:tav>
                                        <p:tav tm="100000">
                                          <p:val>
                                            <p:strVal val="#ppt_x"/>
                                          </p:val>
                                        </p:tav>
                                      </p:tavLst>
                                    </p:anim>
                                    <p:anim calcmode="lin" valueType="num">
                                      <p:cBhvr>
                                        <p:cTn id="2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fade">
                                      <p:cBhvr>
                                        <p:cTn id="28" dur="500"/>
                                        <p:tgtEl>
                                          <p:spTgt spid="3"/>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nodeType="click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circle(in)">
                                      <p:cBhvr>
                                        <p:cTn id="33"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4" grpId="0" animBg="1"/>
      <p:bldP spid="5" grpId="0" animBg="1"/>
      <p:bldP spid="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rtl="0"/>
            <a:r>
              <a:rPr lang="es-ES" sz="2600" dirty="0">
                <a:latin typeface="Times New Roman" panose="02020603050405020304" pitchFamily="18" charset="0"/>
                <a:cs typeface="Times New Roman" panose="02020603050405020304" pitchFamily="18" charset="0"/>
              </a:rPr>
              <a:t>Componentes de una prueba de hipótesis</a:t>
            </a:r>
          </a:p>
        </p:txBody>
      </p:sp>
      <mc:AlternateContent xmlns:mc="http://schemas.openxmlformats.org/markup-compatibility/2006">
        <mc:Choice xmlns:a14="http://schemas.microsoft.com/office/drawing/2010/main" Requires="a14">
          <p:sp>
            <p:nvSpPr>
              <p:cNvPr id="28" name="CuadroTexto 27">
                <a:extLst>
                  <a:ext uri="{FF2B5EF4-FFF2-40B4-BE49-F238E27FC236}">
                    <a16:creationId xmlns:a16="http://schemas.microsoft.com/office/drawing/2014/main" id="{F494AF8A-D47C-6E15-F0A8-B546B382BBB9}"/>
                  </a:ext>
                </a:extLst>
              </p:cNvPr>
              <p:cNvSpPr txBox="1"/>
              <p:nvPr/>
            </p:nvSpPr>
            <p:spPr>
              <a:xfrm>
                <a:off x="964023" y="2186609"/>
                <a:ext cx="9332916" cy="670440"/>
              </a:xfrm>
              <a:prstGeom prst="rect">
                <a:avLst/>
              </a:prstGeom>
              <a:noFill/>
              <a:ln>
                <a:solidFill>
                  <a:schemeClr val="tx1">
                    <a:lumMod val="85000"/>
                  </a:schemeClr>
                </a:solidFill>
              </a:ln>
            </p:spPr>
            <p:txBody>
              <a:bodyPr wrap="square" rtlCol="0">
                <a:spAutoFit/>
              </a:bodyPr>
              <a:lstStyle/>
              <a:p>
                <a:pPr marL="285750"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La </a:t>
                </a:r>
                <a:r>
                  <a:rPr lang="es-MX"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hipótesis alternativa </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(Denotada por </a:t>
                </a:r>
                <a14:m>
                  <m:oMath xmlns:m="http://schemas.openxmlformats.org/officeDocument/2006/math">
                    <m:sSub>
                      <m:sSubPr>
                        <m:ctrlPr>
                          <a:rPr lang="es-MX" b="1" i="1" smtClean="0">
                            <a:solidFill>
                              <a:srgbClr val="FF0000"/>
                            </a:solidFill>
                            <a:latin typeface="Cambria Math" panose="02040503050406030204" pitchFamily="18" charset="0"/>
                            <a:ea typeface="Calibri" panose="020F0502020204030204" pitchFamily="34" charset="0"/>
                            <a:cs typeface="Times New Roman" panose="02020603050405020304" pitchFamily="18" charset="0"/>
                          </a:rPr>
                        </m:ctrlPr>
                      </m:sSubPr>
                      <m:e>
                        <m:r>
                          <a:rPr lang="es-MX" b="1" i="1">
                            <a:solidFill>
                              <a:srgbClr val="FF0000"/>
                            </a:solidFill>
                            <a:latin typeface="Cambria Math" panose="02040503050406030204" pitchFamily="18" charset="0"/>
                            <a:ea typeface="Calibri" panose="020F0502020204030204" pitchFamily="34" charset="0"/>
                            <a:cs typeface="Times New Roman" panose="02020603050405020304" pitchFamily="18" charset="0"/>
                          </a:rPr>
                          <m:t>𝑯</m:t>
                        </m:r>
                      </m:e>
                      <m:sub>
                        <m:r>
                          <a:rPr lang="es-MX" b="1" i="1">
                            <a:solidFill>
                              <a:srgbClr val="FF0000"/>
                            </a:solidFill>
                            <a:latin typeface="Cambria Math" panose="02040503050406030204" pitchFamily="18" charset="0"/>
                            <a:ea typeface="Calibri" panose="020F0502020204030204" pitchFamily="34" charset="0"/>
                            <a:cs typeface="Times New Roman" panose="02020603050405020304" pitchFamily="18" charset="0"/>
                          </a:rPr>
                          <m:t>𝟏</m:t>
                        </m:r>
                      </m:sub>
                    </m:sSub>
                    <m:r>
                      <a:rPr lang="es-MX" b="1" i="1">
                        <a:solidFill>
                          <a:srgbClr val="FF0000"/>
                        </a:solidFill>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s-MX" b="1" i="1">
                            <a:solidFill>
                              <a:srgbClr val="FF0000"/>
                            </a:solidFill>
                            <a:latin typeface="Cambria Math" panose="02040503050406030204" pitchFamily="18" charset="0"/>
                            <a:ea typeface="Calibri" panose="020F0502020204030204" pitchFamily="34" charset="0"/>
                            <a:cs typeface="Times New Roman" panose="02020603050405020304" pitchFamily="18" charset="0"/>
                          </a:rPr>
                        </m:ctrlPr>
                      </m:sSubPr>
                      <m:e>
                        <m:r>
                          <a:rPr lang="es-MX" b="1" i="1">
                            <a:solidFill>
                              <a:srgbClr val="FF0000"/>
                            </a:solidFill>
                            <a:latin typeface="Cambria Math" panose="02040503050406030204" pitchFamily="18" charset="0"/>
                            <a:ea typeface="Calibri" panose="020F0502020204030204" pitchFamily="34" charset="0"/>
                            <a:cs typeface="Times New Roman" panose="02020603050405020304" pitchFamily="18" charset="0"/>
                          </a:rPr>
                          <m:t>𝑯</m:t>
                        </m:r>
                      </m:e>
                      <m:sub>
                        <m:r>
                          <a:rPr lang="es-MX" b="1" i="1">
                            <a:solidFill>
                              <a:srgbClr val="FF0000"/>
                            </a:solidFill>
                            <a:latin typeface="Cambria Math" panose="02040503050406030204" pitchFamily="18" charset="0"/>
                            <a:ea typeface="Calibri" panose="020F0502020204030204" pitchFamily="34" charset="0"/>
                            <a:cs typeface="Times New Roman" panose="02020603050405020304" pitchFamily="18" charset="0"/>
                          </a:rPr>
                          <m:t>𝒂</m:t>
                        </m:r>
                      </m:sub>
                    </m:sSub>
                    <m:r>
                      <a:rPr lang="es-MX" b="1" i="1">
                        <a:solidFill>
                          <a:srgbClr val="FF0000"/>
                        </a:solidFill>
                        <a:latin typeface="Cambria Math" panose="02040503050406030204" pitchFamily="18" charset="0"/>
                        <a:ea typeface="Calibri" panose="020F0502020204030204" pitchFamily="34" charset="0"/>
                        <a:cs typeface="Times New Roman" panose="02020603050405020304" pitchFamily="18" charset="0"/>
                      </a:rPr>
                      <m:t>, </m:t>
                    </m:r>
                    <m:sSub>
                      <m:sSubPr>
                        <m:ctrlPr>
                          <a:rPr lang="es-MX" b="1" i="1">
                            <a:solidFill>
                              <a:srgbClr val="FF0000"/>
                            </a:solidFill>
                            <a:latin typeface="Cambria Math" panose="02040503050406030204" pitchFamily="18" charset="0"/>
                            <a:ea typeface="Calibri" panose="020F0502020204030204" pitchFamily="34" charset="0"/>
                            <a:cs typeface="Times New Roman" panose="02020603050405020304" pitchFamily="18" charset="0"/>
                          </a:rPr>
                        </m:ctrlPr>
                      </m:sSubPr>
                      <m:e>
                        <m:r>
                          <a:rPr lang="es-MX" b="1" i="1">
                            <a:solidFill>
                              <a:srgbClr val="FF0000"/>
                            </a:solidFill>
                            <a:latin typeface="Cambria Math" panose="02040503050406030204" pitchFamily="18" charset="0"/>
                            <a:ea typeface="Calibri" panose="020F0502020204030204" pitchFamily="34" charset="0"/>
                            <a:cs typeface="Times New Roman" panose="02020603050405020304" pitchFamily="18" charset="0"/>
                          </a:rPr>
                          <m:t>𝑯</m:t>
                        </m:r>
                      </m:e>
                      <m:sub>
                        <m:r>
                          <a:rPr lang="es-MX" b="1" i="1">
                            <a:solidFill>
                              <a:srgbClr val="FF0000"/>
                            </a:solidFill>
                            <a:latin typeface="Cambria Math" panose="02040503050406030204" pitchFamily="18" charset="0"/>
                            <a:ea typeface="Calibri" panose="020F0502020204030204" pitchFamily="34" charset="0"/>
                            <a:cs typeface="Times New Roman" panose="02020603050405020304" pitchFamily="18" charset="0"/>
                          </a:rPr>
                          <m:t>𝑨</m:t>
                        </m:r>
                      </m:sub>
                    </m:sSub>
                  </m:oMath>
                </a14:m>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es la afirmación de que el parámetro tiene un valor que, de alguna manera, </a:t>
                </a:r>
                <a:r>
                  <a:rPr lang="es-MX" u="sng"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difiere</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de la hipótesis nula.</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p:sp>
            <p:nvSpPr>
              <p:cNvPr id="28" name="CuadroTexto 27">
                <a:extLst>
                  <a:ext uri="{FF2B5EF4-FFF2-40B4-BE49-F238E27FC236}">
                    <a16:creationId xmlns:a16="http://schemas.microsoft.com/office/drawing/2014/main" id="{F494AF8A-D47C-6E15-F0A8-B546B382BBB9}"/>
                  </a:ext>
                </a:extLst>
              </p:cNvPr>
              <p:cNvSpPr txBox="1">
                <a:spLocks noRot="1" noChangeAspect="1" noMove="1" noResize="1" noEditPoints="1" noAdjustHandles="1" noChangeArrowheads="1" noChangeShapeType="1" noTextEdit="1"/>
              </p:cNvSpPr>
              <p:nvPr/>
            </p:nvSpPr>
            <p:spPr>
              <a:xfrm>
                <a:off x="964023" y="2186609"/>
                <a:ext cx="9332916" cy="670440"/>
              </a:xfrm>
              <a:prstGeom prst="rect">
                <a:avLst/>
              </a:prstGeom>
              <a:blipFill>
                <a:blip r:embed="rId3"/>
                <a:stretch>
                  <a:fillRect l="-326" t="-4464" r="-522" b="-11607"/>
                </a:stretch>
              </a:blipFill>
              <a:ln>
                <a:solidFill>
                  <a:schemeClr val="tx1">
                    <a:lumMod val="85000"/>
                  </a:schemeClr>
                </a:solidFill>
              </a:ln>
            </p:spPr>
            <p:txBody>
              <a:bodyPr/>
              <a:lstStyle/>
              <a:p>
                <a:r>
                  <a:rPr lang="en-US">
                    <a:noFill/>
                  </a:rPr>
                  <a:t> </a:t>
                </a:r>
              </a:p>
            </p:txBody>
          </p:sp>
        </mc:Fallback>
      </mc:AlternateContent>
      <p:pic>
        <p:nvPicPr>
          <p:cNvPr id="3" name="Imagen 2"/>
          <p:cNvPicPr>
            <a:picLocks noChangeAspect="1"/>
          </p:cNvPicPr>
          <p:nvPr/>
        </p:nvPicPr>
        <p:blipFill>
          <a:blip r:embed="rId4"/>
          <a:stretch>
            <a:fillRect/>
          </a:stretch>
        </p:blipFill>
        <p:spPr>
          <a:xfrm>
            <a:off x="2096705" y="3222375"/>
            <a:ext cx="7067550" cy="1095375"/>
          </a:xfrm>
          <a:prstGeom prst="rect">
            <a:avLst/>
          </a:prstGeom>
        </p:spPr>
      </p:pic>
      <p:sp>
        <p:nvSpPr>
          <p:cNvPr id="9" name="CuadroTexto 8">
            <a:extLst>
              <a:ext uri="{FF2B5EF4-FFF2-40B4-BE49-F238E27FC236}">
                <a16:creationId xmlns:a16="http://schemas.microsoft.com/office/drawing/2014/main" id="{F494AF8A-D47C-6E15-F0A8-B546B382BBB9}"/>
              </a:ext>
            </a:extLst>
          </p:cNvPr>
          <p:cNvSpPr txBox="1"/>
          <p:nvPr/>
        </p:nvSpPr>
        <p:spPr>
          <a:xfrm>
            <a:off x="964022" y="4683076"/>
            <a:ext cx="9332916" cy="670440"/>
          </a:xfrm>
          <a:prstGeom prst="rect">
            <a:avLst/>
          </a:prstGeom>
          <a:noFill/>
          <a:ln>
            <a:solidFill>
              <a:schemeClr val="tx1">
                <a:lumMod val="85000"/>
              </a:schemeClr>
            </a:solidFill>
          </a:ln>
        </p:spPr>
        <p:txBody>
          <a:bodyPr wrap="square" rtlCol="0">
            <a:spAutoFit/>
          </a:bodyPr>
          <a:lstStyle/>
          <a:p>
            <a:pPr marL="285750" indent="-285750" algn="just">
              <a:lnSpc>
                <a:spcPct val="107000"/>
              </a:lnSpc>
              <a:spcAft>
                <a:spcPts val="800"/>
              </a:spcAft>
              <a:buFont typeface="Arial" panose="020B0604020202020204" pitchFamily="34" charset="0"/>
              <a:buChar char="•"/>
            </a:pPr>
            <a:r>
              <a:rPr lang="es-MX" b="1" i="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Nota: </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Algunos libros de texto utilizan los símbolos ≤ y ≥ en la hipótesis nula, pero la mayoría de las revistas científicas sólo emplean el símbolo de igual para expresar igualdad. </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037715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circle(in)">
                                      <p:cBhvr>
                                        <p:cTn id="14" dur="20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000"/>
                                        <p:tgtEl>
                                          <p:spTgt spid="9"/>
                                        </p:tgtEl>
                                      </p:cBhvr>
                                    </p:animEffect>
                                    <p:anim calcmode="lin" valueType="num">
                                      <p:cBhvr>
                                        <p:cTn id="20" dur="1000" fill="hold"/>
                                        <p:tgtEl>
                                          <p:spTgt spid="9"/>
                                        </p:tgtEl>
                                        <p:attrNameLst>
                                          <p:attrName>ppt_x</p:attrName>
                                        </p:attrNameLst>
                                      </p:cBhvr>
                                      <p:tavLst>
                                        <p:tav tm="0">
                                          <p:val>
                                            <p:strVal val="#ppt_x"/>
                                          </p:val>
                                        </p:tav>
                                        <p:tav tm="100000">
                                          <p:val>
                                            <p:strVal val="#ppt_x"/>
                                          </p:val>
                                        </p:tav>
                                      </p:tavLst>
                                    </p:anim>
                                    <p:anim calcmode="lin" valueType="num">
                                      <p:cBhvr>
                                        <p:cTn id="21"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29522ABB-A337-2E50-0BF7-077192428DCE}"/>
              </a:ext>
            </a:extLst>
          </p:cNvPr>
          <p:cNvPicPr>
            <a:picLocks noChangeAspect="1"/>
          </p:cNvPicPr>
          <p:nvPr/>
        </p:nvPicPr>
        <p:blipFill>
          <a:blip r:embed="rId2"/>
          <a:stretch>
            <a:fillRect/>
          </a:stretch>
        </p:blipFill>
        <p:spPr>
          <a:xfrm>
            <a:off x="4448079" y="0"/>
            <a:ext cx="2940242" cy="6858000"/>
          </a:xfrm>
          <a:prstGeom prst="rect">
            <a:avLst/>
          </a:prstGeom>
        </p:spPr>
      </p:pic>
    </p:spTree>
    <p:extLst>
      <p:ext uri="{BB962C8B-B14F-4D97-AF65-F5344CB8AC3E}">
        <p14:creationId xmlns:p14="http://schemas.microsoft.com/office/powerpoint/2010/main" val="10463125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rtl="0"/>
            <a:r>
              <a:rPr lang="es-ES" sz="2600" dirty="0">
                <a:latin typeface="Times New Roman" panose="02020603050405020304" pitchFamily="18" charset="0"/>
                <a:cs typeface="Times New Roman" panose="02020603050405020304" pitchFamily="18" charset="0"/>
              </a:rPr>
              <a:t>¿Cómo plantear un juego de hipótesis?</a:t>
            </a:r>
          </a:p>
        </p:txBody>
      </p:sp>
      <mc:AlternateContent xmlns:mc="http://schemas.openxmlformats.org/markup-compatibility/2006">
        <mc:Choice xmlns:a14="http://schemas.microsoft.com/office/drawing/2010/main" Requires="a14">
          <p:sp>
            <p:nvSpPr>
              <p:cNvPr id="11" name="CuadroTexto 10">
                <a:extLst>
                  <a:ext uri="{FF2B5EF4-FFF2-40B4-BE49-F238E27FC236}">
                    <a16:creationId xmlns:a16="http://schemas.microsoft.com/office/drawing/2014/main" id="{F494AF8A-D47C-6E15-F0A8-B546B382BBB9}"/>
                  </a:ext>
                </a:extLst>
              </p:cNvPr>
              <p:cNvSpPr txBox="1"/>
              <p:nvPr/>
            </p:nvSpPr>
            <p:spPr>
              <a:xfrm>
                <a:off x="964022" y="2277572"/>
                <a:ext cx="9332916" cy="1559529"/>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En un estudio para plantear el juego de hipótesis y así sustentar la aseveración (</a:t>
                </a:r>
                <a:r>
                  <a:rPr lang="es-MX"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la del investigador</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a:t>
                </a:r>
                <a:r>
                  <a:rPr lang="es-MX"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ésta debe redactarse de tal manera que se convierta en la hipótesis alternativa</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Esto quiere decir que su aseveración debe expresar utilizando sólo los símbolos de </a:t>
                </a:r>
                <a14:m>
                  <m:oMath xmlns:m="http://schemas.openxmlformats.org/officeDocument/2006/math">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&lt;, &gt;</m:t>
                    </m:r>
                  </m:oMath>
                </a14:m>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y </a:t>
                </a:r>
                <a14:m>
                  <m:oMath xmlns:m="http://schemas.openxmlformats.org/officeDocument/2006/math">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m:t>
                    </m:r>
                  </m:oMath>
                </a14:m>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Muy rara vez se puede utilizar una prueba de hipótesis para sustentar la aseveración de que algún parámetro es igual ‘=‘ a algún valor específico.</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p:sp>
            <p:nvSpPr>
              <p:cNvPr id="11" name="CuadroTexto 10">
                <a:extLst>
                  <a:ext uri="{FF2B5EF4-FFF2-40B4-BE49-F238E27FC236}">
                    <a16:creationId xmlns:a16="http://schemas.microsoft.com/office/drawing/2014/main" id="{F494AF8A-D47C-6E15-F0A8-B546B382BBB9}"/>
                  </a:ext>
                </a:extLst>
              </p:cNvPr>
              <p:cNvSpPr txBox="1">
                <a:spLocks noRot="1" noChangeAspect="1" noMove="1" noResize="1" noEditPoints="1" noAdjustHandles="1" noChangeArrowheads="1" noChangeShapeType="1" noTextEdit="1"/>
              </p:cNvSpPr>
              <p:nvPr/>
            </p:nvSpPr>
            <p:spPr>
              <a:xfrm>
                <a:off x="964022" y="2277572"/>
                <a:ext cx="9332916" cy="1559529"/>
              </a:xfrm>
              <a:prstGeom prst="rect">
                <a:avLst/>
              </a:prstGeom>
              <a:blipFill>
                <a:blip r:embed="rId3"/>
                <a:stretch>
                  <a:fillRect l="-457" t="-1946" r="-522" b="-5058"/>
                </a:stretch>
              </a:blipFill>
              <a:ln>
                <a:solidFill>
                  <a:schemeClr val="tx1">
                    <a:lumMod val="85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F494AF8A-D47C-6E15-F0A8-B546B382BBB9}"/>
                  </a:ext>
                </a:extLst>
              </p:cNvPr>
              <p:cNvSpPr txBox="1"/>
              <p:nvPr/>
            </p:nvSpPr>
            <p:spPr>
              <a:xfrm>
                <a:off x="964022" y="4023640"/>
                <a:ext cx="9332916" cy="1263166"/>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b="1" i="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Por ejemplo: </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Si se ha creado un método de selección de género, que aumenta la probabilidad de concebir una niña, se debe redactar la aseveración como </a:t>
                </a:r>
                <a14:m>
                  <m:oMath xmlns:m="http://schemas.openxmlformats.org/officeDocument/2006/math">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𝑝</m:t>
                    </m:r>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&gt;0.5</m:t>
                    </m:r>
                  </m:oMath>
                </a14:m>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(el método es efectivo), para que ésta pueda ser sustentada. Para el propósito de la prueba, usted supondrá que </a:t>
                </a:r>
                <a14:m>
                  <m:oMath xmlns:m="http://schemas.openxmlformats.org/officeDocument/2006/math">
                    <m:sSub>
                      <m:sSubPr>
                        <m:ctrlP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𝐻</m:t>
                        </m:r>
                      </m:e>
                      <m:sub>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0</m:t>
                        </m:r>
                      </m:sub>
                    </m:sSub>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m:t>
                    </m:r>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𝑝</m:t>
                    </m:r>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=0.5</m:t>
                    </m:r>
                  </m:oMath>
                </a14:m>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pero se esperaría que </a:t>
                </a:r>
                <a14:m>
                  <m:oMath xmlns:m="http://schemas.openxmlformats.org/officeDocument/2006/math">
                    <m:sSub>
                      <m:sSubPr>
                        <m:ctrlP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𝐻</m:t>
                        </m:r>
                      </m:e>
                      <m:sub>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0</m:t>
                        </m:r>
                      </m:sub>
                    </m:sSub>
                  </m:oMath>
                </a14:m>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sea rechazada para que </a:t>
                </a:r>
                <a14:m>
                  <m:oMath xmlns:m="http://schemas.openxmlformats.org/officeDocument/2006/math">
                    <m:sSub>
                      <m:sSubPr>
                        <m:ctrlP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𝐻</m:t>
                        </m:r>
                      </m:e>
                      <m:sub>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1</m:t>
                        </m:r>
                      </m:sub>
                    </m:sSub>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m:t>
                    </m:r>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𝑝</m:t>
                    </m:r>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&gt;0.5</m:t>
                    </m:r>
                  </m:oMath>
                </a14:m>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se sustente.</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2" name="CuadroTexto 11">
                <a:extLst>
                  <a:ext uri="{FF2B5EF4-FFF2-40B4-BE49-F238E27FC236}">
                    <a16:creationId xmlns:a16="http://schemas.microsoft.com/office/drawing/2014/main" id="{F494AF8A-D47C-6E15-F0A8-B546B382BBB9}"/>
                  </a:ext>
                </a:extLst>
              </p:cNvPr>
              <p:cNvSpPr txBox="1">
                <a:spLocks noRot="1" noChangeAspect="1" noMove="1" noResize="1" noEditPoints="1" noAdjustHandles="1" noChangeArrowheads="1" noChangeShapeType="1" noTextEdit="1"/>
              </p:cNvSpPr>
              <p:nvPr/>
            </p:nvSpPr>
            <p:spPr>
              <a:xfrm>
                <a:off x="964022" y="4023640"/>
                <a:ext cx="9332916" cy="1263166"/>
              </a:xfrm>
              <a:prstGeom prst="rect">
                <a:avLst/>
              </a:prstGeom>
              <a:blipFill>
                <a:blip r:embed="rId4"/>
                <a:stretch>
                  <a:fillRect l="-457" t="-1914" r="-522" b="-6220"/>
                </a:stretch>
              </a:blipFill>
              <a:ln>
                <a:solidFill>
                  <a:schemeClr val="tx1">
                    <a:lumMod val="85000"/>
                  </a:schemeClr>
                </a:solidFill>
              </a:ln>
            </p:spPr>
            <p:txBody>
              <a:bodyPr/>
              <a:lstStyle/>
              <a:p>
                <a:r>
                  <a:rPr lang="es-MX">
                    <a:noFill/>
                  </a:rPr>
                  <a:t> </a:t>
                </a:r>
              </a:p>
            </p:txBody>
          </p:sp>
        </mc:Fallback>
      </mc:AlternateContent>
      <p:cxnSp>
        <p:nvCxnSpPr>
          <p:cNvPr id="4" name="Conector recto de flecha 3">
            <a:extLst>
              <a:ext uri="{FF2B5EF4-FFF2-40B4-BE49-F238E27FC236}">
                <a16:creationId xmlns:a16="http://schemas.microsoft.com/office/drawing/2014/main" id="{BDA60001-75C6-7B58-7300-0A5CB0A5BF93}"/>
              </a:ext>
            </a:extLst>
          </p:cNvPr>
          <p:cNvCxnSpPr>
            <a:cxnSpLocks/>
          </p:cNvCxnSpPr>
          <p:nvPr/>
        </p:nvCxnSpPr>
        <p:spPr>
          <a:xfrm>
            <a:off x="8871044" y="4963101"/>
            <a:ext cx="0" cy="89383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D387348F-FCA0-62CB-DF47-99B7055F7AEE}"/>
                  </a:ext>
                </a:extLst>
              </p:cNvPr>
              <p:cNvSpPr txBox="1"/>
              <p:nvPr/>
            </p:nvSpPr>
            <p:spPr>
              <a:xfrm>
                <a:off x="8191499" y="5856935"/>
                <a:ext cx="135909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MX" i="1" smtClean="0">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𝐻</m:t>
                          </m:r>
                        </m:e>
                        <m:sub>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0</m:t>
                          </m:r>
                        </m:sub>
                      </m:sSub>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m:t>
                      </m:r>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𝑝</m:t>
                      </m:r>
                      <m:r>
                        <a:rPr lang="es-MX"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0.5</m:t>
                      </m:r>
                    </m:oMath>
                  </m:oMathPara>
                </a14:m>
                <a:endParaRPr lang="es-MX" dirty="0"/>
              </a:p>
            </p:txBody>
          </p:sp>
        </mc:Choice>
        <mc:Fallback xmlns="">
          <p:sp>
            <p:nvSpPr>
              <p:cNvPr id="6" name="CuadroTexto 5">
                <a:extLst>
                  <a:ext uri="{FF2B5EF4-FFF2-40B4-BE49-F238E27FC236}">
                    <a16:creationId xmlns:a16="http://schemas.microsoft.com/office/drawing/2014/main" id="{D387348F-FCA0-62CB-DF47-99B7055F7AEE}"/>
                  </a:ext>
                </a:extLst>
              </p:cNvPr>
              <p:cNvSpPr txBox="1">
                <a:spLocks noRot="1" noChangeAspect="1" noMove="1" noResize="1" noEditPoints="1" noAdjustHandles="1" noChangeArrowheads="1" noChangeShapeType="1" noTextEdit="1"/>
              </p:cNvSpPr>
              <p:nvPr/>
            </p:nvSpPr>
            <p:spPr>
              <a:xfrm>
                <a:off x="8191499" y="5856935"/>
                <a:ext cx="1359090" cy="369332"/>
              </a:xfrm>
              <a:prstGeom prst="rect">
                <a:avLst/>
              </a:prstGeom>
              <a:blipFill>
                <a:blip r:embed="rId5"/>
                <a:stretch>
                  <a:fillRect b="-8333"/>
                </a:stretch>
              </a:blipFill>
            </p:spPr>
            <p:txBody>
              <a:bodyPr/>
              <a:lstStyle/>
              <a:p>
                <a:r>
                  <a:rPr lang="es-MX">
                    <a:noFill/>
                  </a:rPr>
                  <a:t> </a:t>
                </a:r>
              </a:p>
            </p:txBody>
          </p:sp>
        </mc:Fallback>
      </mc:AlternateContent>
      <p:sp>
        <p:nvSpPr>
          <p:cNvPr id="8" name="CuadroTexto 7">
            <a:extLst>
              <a:ext uri="{FF2B5EF4-FFF2-40B4-BE49-F238E27FC236}">
                <a16:creationId xmlns:a16="http://schemas.microsoft.com/office/drawing/2014/main" id="{7C10A65E-35CB-3522-183C-418A34BEA3F3}"/>
              </a:ext>
            </a:extLst>
          </p:cNvPr>
          <p:cNvSpPr txBox="1"/>
          <p:nvPr/>
        </p:nvSpPr>
        <p:spPr>
          <a:xfrm>
            <a:off x="5472754" y="5387204"/>
            <a:ext cx="3261813"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s-MX" dirty="0">
                <a:solidFill>
                  <a:schemeClr val="bg1"/>
                </a:solidFill>
                <a:latin typeface="Times New Roman" panose="02020603050405020304" pitchFamily="18" charset="0"/>
                <a:cs typeface="Times New Roman" panose="02020603050405020304" pitchFamily="18" charset="0"/>
              </a:rPr>
              <a:t>También se puede redactar como:</a:t>
            </a:r>
          </a:p>
        </p:txBody>
      </p:sp>
    </p:spTree>
    <p:extLst>
      <p:ext uri="{BB962C8B-B14F-4D97-AF65-F5344CB8AC3E}">
        <p14:creationId xmlns:p14="http://schemas.microsoft.com/office/powerpoint/2010/main" val="128151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1000"/>
                                        <p:tgtEl>
                                          <p:spTgt spid="12"/>
                                        </p:tgtEl>
                                      </p:cBhvr>
                                    </p:animEffect>
                                    <p:anim calcmode="lin" valueType="num">
                                      <p:cBhvr>
                                        <p:cTn id="15" dur="1000" fill="hold"/>
                                        <p:tgtEl>
                                          <p:spTgt spid="12"/>
                                        </p:tgtEl>
                                        <p:attrNameLst>
                                          <p:attrName>ppt_x</p:attrName>
                                        </p:attrNameLst>
                                      </p:cBhvr>
                                      <p:tavLst>
                                        <p:tav tm="0">
                                          <p:val>
                                            <p:strVal val="#ppt_x"/>
                                          </p:val>
                                        </p:tav>
                                        <p:tav tm="100000">
                                          <p:val>
                                            <p:strVal val="#ppt_x"/>
                                          </p:val>
                                        </p:tav>
                                      </p:tavLst>
                                    </p:anim>
                                    <p:anim calcmode="lin" valueType="num">
                                      <p:cBhvr>
                                        <p:cTn id="1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wipe(down)">
                                      <p:cBhvr>
                                        <p:cTn id="21" dur="500"/>
                                        <p:tgtEl>
                                          <p:spTgt spid="4"/>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wipe(down)">
                                      <p:cBhvr>
                                        <p:cTn id="24" dur="500"/>
                                        <p:tgtEl>
                                          <p:spTgt spid="8"/>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down)">
                                      <p:cBhvr>
                                        <p:cTn id="2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6" grpId="0"/>
      <p:bldP spid="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nSpc>
                    <a:spcPct val="107000"/>
                  </a:lnSpc>
                  <a:spcAft>
                    <a:spcPts val="800"/>
                  </a:spcAft>
                </a:pPr>
                <a:r>
                  <a:rPr lang="es-MX" sz="2800" dirty="0">
                    <a:latin typeface="Times New Roman" panose="02020603050405020304" pitchFamily="18" charset="0"/>
                    <a:ea typeface="Times New Roman" panose="02020603050405020304" pitchFamily="18" charset="0"/>
                    <a:cs typeface="Times New Roman" panose="02020603050405020304" pitchFamily="18" charset="0"/>
                  </a:rPr>
                  <a:t>¿Cómo identificar </a:t>
                </a:r>
                <a14:m>
                  <m:oMath xmlns:m="http://schemas.openxmlformats.org/officeDocument/2006/math">
                    <m:sSub>
                      <m:sSubPr>
                        <m:ctrlPr>
                          <a:rPr lang="es-MX" sz="2800" i="1">
                            <a:latin typeface="Cambria Math" panose="02040503050406030204" pitchFamily="18" charset="0"/>
                            <a:ea typeface="Times New Roman" panose="02020603050405020304" pitchFamily="18" charset="0"/>
                            <a:cs typeface="Times New Roman" panose="02020603050405020304" pitchFamily="18" charset="0"/>
                          </a:rPr>
                        </m:ctrlPr>
                      </m:sSubPr>
                      <m:e>
                        <m:r>
                          <a:rPr lang="es-MX" sz="2800" i="1">
                            <a:latin typeface="Cambria Math" panose="02040503050406030204" pitchFamily="18" charset="0"/>
                            <a:ea typeface="Times New Roman" panose="02020603050405020304" pitchFamily="18" charset="0"/>
                            <a:cs typeface="Times New Roman" panose="02020603050405020304" pitchFamily="18" charset="0"/>
                          </a:rPr>
                          <m:t>𝑯</m:t>
                        </m:r>
                      </m:e>
                      <m:sub>
                        <m:r>
                          <a:rPr lang="es-MX" sz="2800" i="1">
                            <a:latin typeface="Cambria Math" panose="02040503050406030204" pitchFamily="18" charset="0"/>
                            <a:ea typeface="Times New Roman" panose="02020603050405020304" pitchFamily="18" charset="0"/>
                            <a:cs typeface="Times New Roman" panose="02020603050405020304" pitchFamily="18" charset="0"/>
                          </a:rPr>
                          <m:t>𝟎</m:t>
                        </m:r>
                      </m:sub>
                    </m:sSub>
                  </m:oMath>
                </a14:m>
                <a:r>
                  <a:rPr lang="es-MX" sz="2800" dirty="0">
                    <a:latin typeface="Times New Roman" panose="02020603050405020304" pitchFamily="18" charset="0"/>
                    <a:ea typeface="Times New Roman" panose="02020603050405020304" pitchFamily="18" charset="0"/>
                    <a:cs typeface="Times New Roman" panose="02020603050405020304" pitchFamily="18" charset="0"/>
                  </a:rPr>
                  <a:t> y </a:t>
                </a:r>
                <a14:m>
                  <m:oMath xmlns:m="http://schemas.openxmlformats.org/officeDocument/2006/math">
                    <m:sSub>
                      <m:sSubPr>
                        <m:ctrlPr>
                          <a:rPr lang="es-MX" sz="2800" i="1">
                            <a:latin typeface="Cambria Math" panose="02040503050406030204" pitchFamily="18" charset="0"/>
                            <a:ea typeface="Times New Roman" panose="02020603050405020304" pitchFamily="18" charset="0"/>
                            <a:cs typeface="Times New Roman" panose="02020603050405020304" pitchFamily="18" charset="0"/>
                          </a:rPr>
                        </m:ctrlPr>
                      </m:sSubPr>
                      <m:e>
                        <m:r>
                          <a:rPr lang="es-MX" sz="2800" i="1">
                            <a:latin typeface="Cambria Math" panose="02040503050406030204" pitchFamily="18" charset="0"/>
                            <a:ea typeface="Times New Roman" panose="02020603050405020304" pitchFamily="18" charset="0"/>
                            <a:cs typeface="Times New Roman" panose="02020603050405020304" pitchFamily="18" charset="0"/>
                          </a:rPr>
                          <m:t>𝑯</m:t>
                        </m:r>
                      </m:e>
                      <m:sub>
                        <m:r>
                          <a:rPr lang="es-MX" sz="2800" i="1">
                            <a:latin typeface="Cambria Math" panose="02040503050406030204" pitchFamily="18" charset="0"/>
                            <a:ea typeface="Times New Roman" panose="02020603050405020304" pitchFamily="18" charset="0"/>
                            <a:cs typeface="Times New Roman" panose="02020603050405020304" pitchFamily="18" charset="0"/>
                          </a:rPr>
                          <m:t>𝟏</m:t>
                        </m:r>
                      </m:sub>
                    </m:sSub>
                  </m:oMath>
                </a14:m>
                <a:r>
                  <a:rPr lang="es-MX" sz="2800" dirty="0">
                    <a:latin typeface="Times New Roman" panose="02020603050405020304" pitchFamily="18" charset="0"/>
                    <a:ea typeface="Times New Roman" panose="02020603050405020304" pitchFamily="18" charset="0"/>
                    <a:cs typeface="Times New Roman" panose="02020603050405020304" pitchFamily="18" charset="0"/>
                  </a:rPr>
                  <a:t>?</a:t>
                </a:r>
                <a:endParaRPr lang="es-MX" sz="2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p:sp>
            <p:nvSpPr>
              <p:cNvPr id="2" name="Título 1">
                <a:extLst>
                  <a:ext uri="{FF2B5EF4-FFF2-40B4-BE49-F238E27FC236}">
                    <a16:creationId xmlns:a16="http://schemas.microsoft.com/office/drawing/2014/main" id="{8C122DF8-59D4-D94D-8ED9-F2F319899DBF}"/>
                  </a:ext>
                </a:extLst>
              </p:cNvPr>
              <p:cNvSpPr>
                <a:spLocks noGrp="1" noRot="1" noChangeAspect="1" noMove="1" noResize="1" noEditPoints="1" noAdjustHandles="1" noChangeArrowheads="1" noChangeShapeType="1" noTextEdit="1"/>
              </p:cNvSpPr>
              <p:nvPr>
                <p:ph type="title"/>
              </p:nvPr>
            </p:nvSpPr>
            <p:spPr>
              <a:xfrm>
                <a:off x="964022" y="879063"/>
                <a:ext cx="8276908" cy="610863"/>
              </a:xfrm>
              <a:blipFill>
                <a:blip r:embed="rId3"/>
                <a:stretch>
                  <a:fillRect l="-2577" b="-35000"/>
                </a:stretch>
              </a:blipFill>
            </p:spPr>
            <p:txBody>
              <a:bodyPr/>
              <a:lstStyle/>
              <a:p>
                <a:r>
                  <a:rPr lang="en-US">
                    <a:noFill/>
                  </a:rPr>
                  <a:t> </a:t>
                </a:r>
              </a:p>
            </p:txBody>
          </p:sp>
        </mc:Fallback>
      </mc:AlternateContent>
      <p:pic>
        <p:nvPicPr>
          <p:cNvPr id="5" name="Imagen 4"/>
          <p:cNvPicPr>
            <a:picLocks noChangeAspect="1"/>
          </p:cNvPicPr>
          <p:nvPr/>
        </p:nvPicPr>
        <p:blipFill>
          <a:blip r:embed="rId4"/>
          <a:srcRect r="49412"/>
          <a:stretch/>
        </p:blipFill>
        <p:spPr>
          <a:xfrm>
            <a:off x="2201163" y="1795331"/>
            <a:ext cx="3806606" cy="4533900"/>
          </a:xfrm>
          <a:prstGeom prst="rect">
            <a:avLst/>
          </a:prstGeom>
        </p:spPr>
      </p:pic>
      <p:sp>
        <p:nvSpPr>
          <p:cNvPr id="3" name="CuadroTexto 2">
            <a:extLst>
              <a:ext uri="{FF2B5EF4-FFF2-40B4-BE49-F238E27FC236}">
                <a16:creationId xmlns:a16="http://schemas.microsoft.com/office/drawing/2014/main" id="{77A24E07-E186-03AB-D44A-C234FCCE6CF7}"/>
              </a:ext>
            </a:extLst>
          </p:cNvPr>
          <p:cNvSpPr txBox="1"/>
          <p:nvPr/>
        </p:nvSpPr>
        <p:spPr>
          <a:xfrm>
            <a:off x="6517721" y="1417254"/>
            <a:ext cx="3473116" cy="830997"/>
          </a:xfrm>
          <a:prstGeom prst="rect">
            <a:avLst/>
          </a:prstGeom>
          <a:noFill/>
          <a:ln w="12700">
            <a:solidFill>
              <a:srgbClr val="0070C0"/>
            </a:solidFill>
          </a:ln>
        </p:spPr>
        <p:txBody>
          <a:bodyPr wrap="square" rtlCol="0">
            <a:spAutoFit/>
          </a:bodyPr>
          <a:lstStyle/>
          <a:p>
            <a:pPr algn="just"/>
            <a:r>
              <a:rPr lang="es-MX" sz="1600" dirty="0">
                <a:solidFill>
                  <a:schemeClr val="bg1"/>
                </a:solidFill>
                <a:latin typeface="Times New Roman" panose="02020603050405020304" pitchFamily="18" charset="0"/>
                <a:cs typeface="Times New Roman" panose="02020603050405020304" pitchFamily="18" charset="0"/>
              </a:rPr>
              <a:t>La compañía Coca-Cola afirma que “la cantidad media de Coca Cola en las latas es mayor que 354.882 ml”</a:t>
            </a:r>
          </a:p>
        </p:txBody>
      </p:sp>
      <mc:AlternateContent xmlns:mc="http://schemas.openxmlformats.org/markup-compatibility/2006">
        <mc:Choice xmlns:a14="http://schemas.microsoft.com/office/drawing/2010/main" Requires="a14">
          <p:sp>
            <p:nvSpPr>
              <p:cNvPr id="4" name="CuadroTexto 3">
                <a:extLst>
                  <a:ext uri="{FF2B5EF4-FFF2-40B4-BE49-F238E27FC236}">
                    <a16:creationId xmlns:a16="http://schemas.microsoft.com/office/drawing/2014/main" id="{97989137-6A9D-2A8C-A5F8-D4142AA18E76}"/>
                  </a:ext>
                </a:extLst>
              </p:cNvPr>
              <p:cNvSpPr txBox="1"/>
              <p:nvPr/>
            </p:nvSpPr>
            <p:spPr>
              <a:xfrm>
                <a:off x="6517721" y="2619113"/>
                <a:ext cx="3473116" cy="584775"/>
              </a:xfrm>
              <a:prstGeom prst="rect">
                <a:avLst/>
              </a:prstGeom>
              <a:noFill/>
              <a:ln w="12700">
                <a:solidFill>
                  <a:srgbClr val="0070C0"/>
                </a:solidFill>
              </a:ln>
            </p:spPr>
            <p:txBody>
              <a:bodyPr wrap="square" rtlCol="0">
                <a:spAutoFit/>
              </a:bodyPr>
              <a:lstStyle/>
              <a:p>
                <a:pPr algn="just"/>
                <a:r>
                  <a:rPr lang="es-MX" sz="1600" b="1" dirty="0">
                    <a:solidFill>
                      <a:schemeClr val="bg1"/>
                    </a:solidFill>
                    <a:latin typeface="Times New Roman" panose="02020603050405020304" pitchFamily="18" charset="0"/>
                    <a:cs typeface="Times New Roman" panose="02020603050405020304" pitchFamily="18" charset="0"/>
                  </a:rPr>
                  <a:t>Paso 1: </a:t>
                </a:r>
                <a:r>
                  <a:rPr lang="es-MX" sz="1600" dirty="0">
                    <a:solidFill>
                      <a:schemeClr val="bg1"/>
                    </a:solidFill>
                    <a:latin typeface="Times New Roman" panose="02020603050405020304" pitchFamily="18" charset="0"/>
                    <a:cs typeface="Times New Roman" panose="02020603050405020304" pitchFamily="18" charset="0"/>
                  </a:rPr>
                  <a:t>Esta afirmación puede expresarse como </a:t>
                </a:r>
                <a14:m>
                  <m:oMath xmlns:m="http://schemas.openxmlformats.org/officeDocument/2006/math">
                    <m:r>
                      <a:rPr lang="es-MX" sz="160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𝜇</m:t>
                    </m:r>
                    <m:r>
                      <a:rPr lang="es-MX" sz="1600"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&gt;</m:t>
                    </m:r>
                    <m:r>
                      <a:rPr lang="es-MX" sz="160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354.</m:t>
                    </m:r>
                    <m:r>
                      <a:rPr lang="es-MX" sz="1600"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882</m:t>
                    </m:r>
                  </m:oMath>
                </a14:m>
                <a:endParaRPr lang="es-MX" sz="1600" dirty="0">
                  <a:solidFill>
                    <a:schemeClr val="bg1"/>
                  </a:solidFill>
                  <a:latin typeface="Times New Roman" panose="02020603050405020304" pitchFamily="18" charset="0"/>
                  <a:cs typeface="Times New Roman" panose="02020603050405020304" pitchFamily="18" charset="0"/>
                </a:endParaRPr>
              </a:p>
            </p:txBody>
          </p:sp>
        </mc:Choice>
        <mc:Fallback>
          <p:sp>
            <p:nvSpPr>
              <p:cNvPr id="4" name="CuadroTexto 3">
                <a:extLst>
                  <a:ext uri="{FF2B5EF4-FFF2-40B4-BE49-F238E27FC236}">
                    <a16:creationId xmlns:a16="http://schemas.microsoft.com/office/drawing/2014/main" id="{97989137-6A9D-2A8C-A5F8-D4142AA18E76}"/>
                  </a:ext>
                </a:extLst>
              </p:cNvPr>
              <p:cNvSpPr txBox="1">
                <a:spLocks noRot="1" noChangeAspect="1" noMove="1" noResize="1" noEditPoints="1" noAdjustHandles="1" noChangeArrowheads="1" noChangeShapeType="1" noTextEdit="1"/>
              </p:cNvSpPr>
              <p:nvPr/>
            </p:nvSpPr>
            <p:spPr>
              <a:xfrm>
                <a:off x="6517721" y="2619113"/>
                <a:ext cx="3473116" cy="584775"/>
              </a:xfrm>
              <a:prstGeom prst="rect">
                <a:avLst/>
              </a:prstGeom>
              <a:blipFill>
                <a:blip r:embed="rId5"/>
                <a:stretch>
                  <a:fillRect l="-699" t="-2041" r="-874" b="-11224"/>
                </a:stretch>
              </a:blipFill>
              <a:ln w="12700">
                <a:solidFill>
                  <a:srgbClr val="0070C0"/>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CuadroTexto 5">
                <a:extLst>
                  <a:ext uri="{FF2B5EF4-FFF2-40B4-BE49-F238E27FC236}">
                    <a16:creationId xmlns:a16="http://schemas.microsoft.com/office/drawing/2014/main" id="{55F34522-8B95-6DB7-D20B-B0428091448D}"/>
                  </a:ext>
                </a:extLst>
              </p:cNvPr>
              <p:cNvSpPr txBox="1"/>
              <p:nvPr/>
            </p:nvSpPr>
            <p:spPr>
              <a:xfrm>
                <a:off x="6517721" y="3505256"/>
                <a:ext cx="3473116" cy="830997"/>
              </a:xfrm>
              <a:prstGeom prst="rect">
                <a:avLst/>
              </a:prstGeom>
              <a:noFill/>
              <a:ln w="12700">
                <a:solidFill>
                  <a:srgbClr val="0070C0"/>
                </a:solidFill>
              </a:ln>
            </p:spPr>
            <p:txBody>
              <a:bodyPr wrap="square" rtlCol="0">
                <a:spAutoFit/>
              </a:bodyPr>
              <a:lstStyle/>
              <a:p>
                <a:pPr algn="just"/>
                <a:r>
                  <a:rPr lang="es-MX" sz="1600" b="1" dirty="0">
                    <a:solidFill>
                      <a:schemeClr val="bg1"/>
                    </a:solidFill>
                    <a:latin typeface="Times New Roman" panose="02020603050405020304" pitchFamily="18" charset="0"/>
                    <a:cs typeface="Times New Roman" panose="02020603050405020304" pitchFamily="18" charset="0"/>
                  </a:rPr>
                  <a:t>Paso 2: </a:t>
                </a:r>
                <a:r>
                  <a:rPr lang="es-MX" sz="1600" dirty="0">
                    <a:solidFill>
                      <a:schemeClr val="bg1"/>
                    </a:solidFill>
                    <a:latin typeface="Times New Roman" panose="02020603050405020304" pitchFamily="18" charset="0"/>
                    <a:cs typeface="Times New Roman" panose="02020603050405020304" pitchFamily="18" charset="0"/>
                  </a:rPr>
                  <a:t>Si la aseveración original fuera falsa, entonces </a:t>
                </a:r>
                <a14:m>
                  <m:oMath xmlns:m="http://schemas.openxmlformats.org/officeDocument/2006/math">
                    <m:r>
                      <a:rPr lang="es-MX" sz="160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𝜇</m:t>
                    </m:r>
                    <m:r>
                      <a:rPr lang="es-MX" sz="1600" i="1">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r>
                      <a:rPr lang="es-MX" sz="160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354.882</m:t>
                    </m:r>
                  </m:oMath>
                </a14:m>
                <a:r>
                  <a:rPr lang="es-MX" sz="1600" dirty="0">
                    <a:solidFill>
                      <a:schemeClr val="bg1"/>
                    </a:solidFill>
                    <a:latin typeface="Times New Roman" panose="02020603050405020304" pitchFamily="18" charset="0"/>
                    <a:cs typeface="Times New Roman" panose="02020603050405020304" pitchFamily="18" charset="0"/>
                  </a:rPr>
                  <a:t> seria verdadera.</a:t>
                </a:r>
              </a:p>
            </p:txBody>
          </p:sp>
        </mc:Choice>
        <mc:Fallback>
          <p:sp>
            <p:nvSpPr>
              <p:cNvPr id="6" name="CuadroTexto 5">
                <a:extLst>
                  <a:ext uri="{FF2B5EF4-FFF2-40B4-BE49-F238E27FC236}">
                    <a16:creationId xmlns:a16="http://schemas.microsoft.com/office/drawing/2014/main" id="{55F34522-8B95-6DB7-D20B-B0428091448D}"/>
                  </a:ext>
                </a:extLst>
              </p:cNvPr>
              <p:cNvSpPr txBox="1">
                <a:spLocks noRot="1" noChangeAspect="1" noMove="1" noResize="1" noEditPoints="1" noAdjustHandles="1" noChangeArrowheads="1" noChangeShapeType="1" noTextEdit="1"/>
              </p:cNvSpPr>
              <p:nvPr/>
            </p:nvSpPr>
            <p:spPr>
              <a:xfrm>
                <a:off x="6517721" y="3505256"/>
                <a:ext cx="3473116" cy="830997"/>
              </a:xfrm>
              <a:prstGeom prst="rect">
                <a:avLst/>
              </a:prstGeom>
              <a:blipFill>
                <a:blip r:embed="rId6"/>
                <a:stretch>
                  <a:fillRect l="-699" t="-1449" r="-874" b="-7971"/>
                </a:stretch>
              </a:blipFill>
              <a:ln w="12700">
                <a:solidFill>
                  <a:srgbClr val="0070C0"/>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CuadroTexto 6">
                <a:extLst>
                  <a:ext uri="{FF2B5EF4-FFF2-40B4-BE49-F238E27FC236}">
                    <a16:creationId xmlns:a16="http://schemas.microsoft.com/office/drawing/2014/main" id="{6C9611FC-04FD-80E8-6D16-59C27F271C16}"/>
                  </a:ext>
                </a:extLst>
              </p:cNvPr>
              <p:cNvSpPr txBox="1"/>
              <p:nvPr/>
            </p:nvSpPr>
            <p:spPr>
              <a:xfrm>
                <a:off x="6517721" y="4803517"/>
                <a:ext cx="3473116" cy="1077218"/>
              </a:xfrm>
              <a:prstGeom prst="rect">
                <a:avLst/>
              </a:prstGeom>
              <a:noFill/>
              <a:ln w="12700">
                <a:solidFill>
                  <a:srgbClr val="0070C0"/>
                </a:solidFill>
              </a:ln>
            </p:spPr>
            <p:txBody>
              <a:bodyPr wrap="square" rtlCol="0">
                <a:spAutoFit/>
              </a:bodyPr>
              <a:lstStyle/>
              <a:p>
                <a:pPr algn="just"/>
                <a:r>
                  <a:rPr lang="es-MX" sz="1600" b="1" dirty="0">
                    <a:solidFill>
                      <a:schemeClr val="bg1"/>
                    </a:solidFill>
                    <a:latin typeface="Times New Roman" panose="02020603050405020304" pitchFamily="18" charset="0"/>
                    <a:cs typeface="Times New Roman" panose="02020603050405020304" pitchFamily="18" charset="0"/>
                  </a:rPr>
                  <a:t>Paso 3: </a:t>
                </a:r>
                <a:r>
                  <a:rPr lang="es-MX" sz="1600" dirty="0">
                    <a:solidFill>
                      <a:schemeClr val="bg1"/>
                    </a:solidFill>
                    <a:latin typeface="Times New Roman" panose="02020603050405020304" pitchFamily="18" charset="0"/>
                    <a:cs typeface="Times New Roman" panose="02020603050405020304" pitchFamily="18" charset="0"/>
                  </a:rPr>
                  <a:t>La hipótesis alternativa será </a:t>
                </a:r>
                <a14:m>
                  <m:oMath xmlns:m="http://schemas.openxmlformats.org/officeDocument/2006/math">
                    <m:sSub>
                      <m:sSubPr>
                        <m:ctrlPr>
                          <a:rPr lang="es-MX" sz="160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s-MX" sz="1600"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𝐻</m:t>
                        </m:r>
                      </m:e>
                      <m:sub>
                        <m:r>
                          <a:rPr lang="es-MX" sz="1600"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1</m:t>
                        </m:r>
                      </m:sub>
                    </m:sSub>
                    <m:r>
                      <a:rPr lang="es-MX" sz="1600"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r>
                      <a:rPr lang="es-MX" sz="160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𝜇</m:t>
                    </m:r>
                    <m:r>
                      <a:rPr lang="es-MX" sz="1600" i="1">
                        <a:solidFill>
                          <a:schemeClr val="bg1"/>
                        </a:solidFill>
                        <a:latin typeface="Cambria Math" panose="02040503050406030204" pitchFamily="18" charset="0"/>
                        <a:ea typeface="Cambria Math" panose="02040503050406030204" pitchFamily="18" charset="0"/>
                        <a:cs typeface="Times New Roman" panose="02020603050405020304" pitchFamily="18" charset="0"/>
                      </a:rPr>
                      <m:t>&gt;</m:t>
                    </m:r>
                    <m:r>
                      <a:rPr lang="es-MX" sz="160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354.882</m:t>
                    </m:r>
                  </m:oMath>
                </a14:m>
                <a:r>
                  <a:rPr lang="es-MX" sz="1600" dirty="0">
                    <a:solidFill>
                      <a:schemeClr val="bg1"/>
                    </a:solidFill>
                    <a:latin typeface="Times New Roman" panose="02020603050405020304" pitchFamily="18" charset="0"/>
                    <a:cs typeface="Times New Roman" panose="02020603050405020304" pitchFamily="18" charset="0"/>
                  </a:rPr>
                  <a:t> al no llevar la igualdad y la hipótesis nula será </a:t>
                </a:r>
                <a14:m>
                  <m:oMath xmlns:m="http://schemas.openxmlformats.org/officeDocument/2006/math">
                    <m:sSub>
                      <m:sSubPr>
                        <m:ctrlPr>
                          <a:rPr lang="es-MX" sz="160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s-MX" sz="1600"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𝐻</m:t>
                        </m:r>
                      </m:e>
                      <m:sub>
                        <m:r>
                          <a:rPr lang="es-MX" sz="1600"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0</m:t>
                        </m:r>
                      </m:sub>
                    </m:sSub>
                    <m:r>
                      <a:rPr lang="es-MX" sz="1600"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r>
                      <a:rPr lang="es-MX" sz="1600" i="1">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𝜇</m:t>
                    </m:r>
                    <m:r>
                      <a:rPr lang="es-MX" sz="160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r>
                      <a:rPr lang="es-MX" sz="1600" i="1">
                        <a:solidFill>
                          <a:schemeClr val="bg1"/>
                        </a:solidFill>
                        <a:latin typeface="Cambria Math" panose="02040503050406030204" pitchFamily="18" charset="0"/>
                        <a:ea typeface="Cambria Math" panose="02040503050406030204" pitchFamily="18" charset="0"/>
                        <a:cs typeface="Times New Roman" panose="02020603050405020304" pitchFamily="18" charset="0"/>
                      </a:rPr>
                      <m:t>354.882</m:t>
                    </m:r>
                  </m:oMath>
                </a14:m>
                <a:r>
                  <a:rPr lang="es-MX" sz="1600" dirty="0">
                    <a:solidFill>
                      <a:schemeClr val="bg1"/>
                    </a:solidFill>
                    <a:latin typeface="Times New Roman" panose="02020603050405020304" pitchFamily="18" charset="0"/>
                    <a:cs typeface="Times New Roman" panose="02020603050405020304" pitchFamily="18" charset="0"/>
                  </a:rPr>
                  <a:t>.</a:t>
                </a:r>
              </a:p>
            </p:txBody>
          </p:sp>
        </mc:Choice>
        <mc:Fallback>
          <p:sp>
            <p:nvSpPr>
              <p:cNvPr id="7" name="CuadroTexto 6">
                <a:extLst>
                  <a:ext uri="{FF2B5EF4-FFF2-40B4-BE49-F238E27FC236}">
                    <a16:creationId xmlns:a16="http://schemas.microsoft.com/office/drawing/2014/main" id="{6C9611FC-04FD-80E8-6D16-59C27F271C16}"/>
                  </a:ext>
                </a:extLst>
              </p:cNvPr>
              <p:cNvSpPr txBox="1">
                <a:spLocks noRot="1" noChangeAspect="1" noMove="1" noResize="1" noEditPoints="1" noAdjustHandles="1" noChangeArrowheads="1" noChangeShapeType="1" noTextEdit="1"/>
              </p:cNvSpPr>
              <p:nvPr/>
            </p:nvSpPr>
            <p:spPr>
              <a:xfrm>
                <a:off x="6517721" y="4803517"/>
                <a:ext cx="3473116" cy="1077218"/>
              </a:xfrm>
              <a:prstGeom prst="rect">
                <a:avLst/>
              </a:prstGeom>
              <a:blipFill>
                <a:blip r:embed="rId7"/>
                <a:stretch>
                  <a:fillRect l="-699" t="-1117" r="-874" b="-5587"/>
                </a:stretch>
              </a:blipFill>
              <a:ln w="12700">
                <a:solidFill>
                  <a:srgbClr val="0070C0"/>
                </a:solidFill>
              </a:ln>
            </p:spPr>
            <p:txBody>
              <a:bodyPr/>
              <a:lstStyle/>
              <a:p>
                <a:r>
                  <a:rPr lang="en-US">
                    <a:noFill/>
                  </a:rPr>
                  <a:t> </a:t>
                </a:r>
              </a:p>
            </p:txBody>
          </p:sp>
        </mc:Fallback>
      </mc:AlternateContent>
    </p:spTree>
    <p:extLst>
      <p:ext uri="{BB962C8B-B14F-4D97-AF65-F5344CB8AC3E}">
        <p14:creationId xmlns:p14="http://schemas.microsoft.com/office/powerpoint/2010/main" val="265347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1000"/>
                                        <p:tgtEl>
                                          <p:spTgt spid="4"/>
                                        </p:tgtEl>
                                      </p:cBhvr>
                                    </p:animEffect>
                                    <p:anim calcmode="lin" valueType="num">
                                      <p:cBhvr>
                                        <p:cTn id="20" dur="1000" fill="hold"/>
                                        <p:tgtEl>
                                          <p:spTgt spid="4"/>
                                        </p:tgtEl>
                                        <p:attrNameLst>
                                          <p:attrName>ppt_x</p:attrName>
                                        </p:attrNameLst>
                                      </p:cBhvr>
                                      <p:tavLst>
                                        <p:tav tm="0">
                                          <p:val>
                                            <p:strVal val="#ppt_x"/>
                                          </p:val>
                                        </p:tav>
                                        <p:tav tm="100000">
                                          <p:val>
                                            <p:strVal val="#ppt_x"/>
                                          </p:val>
                                        </p:tav>
                                      </p:tavLst>
                                    </p:anim>
                                    <p:anim calcmode="lin" valueType="num">
                                      <p:cBhvr>
                                        <p:cTn id="21"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1000"/>
                                        <p:tgtEl>
                                          <p:spTgt spid="6"/>
                                        </p:tgtEl>
                                      </p:cBhvr>
                                    </p:animEffect>
                                    <p:anim calcmode="lin" valueType="num">
                                      <p:cBhvr>
                                        <p:cTn id="27" dur="1000" fill="hold"/>
                                        <p:tgtEl>
                                          <p:spTgt spid="6"/>
                                        </p:tgtEl>
                                        <p:attrNameLst>
                                          <p:attrName>ppt_x</p:attrName>
                                        </p:attrNameLst>
                                      </p:cBhvr>
                                      <p:tavLst>
                                        <p:tav tm="0">
                                          <p:val>
                                            <p:strVal val="#ppt_x"/>
                                          </p:val>
                                        </p:tav>
                                        <p:tav tm="100000">
                                          <p:val>
                                            <p:strVal val="#ppt_x"/>
                                          </p:val>
                                        </p:tav>
                                      </p:tavLst>
                                    </p:anim>
                                    <p:anim calcmode="lin" valueType="num">
                                      <p:cBhvr>
                                        <p:cTn id="28"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1000"/>
                                        <p:tgtEl>
                                          <p:spTgt spid="7"/>
                                        </p:tgtEl>
                                      </p:cBhvr>
                                    </p:animEffect>
                                    <p:anim calcmode="lin" valueType="num">
                                      <p:cBhvr>
                                        <p:cTn id="34" dur="1000" fill="hold"/>
                                        <p:tgtEl>
                                          <p:spTgt spid="7"/>
                                        </p:tgtEl>
                                        <p:attrNameLst>
                                          <p:attrName>ppt_x</p:attrName>
                                        </p:attrNameLst>
                                      </p:cBhvr>
                                      <p:tavLst>
                                        <p:tav tm="0">
                                          <p:val>
                                            <p:strVal val="#ppt_x"/>
                                          </p:val>
                                        </p:tav>
                                        <p:tav tm="100000">
                                          <p:val>
                                            <p:strVal val="#ppt_x"/>
                                          </p:val>
                                        </p:tav>
                                      </p:tavLst>
                                    </p:anim>
                                    <p:anim calcmode="lin" valueType="num">
                                      <p:cBhvr>
                                        <p:cTn id="35"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a:r>
                  <a:rPr lang="es-MX" sz="2400" dirty="0">
                    <a:latin typeface="Times New Roman" panose="02020603050405020304" pitchFamily="18" charset="0"/>
                    <a:ea typeface="Times New Roman" panose="02020603050405020304" pitchFamily="18" charset="0"/>
                    <a:cs typeface="Times New Roman" panose="02020603050405020304" pitchFamily="18" charset="0"/>
                  </a:rPr>
                  <a:t>¿Cómo identificar </a:t>
                </a:r>
                <a14:m>
                  <m:oMath xmlns:m="http://schemas.openxmlformats.org/officeDocument/2006/math">
                    <m:sSub>
                      <m:sSubPr>
                        <m:ctrlPr>
                          <a:rPr lang="es-MX" sz="2400" i="1">
                            <a:latin typeface="Cambria Math" panose="02040503050406030204" pitchFamily="18" charset="0"/>
                            <a:ea typeface="Times New Roman" panose="02020603050405020304" pitchFamily="18" charset="0"/>
                            <a:cs typeface="Times New Roman" panose="02020603050405020304" pitchFamily="18" charset="0"/>
                          </a:rPr>
                        </m:ctrlPr>
                      </m:sSubPr>
                      <m:e>
                        <m:r>
                          <a:rPr lang="es-MX" sz="2400" i="1">
                            <a:latin typeface="Cambria Math" panose="02040503050406030204" pitchFamily="18" charset="0"/>
                            <a:ea typeface="Times New Roman" panose="02020603050405020304" pitchFamily="18" charset="0"/>
                            <a:cs typeface="Times New Roman" panose="02020603050405020304" pitchFamily="18" charset="0"/>
                          </a:rPr>
                          <m:t>𝑯</m:t>
                        </m:r>
                      </m:e>
                      <m:sub>
                        <m:r>
                          <a:rPr lang="es-MX" sz="2400" i="1">
                            <a:latin typeface="Cambria Math" panose="02040503050406030204" pitchFamily="18" charset="0"/>
                            <a:ea typeface="Times New Roman" panose="02020603050405020304" pitchFamily="18" charset="0"/>
                            <a:cs typeface="Times New Roman" panose="02020603050405020304" pitchFamily="18" charset="0"/>
                          </a:rPr>
                          <m:t>𝟎</m:t>
                        </m:r>
                      </m:sub>
                    </m:sSub>
                  </m:oMath>
                </a14:m>
                <a:r>
                  <a:rPr lang="es-MX" sz="2400" dirty="0">
                    <a:latin typeface="Times New Roman" panose="02020603050405020304" pitchFamily="18" charset="0"/>
                    <a:ea typeface="Times New Roman" panose="02020603050405020304" pitchFamily="18" charset="0"/>
                    <a:cs typeface="Times New Roman" panose="02020603050405020304" pitchFamily="18" charset="0"/>
                  </a:rPr>
                  <a:t> y </a:t>
                </a:r>
                <a14:m>
                  <m:oMath xmlns:m="http://schemas.openxmlformats.org/officeDocument/2006/math">
                    <m:sSub>
                      <m:sSubPr>
                        <m:ctrlPr>
                          <a:rPr lang="es-MX" sz="2400" i="1">
                            <a:latin typeface="Cambria Math" panose="02040503050406030204" pitchFamily="18" charset="0"/>
                            <a:ea typeface="Times New Roman" panose="02020603050405020304" pitchFamily="18" charset="0"/>
                            <a:cs typeface="Times New Roman" panose="02020603050405020304" pitchFamily="18" charset="0"/>
                          </a:rPr>
                        </m:ctrlPr>
                      </m:sSubPr>
                      <m:e>
                        <m:r>
                          <a:rPr lang="es-MX" sz="2400" i="1">
                            <a:latin typeface="Cambria Math" panose="02040503050406030204" pitchFamily="18" charset="0"/>
                            <a:ea typeface="Times New Roman" panose="02020603050405020304" pitchFamily="18" charset="0"/>
                            <a:cs typeface="Times New Roman" panose="02020603050405020304" pitchFamily="18" charset="0"/>
                          </a:rPr>
                          <m:t>𝑯</m:t>
                        </m:r>
                      </m:e>
                      <m:sub>
                        <m:r>
                          <a:rPr lang="es-MX" sz="2400" i="1">
                            <a:latin typeface="Cambria Math" panose="02040503050406030204" pitchFamily="18" charset="0"/>
                            <a:ea typeface="Times New Roman" panose="02020603050405020304" pitchFamily="18" charset="0"/>
                            <a:cs typeface="Times New Roman" panose="02020603050405020304" pitchFamily="18" charset="0"/>
                          </a:rPr>
                          <m:t>𝟏</m:t>
                        </m:r>
                      </m:sub>
                    </m:sSub>
                  </m:oMath>
                </a14:m>
                <a:r>
                  <a:rPr lang="es-MX" sz="2400" dirty="0">
                    <a:latin typeface="Times New Roman" panose="02020603050405020304" pitchFamily="18" charset="0"/>
                    <a:ea typeface="Times New Roman" panose="02020603050405020304" pitchFamily="18" charset="0"/>
                    <a:cs typeface="Times New Roman" panose="02020603050405020304" pitchFamily="18" charset="0"/>
                  </a:rPr>
                  <a:t>?</a:t>
                </a:r>
                <a:endParaRPr lang="es-ES" sz="2600" dirty="0">
                  <a:latin typeface="Times New Roman" panose="02020603050405020304" pitchFamily="18" charset="0"/>
                  <a:cs typeface="Times New Roman" panose="02020603050405020304" pitchFamily="18" charset="0"/>
                </a:endParaRPr>
              </a:p>
            </p:txBody>
          </p:sp>
        </mc:Choice>
        <mc:Fallback>
          <p:sp>
            <p:nvSpPr>
              <p:cNvPr id="2" name="Título 1">
                <a:extLst>
                  <a:ext uri="{FF2B5EF4-FFF2-40B4-BE49-F238E27FC236}">
                    <a16:creationId xmlns:a16="http://schemas.microsoft.com/office/drawing/2014/main" id="{8C122DF8-59D4-D94D-8ED9-F2F319899DBF}"/>
                  </a:ext>
                </a:extLst>
              </p:cNvPr>
              <p:cNvSpPr>
                <a:spLocks noGrp="1" noRot="1" noChangeAspect="1" noMove="1" noResize="1" noEditPoints="1" noAdjustHandles="1" noChangeArrowheads="1" noChangeShapeType="1" noTextEdit="1"/>
              </p:cNvSpPr>
              <p:nvPr>
                <p:ph type="title"/>
              </p:nvPr>
            </p:nvSpPr>
            <p:spPr>
              <a:xfrm>
                <a:off x="964022" y="879063"/>
                <a:ext cx="8276908" cy="610863"/>
              </a:xfrm>
              <a:blipFill>
                <a:blip r:embed="rId3"/>
                <a:stretch>
                  <a:fillRect l="-2209" b="-31000"/>
                </a:stretch>
              </a:blipFill>
            </p:spPr>
            <p:txBody>
              <a:bodyPr/>
              <a:lstStyle/>
              <a:p>
                <a:r>
                  <a:rPr lang="en-US">
                    <a:noFill/>
                  </a:rPr>
                  <a:t> </a:t>
                </a:r>
              </a:p>
            </p:txBody>
          </p:sp>
        </mc:Fallback>
      </mc:AlternateContent>
      <p:sp>
        <p:nvSpPr>
          <p:cNvPr id="11" name="CuadroTexto 10">
            <a:extLst>
              <a:ext uri="{FF2B5EF4-FFF2-40B4-BE49-F238E27FC236}">
                <a16:creationId xmlns:a16="http://schemas.microsoft.com/office/drawing/2014/main" id="{F494AF8A-D47C-6E15-F0A8-B546B382BBB9}"/>
              </a:ext>
            </a:extLst>
          </p:cNvPr>
          <p:cNvSpPr txBox="1"/>
          <p:nvPr/>
        </p:nvSpPr>
        <p:spPr>
          <a:xfrm>
            <a:off x="964022" y="2277572"/>
            <a:ext cx="9332916" cy="685059"/>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Ejemplos: </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Utilice aseveraciones para expresar la hipótesis nula y alternativa en cada uno de los siguientes casos.</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Imagen 2"/>
          <p:cNvPicPr>
            <a:picLocks noChangeAspect="1"/>
          </p:cNvPicPr>
          <p:nvPr/>
        </p:nvPicPr>
        <p:blipFill>
          <a:blip r:embed="rId4"/>
          <a:stretch>
            <a:fillRect/>
          </a:stretch>
        </p:blipFill>
        <p:spPr>
          <a:xfrm>
            <a:off x="1653792" y="3083787"/>
            <a:ext cx="7953375" cy="3381375"/>
          </a:xfrm>
          <a:prstGeom prst="rect">
            <a:avLst/>
          </a:prstGeom>
        </p:spPr>
      </p:pic>
      <p:pic>
        <p:nvPicPr>
          <p:cNvPr id="5" name="Imagen 4"/>
          <p:cNvPicPr>
            <a:picLocks noChangeAspect="1"/>
          </p:cNvPicPr>
          <p:nvPr/>
        </p:nvPicPr>
        <p:blipFill>
          <a:blip r:embed="rId5"/>
          <a:stretch>
            <a:fillRect/>
          </a:stretch>
        </p:blipFill>
        <p:spPr>
          <a:xfrm>
            <a:off x="5253854" y="3474176"/>
            <a:ext cx="3800475" cy="876300"/>
          </a:xfrm>
          <a:prstGeom prst="rect">
            <a:avLst/>
          </a:prstGeom>
        </p:spPr>
      </p:pic>
      <p:pic>
        <p:nvPicPr>
          <p:cNvPr id="6" name="Imagen 5"/>
          <p:cNvPicPr>
            <a:picLocks noChangeAspect="1"/>
          </p:cNvPicPr>
          <p:nvPr/>
        </p:nvPicPr>
        <p:blipFill>
          <a:blip r:embed="rId6"/>
          <a:stretch>
            <a:fillRect/>
          </a:stretch>
        </p:blipFill>
        <p:spPr>
          <a:xfrm>
            <a:off x="5253854" y="4447062"/>
            <a:ext cx="3857625" cy="904875"/>
          </a:xfrm>
          <a:prstGeom prst="rect">
            <a:avLst/>
          </a:prstGeom>
        </p:spPr>
      </p:pic>
      <p:pic>
        <p:nvPicPr>
          <p:cNvPr id="7" name="Imagen 6"/>
          <p:cNvPicPr>
            <a:picLocks noChangeAspect="1"/>
          </p:cNvPicPr>
          <p:nvPr/>
        </p:nvPicPr>
        <p:blipFill>
          <a:blip r:embed="rId7"/>
          <a:stretch>
            <a:fillRect/>
          </a:stretch>
        </p:blipFill>
        <p:spPr>
          <a:xfrm>
            <a:off x="5358629" y="5487712"/>
            <a:ext cx="3752850" cy="876300"/>
          </a:xfrm>
          <a:prstGeom prst="rect">
            <a:avLst/>
          </a:prstGeom>
        </p:spPr>
      </p:pic>
      <p:pic>
        <p:nvPicPr>
          <p:cNvPr id="4" name="Imagen 3">
            <a:extLst>
              <a:ext uri="{FF2B5EF4-FFF2-40B4-BE49-F238E27FC236}">
                <a16:creationId xmlns:a16="http://schemas.microsoft.com/office/drawing/2014/main" id="{FCF40710-6E23-B41F-F344-D1E3CD4479A6}"/>
              </a:ext>
            </a:extLst>
          </p:cNvPr>
          <p:cNvPicPr>
            <a:picLocks noChangeAspect="1"/>
          </p:cNvPicPr>
          <p:nvPr/>
        </p:nvPicPr>
        <p:blipFill>
          <a:blip r:embed="rId8"/>
          <a:stretch>
            <a:fillRect/>
          </a:stretch>
        </p:blipFill>
        <p:spPr>
          <a:xfrm>
            <a:off x="9607167" y="3297839"/>
            <a:ext cx="885655" cy="904876"/>
          </a:xfrm>
          <a:prstGeom prst="rect">
            <a:avLst/>
          </a:prstGeom>
        </p:spPr>
      </p:pic>
      <p:pic>
        <p:nvPicPr>
          <p:cNvPr id="8" name="Imagen 7">
            <a:extLst>
              <a:ext uri="{FF2B5EF4-FFF2-40B4-BE49-F238E27FC236}">
                <a16:creationId xmlns:a16="http://schemas.microsoft.com/office/drawing/2014/main" id="{C712A062-D81C-EB60-43B2-AEF593013EED}"/>
              </a:ext>
            </a:extLst>
          </p:cNvPr>
          <p:cNvPicPr>
            <a:picLocks noChangeAspect="1"/>
          </p:cNvPicPr>
          <p:nvPr/>
        </p:nvPicPr>
        <p:blipFill>
          <a:blip r:embed="rId8"/>
          <a:stretch>
            <a:fillRect/>
          </a:stretch>
        </p:blipFill>
        <p:spPr>
          <a:xfrm>
            <a:off x="9607166" y="4350476"/>
            <a:ext cx="885655" cy="904876"/>
          </a:xfrm>
          <a:prstGeom prst="rect">
            <a:avLst/>
          </a:prstGeom>
        </p:spPr>
      </p:pic>
      <p:pic>
        <p:nvPicPr>
          <p:cNvPr id="9" name="Imagen 8">
            <a:extLst>
              <a:ext uri="{FF2B5EF4-FFF2-40B4-BE49-F238E27FC236}">
                <a16:creationId xmlns:a16="http://schemas.microsoft.com/office/drawing/2014/main" id="{BA65BD73-40AE-005A-600F-150057459046}"/>
              </a:ext>
            </a:extLst>
          </p:cNvPr>
          <p:cNvPicPr>
            <a:picLocks noChangeAspect="1"/>
          </p:cNvPicPr>
          <p:nvPr/>
        </p:nvPicPr>
        <p:blipFill>
          <a:blip r:embed="rId8"/>
          <a:stretch>
            <a:fillRect/>
          </a:stretch>
        </p:blipFill>
        <p:spPr>
          <a:xfrm>
            <a:off x="9652553" y="5403113"/>
            <a:ext cx="885655" cy="904876"/>
          </a:xfrm>
          <a:prstGeom prst="rect">
            <a:avLst/>
          </a:prstGeom>
        </p:spPr>
      </p:pic>
      <p:sp>
        <p:nvSpPr>
          <p:cNvPr id="10" name="TextBox 9">
            <a:extLst>
              <a:ext uri="{FF2B5EF4-FFF2-40B4-BE49-F238E27FC236}">
                <a16:creationId xmlns:a16="http://schemas.microsoft.com/office/drawing/2014/main" id="{9EC6987F-1CF5-8A3A-40E8-BEDB472B0920}"/>
              </a:ext>
            </a:extLst>
          </p:cNvPr>
          <p:cNvSpPr txBox="1"/>
          <p:nvPr/>
        </p:nvSpPr>
        <p:spPr>
          <a:xfrm>
            <a:off x="11045660" y="3184026"/>
            <a:ext cx="1027807" cy="461665"/>
          </a:xfrm>
          <a:prstGeom prst="rect">
            <a:avLst/>
          </a:prstGeom>
          <a:solidFill>
            <a:schemeClr val="tx1"/>
          </a:solidFill>
        </p:spPr>
        <p:txBody>
          <a:bodyPr wrap="square" rtlCol="0">
            <a:spAutoFit/>
          </a:bodyPr>
          <a:lstStyle/>
          <a:p>
            <a:r>
              <a:rPr lang="en-US" sz="1200" dirty="0">
                <a:solidFill>
                  <a:srgbClr val="FF0000"/>
                </a:solidFill>
              </a:rPr>
              <a:t>o Tambien: </a:t>
            </a:r>
            <a:r>
              <a:rPr lang="en-US" sz="1200" i="1" dirty="0">
                <a:solidFill>
                  <a:srgbClr val="FF0000"/>
                </a:solidFill>
              </a:rPr>
              <a:t>H</a:t>
            </a:r>
            <a:r>
              <a:rPr lang="en-US" sz="800" i="1" dirty="0">
                <a:solidFill>
                  <a:srgbClr val="FF0000"/>
                </a:solidFill>
              </a:rPr>
              <a:t>0</a:t>
            </a:r>
            <a:r>
              <a:rPr lang="en-US" sz="1200" dirty="0">
                <a:solidFill>
                  <a:srgbClr val="FF0000"/>
                </a:solidFill>
              </a:rPr>
              <a:t>: p&lt;= XYZ</a:t>
            </a:r>
          </a:p>
        </p:txBody>
      </p:sp>
      <p:cxnSp>
        <p:nvCxnSpPr>
          <p:cNvPr id="13" name="Straight Arrow Connector 12">
            <a:extLst>
              <a:ext uri="{FF2B5EF4-FFF2-40B4-BE49-F238E27FC236}">
                <a16:creationId xmlns:a16="http://schemas.microsoft.com/office/drawing/2014/main" id="{0AC5651B-AF23-5C9C-6340-ACCD318B6B96}"/>
              </a:ext>
            </a:extLst>
          </p:cNvPr>
          <p:cNvCxnSpPr>
            <a:cxnSpLocks/>
            <a:stCxn id="10" idx="1"/>
          </p:cNvCxnSpPr>
          <p:nvPr/>
        </p:nvCxnSpPr>
        <p:spPr>
          <a:xfrm flipH="1">
            <a:off x="7349067" y="3414859"/>
            <a:ext cx="3696593" cy="68667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2565CAEE-7A0F-7026-5100-21142A8A5622}"/>
              </a:ext>
            </a:extLst>
          </p:cNvPr>
          <p:cNvCxnSpPr>
            <a:cxnSpLocks/>
            <a:stCxn id="21" idx="1"/>
          </p:cNvCxnSpPr>
          <p:nvPr/>
        </p:nvCxnSpPr>
        <p:spPr>
          <a:xfrm flipH="1">
            <a:off x="7349067" y="4574827"/>
            <a:ext cx="3698710" cy="57868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DB5EB216-D7D7-25DA-6936-41E5ED6A46E9}"/>
              </a:ext>
            </a:extLst>
          </p:cNvPr>
          <p:cNvSpPr txBox="1"/>
          <p:nvPr/>
        </p:nvSpPr>
        <p:spPr>
          <a:xfrm>
            <a:off x="11047777" y="3882329"/>
            <a:ext cx="1027807" cy="1384995"/>
          </a:xfrm>
          <a:prstGeom prst="rect">
            <a:avLst/>
          </a:prstGeom>
          <a:solidFill>
            <a:schemeClr val="tx1"/>
          </a:solidFill>
        </p:spPr>
        <p:txBody>
          <a:bodyPr wrap="square" rtlCol="0">
            <a:spAutoFit/>
          </a:bodyPr>
          <a:lstStyle/>
          <a:p>
            <a:r>
              <a:rPr lang="en-US" sz="1200" dirty="0">
                <a:solidFill>
                  <a:srgbClr val="FF0000"/>
                </a:solidFill>
              </a:rPr>
              <a:t>Puede ser </a:t>
            </a:r>
            <a:r>
              <a:rPr lang="en-US" sz="1200" i="1" dirty="0">
                <a:solidFill>
                  <a:srgbClr val="FF0000"/>
                </a:solidFill>
              </a:rPr>
              <a:t>H</a:t>
            </a:r>
            <a:r>
              <a:rPr lang="en-US" sz="800" i="1" dirty="0">
                <a:solidFill>
                  <a:srgbClr val="FF0000"/>
                </a:solidFill>
              </a:rPr>
              <a:t>0</a:t>
            </a:r>
            <a:r>
              <a:rPr lang="en-US" sz="1200" dirty="0">
                <a:solidFill>
                  <a:srgbClr val="FF0000"/>
                </a:solidFill>
              </a:rPr>
              <a:t>: p&lt;= XYZ</a:t>
            </a:r>
          </a:p>
          <a:p>
            <a:r>
              <a:rPr lang="en-US" sz="1200" dirty="0">
                <a:solidFill>
                  <a:srgbClr val="FF0000"/>
                </a:solidFill>
              </a:rPr>
              <a:t>o </a:t>
            </a:r>
            <a:r>
              <a:rPr lang="en-US" sz="1200" dirty="0" err="1">
                <a:solidFill>
                  <a:srgbClr val="FF0000"/>
                </a:solidFill>
              </a:rPr>
              <a:t>dejar</a:t>
            </a:r>
            <a:r>
              <a:rPr lang="en-US" sz="1200" dirty="0">
                <a:solidFill>
                  <a:srgbClr val="FF0000"/>
                </a:solidFill>
              </a:rPr>
              <a:t> la </a:t>
            </a:r>
            <a:r>
              <a:rPr lang="en-US" sz="1200" b="1" dirty="0" err="1">
                <a:solidFill>
                  <a:srgbClr val="FF0000"/>
                </a:solidFill>
              </a:rPr>
              <a:t>igualdad</a:t>
            </a:r>
            <a:r>
              <a:rPr lang="en-US" sz="1200" dirty="0">
                <a:solidFill>
                  <a:srgbClr val="FF0000"/>
                </a:solidFill>
              </a:rPr>
              <a:t> </a:t>
            </a:r>
            <a:r>
              <a:rPr lang="en-US" sz="1200" dirty="0" err="1">
                <a:solidFill>
                  <a:srgbClr val="FF0000"/>
                </a:solidFill>
              </a:rPr>
              <a:t>ya</a:t>
            </a:r>
            <a:r>
              <a:rPr lang="en-US" sz="1200" dirty="0">
                <a:solidFill>
                  <a:srgbClr val="FF0000"/>
                </a:solidFill>
              </a:rPr>
              <a:t> que </a:t>
            </a:r>
            <a:r>
              <a:rPr lang="en-US" sz="1200" dirty="0" err="1">
                <a:solidFill>
                  <a:srgbClr val="FF0000"/>
                </a:solidFill>
              </a:rPr>
              <a:t>desde</a:t>
            </a:r>
            <a:r>
              <a:rPr lang="en-US" sz="1200" dirty="0">
                <a:solidFill>
                  <a:srgbClr val="FF0000"/>
                </a:solidFill>
              </a:rPr>
              <a:t> Paso 1 la </a:t>
            </a:r>
            <a:r>
              <a:rPr lang="en-US" sz="1200" dirty="0" err="1">
                <a:solidFill>
                  <a:srgbClr val="FF0000"/>
                </a:solidFill>
              </a:rPr>
              <a:t>lleva</a:t>
            </a:r>
            <a:r>
              <a:rPr lang="en-US" sz="1200" dirty="0">
                <a:solidFill>
                  <a:srgbClr val="FF0000"/>
                </a:solidFill>
              </a:rPr>
              <a:t>.</a:t>
            </a:r>
          </a:p>
        </p:txBody>
      </p:sp>
      <p:sp>
        <p:nvSpPr>
          <p:cNvPr id="26" name="TextBox 25">
            <a:extLst>
              <a:ext uri="{FF2B5EF4-FFF2-40B4-BE49-F238E27FC236}">
                <a16:creationId xmlns:a16="http://schemas.microsoft.com/office/drawing/2014/main" id="{9750D683-0300-1172-CF74-CDF84ACA5C59}"/>
              </a:ext>
            </a:extLst>
          </p:cNvPr>
          <p:cNvSpPr txBox="1"/>
          <p:nvPr/>
        </p:nvSpPr>
        <p:spPr>
          <a:xfrm>
            <a:off x="0" y="4350476"/>
            <a:ext cx="1761067" cy="1384995"/>
          </a:xfrm>
          <a:prstGeom prst="rect">
            <a:avLst/>
          </a:prstGeom>
          <a:solidFill>
            <a:schemeClr val="tx1"/>
          </a:solidFill>
        </p:spPr>
        <p:txBody>
          <a:bodyPr wrap="square" rtlCol="0">
            <a:spAutoFit/>
          </a:bodyPr>
          <a:lstStyle/>
          <a:p>
            <a:r>
              <a:rPr lang="en-US" sz="1200" dirty="0">
                <a:solidFill>
                  <a:srgbClr val="FF0000"/>
                </a:solidFill>
              </a:rPr>
              <a:t>Casos </a:t>
            </a:r>
            <a:r>
              <a:rPr lang="en-US" sz="1200" dirty="0" err="1">
                <a:solidFill>
                  <a:srgbClr val="FF0000"/>
                </a:solidFill>
              </a:rPr>
              <a:t>particulares</a:t>
            </a:r>
            <a:r>
              <a:rPr lang="en-US" sz="1200" dirty="0">
                <a:solidFill>
                  <a:srgbClr val="FF0000"/>
                </a:solidFill>
              </a:rPr>
              <a:t> </a:t>
            </a:r>
            <a:r>
              <a:rPr lang="en-US" sz="1200" dirty="0" err="1">
                <a:solidFill>
                  <a:srgbClr val="FF0000"/>
                </a:solidFill>
              </a:rPr>
              <a:t>en</a:t>
            </a:r>
            <a:r>
              <a:rPr lang="en-US" sz="1200" dirty="0">
                <a:solidFill>
                  <a:srgbClr val="FF0000"/>
                </a:solidFill>
              </a:rPr>
              <a:t> </a:t>
            </a:r>
            <a:r>
              <a:rPr lang="en-US" sz="1200" dirty="0" err="1">
                <a:solidFill>
                  <a:srgbClr val="FF0000"/>
                </a:solidFill>
              </a:rPr>
              <a:t>los</a:t>
            </a:r>
            <a:r>
              <a:rPr lang="en-US" sz="1200" dirty="0">
                <a:solidFill>
                  <a:srgbClr val="FF0000"/>
                </a:solidFill>
              </a:rPr>
              <a:t> que la </a:t>
            </a:r>
            <a:r>
              <a:rPr lang="en-US" sz="1200" dirty="0" err="1">
                <a:solidFill>
                  <a:srgbClr val="FF0000"/>
                </a:solidFill>
              </a:rPr>
              <a:t>aseveracion</a:t>
            </a:r>
            <a:r>
              <a:rPr lang="en-US" sz="1200" dirty="0">
                <a:solidFill>
                  <a:srgbClr val="FF0000"/>
                </a:solidFill>
              </a:rPr>
              <a:t> del </a:t>
            </a:r>
            <a:r>
              <a:rPr lang="en-US" sz="1200" dirty="0" err="1">
                <a:solidFill>
                  <a:srgbClr val="FF0000"/>
                </a:solidFill>
              </a:rPr>
              <a:t>investigador</a:t>
            </a:r>
            <a:r>
              <a:rPr lang="en-US" sz="1200" dirty="0">
                <a:solidFill>
                  <a:srgbClr val="FF0000"/>
                </a:solidFill>
              </a:rPr>
              <a:t> </a:t>
            </a:r>
            <a:r>
              <a:rPr lang="en-US" sz="1200" dirty="0" err="1">
                <a:solidFill>
                  <a:srgbClr val="FF0000"/>
                </a:solidFill>
              </a:rPr>
              <a:t>recae</a:t>
            </a:r>
            <a:r>
              <a:rPr lang="en-US" sz="1200" dirty="0">
                <a:solidFill>
                  <a:srgbClr val="FF0000"/>
                </a:solidFill>
              </a:rPr>
              <a:t> </a:t>
            </a:r>
            <a:r>
              <a:rPr lang="en-US" sz="1200" dirty="0" err="1">
                <a:solidFill>
                  <a:srgbClr val="FF0000"/>
                </a:solidFill>
              </a:rPr>
              <a:t>en</a:t>
            </a:r>
            <a:r>
              <a:rPr lang="en-US" sz="1200" dirty="0">
                <a:solidFill>
                  <a:srgbClr val="FF0000"/>
                </a:solidFill>
              </a:rPr>
              <a:t> la hipotesis </a:t>
            </a:r>
            <a:r>
              <a:rPr lang="en-US" sz="1200" dirty="0" err="1">
                <a:solidFill>
                  <a:srgbClr val="FF0000"/>
                </a:solidFill>
              </a:rPr>
              <a:t>nula</a:t>
            </a:r>
            <a:r>
              <a:rPr lang="en-US" sz="1200" dirty="0">
                <a:solidFill>
                  <a:srgbClr val="FF0000"/>
                </a:solidFill>
              </a:rPr>
              <a:t>, se </a:t>
            </a:r>
            <a:r>
              <a:rPr lang="en-US" sz="1200" dirty="0" err="1">
                <a:solidFill>
                  <a:srgbClr val="FF0000"/>
                </a:solidFill>
              </a:rPr>
              <a:t>busca</a:t>
            </a:r>
            <a:r>
              <a:rPr lang="en-US" sz="1200" i="1" dirty="0">
                <a:solidFill>
                  <a:srgbClr val="FF0000"/>
                </a:solidFill>
              </a:rPr>
              <a:t> </a:t>
            </a:r>
            <a:r>
              <a:rPr lang="en-US" sz="1200" b="1" i="1" dirty="0">
                <a:solidFill>
                  <a:srgbClr val="FF0000"/>
                </a:solidFill>
              </a:rPr>
              <a:t>H</a:t>
            </a:r>
            <a:r>
              <a:rPr lang="en-US" sz="800" b="1" i="1" dirty="0">
                <a:solidFill>
                  <a:srgbClr val="FF0000"/>
                </a:solidFill>
              </a:rPr>
              <a:t>0</a:t>
            </a:r>
            <a:r>
              <a:rPr lang="en-US" sz="1200" dirty="0">
                <a:solidFill>
                  <a:srgbClr val="FF0000"/>
                </a:solidFill>
              </a:rPr>
              <a:t> sea </a:t>
            </a:r>
            <a:r>
              <a:rPr lang="en-US" sz="1200" b="1" dirty="0" err="1">
                <a:solidFill>
                  <a:srgbClr val="FF0000"/>
                </a:solidFill>
              </a:rPr>
              <a:t>aceptada</a:t>
            </a:r>
            <a:r>
              <a:rPr lang="en-US" sz="1200" dirty="0">
                <a:solidFill>
                  <a:srgbClr val="FF0000"/>
                </a:solidFill>
              </a:rPr>
              <a:t> y se </a:t>
            </a:r>
            <a:r>
              <a:rPr lang="en-US" sz="1200" dirty="0" err="1">
                <a:solidFill>
                  <a:srgbClr val="FF0000"/>
                </a:solidFill>
              </a:rPr>
              <a:t>rechace</a:t>
            </a:r>
            <a:r>
              <a:rPr lang="en-US" sz="1200" dirty="0">
                <a:solidFill>
                  <a:srgbClr val="FF0000"/>
                </a:solidFill>
              </a:rPr>
              <a:t> la hipotesis </a:t>
            </a:r>
            <a:r>
              <a:rPr lang="en-US" sz="1200" dirty="0" err="1">
                <a:solidFill>
                  <a:srgbClr val="FF0000"/>
                </a:solidFill>
              </a:rPr>
              <a:t>alterntiva</a:t>
            </a:r>
            <a:r>
              <a:rPr lang="en-US" sz="1200" dirty="0">
                <a:solidFill>
                  <a:srgbClr val="FF0000"/>
                </a:solidFill>
              </a:rPr>
              <a:t>.</a:t>
            </a:r>
          </a:p>
        </p:txBody>
      </p:sp>
      <p:cxnSp>
        <p:nvCxnSpPr>
          <p:cNvPr id="27" name="Straight Arrow Connector 26">
            <a:extLst>
              <a:ext uri="{FF2B5EF4-FFF2-40B4-BE49-F238E27FC236}">
                <a16:creationId xmlns:a16="http://schemas.microsoft.com/office/drawing/2014/main" id="{6B7BA828-83D5-758A-347F-98EFFE8D571A}"/>
              </a:ext>
            </a:extLst>
          </p:cNvPr>
          <p:cNvCxnSpPr>
            <a:cxnSpLocks/>
            <a:stCxn id="26" idx="3"/>
          </p:cNvCxnSpPr>
          <p:nvPr/>
        </p:nvCxnSpPr>
        <p:spPr>
          <a:xfrm flipV="1">
            <a:off x="1761067" y="4736371"/>
            <a:ext cx="277478" cy="30660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C1CB6492-D107-E67B-8989-685C28DC61E4}"/>
              </a:ext>
            </a:extLst>
          </p:cNvPr>
          <p:cNvCxnSpPr>
            <a:cxnSpLocks/>
            <a:stCxn id="26" idx="3"/>
          </p:cNvCxnSpPr>
          <p:nvPr/>
        </p:nvCxnSpPr>
        <p:spPr>
          <a:xfrm>
            <a:off x="1761067" y="5042974"/>
            <a:ext cx="135466" cy="66756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1A31582C-D47C-8988-BB4A-6429F275F040}"/>
              </a:ext>
            </a:extLst>
          </p:cNvPr>
          <p:cNvSpPr/>
          <p:nvPr/>
        </p:nvSpPr>
        <p:spPr>
          <a:xfrm>
            <a:off x="6570133" y="6087533"/>
            <a:ext cx="914400" cy="22045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F9CCA543-A7CC-9365-241E-C5165F1ACEB7}"/>
              </a:ext>
            </a:extLst>
          </p:cNvPr>
          <p:cNvSpPr/>
          <p:nvPr/>
        </p:nvSpPr>
        <p:spPr>
          <a:xfrm>
            <a:off x="6570133" y="5115693"/>
            <a:ext cx="914400" cy="22045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2C1CAB14-B7C4-E194-DDC7-7FC2DAF214F4}"/>
              </a:ext>
            </a:extLst>
          </p:cNvPr>
          <p:cNvSpPr/>
          <p:nvPr/>
        </p:nvSpPr>
        <p:spPr>
          <a:xfrm>
            <a:off x="7515262" y="4114687"/>
            <a:ext cx="914400" cy="22045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082B6D13-FCB8-F94F-93F4-0EABEEC8DD6F}"/>
              </a:ext>
            </a:extLst>
          </p:cNvPr>
          <p:cNvSpPr txBox="1"/>
          <p:nvPr/>
        </p:nvSpPr>
        <p:spPr>
          <a:xfrm>
            <a:off x="67733" y="3465031"/>
            <a:ext cx="1586059" cy="646331"/>
          </a:xfrm>
          <a:prstGeom prst="rect">
            <a:avLst/>
          </a:prstGeom>
          <a:solidFill>
            <a:schemeClr val="tx1"/>
          </a:solidFill>
        </p:spPr>
        <p:txBody>
          <a:bodyPr wrap="square" rtlCol="0">
            <a:spAutoFit/>
          </a:bodyPr>
          <a:lstStyle/>
          <a:p>
            <a:r>
              <a:rPr lang="en-US" sz="1200" dirty="0">
                <a:solidFill>
                  <a:srgbClr val="FF0000"/>
                </a:solidFill>
              </a:rPr>
              <a:t>Se </a:t>
            </a:r>
            <a:r>
              <a:rPr lang="en-US" sz="1200" dirty="0" err="1">
                <a:solidFill>
                  <a:srgbClr val="FF0000"/>
                </a:solidFill>
              </a:rPr>
              <a:t>quiere</a:t>
            </a:r>
            <a:r>
              <a:rPr lang="en-US" sz="1200" dirty="0">
                <a:solidFill>
                  <a:srgbClr val="FF0000"/>
                </a:solidFill>
              </a:rPr>
              <a:t> que la hipotesis alternativa </a:t>
            </a:r>
            <a:r>
              <a:rPr lang="en-US" sz="1200" b="1" dirty="0">
                <a:solidFill>
                  <a:srgbClr val="FF0000"/>
                </a:solidFill>
              </a:rPr>
              <a:t>H</a:t>
            </a:r>
            <a:r>
              <a:rPr lang="en-US" sz="1000" b="1" dirty="0">
                <a:solidFill>
                  <a:srgbClr val="FF0000"/>
                </a:solidFill>
              </a:rPr>
              <a:t>1</a:t>
            </a:r>
            <a:r>
              <a:rPr lang="en-US" sz="1200" dirty="0">
                <a:solidFill>
                  <a:srgbClr val="FF0000"/>
                </a:solidFill>
              </a:rPr>
              <a:t> sea </a:t>
            </a:r>
            <a:r>
              <a:rPr lang="en-US" sz="1200" b="1" dirty="0" err="1">
                <a:solidFill>
                  <a:srgbClr val="FF0000"/>
                </a:solidFill>
              </a:rPr>
              <a:t>aceptada</a:t>
            </a:r>
            <a:endParaRPr lang="en-US" sz="1200" b="1" dirty="0">
              <a:solidFill>
                <a:srgbClr val="FF0000"/>
              </a:solidFill>
            </a:endParaRPr>
          </a:p>
        </p:txBody>
      </p:sp>
    </p:spTree>
    <p:extLst>
      <p:ext uri="{BB962C8B-B14F-4D97-AF65-F5344CB8AC3E}">
        <p14:creationId xmlns:p14="http://schemas.microsoft.com/office/powerpoint/2010/main" val="3851592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circle(in)">
                                      <p:cBhvr>
                                        <p:cTn id="7" dur="20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circle(in)">
                                      <p:cBhvr>
                                        <p:cTn id="12" dur="20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circle(in)">
                                      <p:cBhvr>
                                        <p:cTn id="17" dur="20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circle(in)">
                                      <p:cBhvr>
                                        <p:cTn id="22" dur="20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circle(in)">
                                      <p:cBhvr>
                                        <p:cTn id="2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a:r>
                  <a:rPr lang="es-MX" sz="2400" dirty="0">
                    <a:latin typeface="Times New Roman" panose="02020603050405020304" pitchFamily="18" charset="0"/>
                    <a:ea typeface="Times New Roman" panose="02020603050405020304" pitchFamily="18" charset="0"/>
                    <a:cs typeface="Times New Roman" panose="02020603050405020304" pitchFamily="18" charset="0"/>
                  </a:rPr>
                  <a:t>¿Cómo identificar </a:t>
                </a:r>
                <a14:m>
                  <m:oMath xmlns:m="http://schemas.openxmlformats.org/officeDocument/2006/math">
                    <m:sSub>
                      <m:sSubPr>
                        <m:ctrlPr>
                          <a:rPr lang="es-MX" sz="2400" i="1">
                            <a:latin typeface="Cambria Math" panose="02040503050406030204" pitchFamily="18" charset="0"/>
                            <a:ea typeface="Times New Roman" panose="02020603050405020304" pitchFamily="18" charset="0"/>
                            <a:cs typeface="Times New Roman" panose="02020603050405020304" pitchFamily="18" charset="0"/>
                          </a:rPr>
                        </m:ctrlPr>
                      </m:sSubPr>
                      <m:e>
                        <m:r>
                          <a:rPr lang="es-MX" sz="2400" i="1">
                            <a:latin typeface="Cambria Math" panose="02040503050406030204" pitchFamily="18" charset="0"/>
                            <a:ea typeface="Times New Roman" panose="02020603050405020304" pitchFamily="18" charset="0"/>
                            <a:cs typeface="Times New Roman" panose="02020603050405020304" pitchFamily="18" charset="0"/>
                          </a:rPr>
                          <m:t>𝑯</m:t>
                        </m:r>
                      </m:e>
                      <m:sub>
                        <m:r>
                          <a:rPr lang="es-MX" sz="2400" i="1">
                            <a:latin typeface="Cambria Math" panose="02040503050406030204" pitchFamily="18" charset="0"/>
                            <a:ea typeface="Times New Roman" panose="02020603050405020304" pitchFamily="18" charset="0"/>
                            <a:cs typeface="Times New Roman" panose="02020603050405020304" pitchFamily="18" charset="0"/>
                          </a:rPr>
                          <m:t>𝟎</m:t>
                        </m:r>
                      </m:sub>
                    </m:sSub>
                  </m:oMath>
                </a14:m>
                <a:r>
                  <a:rPr lang="es-MX" sz="2400" dirty="0">
                    <a:latin typeface="Times New Roman" panose="02020603050405020304" pitchFamily="18" charset="0"/>
                    <a:ea typeface="Times New Roman" panose="02020603050405020304" pitchFamily="18" charset="0"/>
                    <a:cs typeface="Times New Roman" panose="02020603050405020304" pitchFamily="18" charset="0"/>
                  </a:rPr>
                  <a:t> y </a:t>
                </a:r>
                <a14:m>
                  <m:oMath xmlns:m="http://schemas.openxmlformats.org/officeDocument/2006/math">
                    <m:sSub>
                      <m:sSubPr>
                        <m:ctrlPr>
                          <a:rPr lang="es-MX" sz="2400" i="1">
                            <a:latin typeface="Cambria Math" panose="02040503050406030204" pitchFamily="18" charset="0"/>
                            <a:ea typeface="Times New Roman" panose="02020603050405020304" pitchFamily="18" charset="0"/>
                            <a:cs typeface="Times New Roman" panose="02020603050405020304" pitchFamily="18" charset="0"/>
                          </a:rPr>
                        </m:ctrlPr>
                      </m:sSubPr>
                      <m:e>
                        <m:r>
                          <a:rPr lang="es-MX" sz="2400" i="1">
                            <a:latin typeface="Cambria Math" panose="02040503050406030204" pitchFamily="18" charset="0"/>
                            <a:ea typeface="Times New Roman" panose="02020603050405020304" pitchFamily="18" charset="0"/>
                            <a:cs typeface="Times New Roman" panose="02020603050405020304" pitchFamily="18" charset="0"/>
                          </a:rPr>
                          <m:t>𝑯</m:t>
                        </m:r>
                      </m:e>
                      <m:sub>
                        <m:r>
                          <a:rPr lang="es-MX" sz="2400" i="1">
                            <a:latin typeface="Cambria Math" panose="02040503050406030204" pitchFamily="18" charset="0"/>
                            <a:ea typeface="Times New Roman" panose="02020603050405020304" pitchFamily="18" charset="0"/>
                            <a:cs typeface="Times New Roman" panose="02020603050405020304" pitchFamily="18" charset="0"/>
                          </a:rPr>
                          <m:t>𝟏</m:t>
                        </m:r>
                      </m:sub>
                    </m:sSub>
                  </m:oMath>
                </a14:m>
                <a:r>
                  <a:rPr lang="es-MX" sz="2400" dirty="0">
                    <a:latin typeface="Times New Roman" panose="02020603050405020304" pitchFamily="18" charset="0"/>
                    <a:ea typeface="Times New Roman" panose="02020603050405020304" pitchFamily="18" charset="0"/>
                    <a:cs typeface="Times New Roman" panose="02020603050405020304" pitchFamily="18" charset="0"/>
                  </a:rPr>
                  <a:t>?</a:t>
                </a:r>
                <a:endParaRPr lang="es-ES" sz="2600" dirty="0">
                  <a:latin typeface="Times New Roman" panose="02020603050405020304" pitchFamily="18" charset="0"/>
                  <a:cs typeface="Times New Roman" panose="02020603050405020304" pitchFamily="18" charset="0"/>
                </a:endParaRPr>
              </a:p>
            </p:txBody>
          </p:sp>
        </mc:Choice>
        <mc:Fallback>
          <p:sp>
            <p:nvSpPr>
              <p:cNvPr id="2" name="Título 1">
                <a:extLst>
                  <a:ext uri="{FF2B5EF4-FFF2-40B4-BE49-F238E27FC236}">
                    <a16:creationId xmlns:a16="http://schemas.microsoft.com/office/drawing/2014/main" id="{8C122DF8-59D4-D94D-8ED9-F2F319899DBF}"/>
                  </a:ext>
                </a:extLst>
              </p:cNvPr>
              <p:cNvSpPr>
                <a:spLocks noGrp="1" noRot="1" noChangeAspect="1" noMove="1" noResize="1" noEditPoints="1" noAdjustHandles="1" noChangeArrowheads="1" noChangeShapeType="1" noTextEdit="1"/>
              </p:cNvSpPr>
              <p:nvPr>
                <p:ph type="title"/>
              </p:nvPr>
            </p:nvSpPr>
            <p:spPr>
              <a:xfrm>
                <a:off x="964022" y="879063"/>
                <a:ext cx="8276908" cy="610863"/>
              </a:xfrm>
              <a:blipFill>
                <a:blip r:embed="rId3"/>
                <a:stretch>
                  <a:fillRect l="-2209" b="-31000"/>
                </a:stretch>
              </a:blipFill>
            </p:spPr>
            <p:txBody>
              <a:bodyPr/>
              <a:lstStyle/>
              <a:p>
                <a:r>
                  <a:rPr lang="en-US">
                    <a:noFill/>
                  </a:rPr>
                  <a:t> </a:t>
                </a:r>
              </a:p>
            </p:txBody>
          </p:sp>
        </mc:Fallback>
      </mc:AlternateContent>
      <p:sp>
        <p:nvSpPr>
          <p:cNvPr id="11" name="CuadroTexto 10">
            <a:extLst>
              <a:ext uri="{FF2B5EF4-FFF2-40B4-BE49-F238E27FC236}">
                <a16:creationId xmlns:a16="http://schemas.microsoft.com/office/drawing/2014/main" id="{F494AF8A-D47C-6E15-F0A8-B546B382BBB9}"/>
              </a:ext>
            </a:extLst>
          </p:cNvPr>
          <p:cNvSpPr txBox="1"/>
          <p:nvPr/>
        </p:nvSpPr>
        <p:spPr>
          <a:xfrm>
            <a:off x="964022" y="2277572"/>
            <a:ext cx="9332916" cy="685059"/>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Actividad: </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Utilice aseveraciones para expresar la hipótesis nula y alternativa en cada uno de los siguientes casos.</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CuadroTexto 2">
            <a:extLst>
              <a:ext uri="{FF2B5EF4-FFF2-40B4-BE49-F238E27FC236}">
                <a16:creationId xmlns:a16="http://schemas.microsoft.com/office/drawing/2014/main" id="{E4DC231C-8615-1F66-5611-7242489FD8D6}"/>
              </a:ext>
            </a:extLst>
          </p:cNvPr>
          <p:cNvSpPr txBox="1"/>
          <p:nvPr/>
        </p:nvSpPr>
        <p:spPr>
          <a:xfrm>
            <a:off x="500379" y="3381323"/>
            <a:ext cx="6760611" cy="368755"/>
          </a:xfrm>
          <a:prstGeom prst="rect">
            <a:avLst/>
          </a:prstGeom>
          <a:ln w="28575"/>
        </p:spPr>
        <p:style>
          <a:lnRef idx="2">
            <a:schemeClr val="accent2"/>
          </a:lnRef>
          <a:fillRef idx="1">
            <a:schemeClr val="lt1"/>
          </a:fillRef>
          <a:effectRef idx="0">
            <a:schemeClr val="accent2"/>
          </a:effectRef>
          <a:fontRef idx="minor">
            <a:schemeClr val="dk1"/>
          </a:fontRef>
        </p:style>
        <p:txBody>
          <a:bodyPr wrap="square" rtlCol="0">
            <a:spAutoFit/>
          </a:bodyPr>
          <a:lstStyle/>
          <a:p>
            <a:pPr marL="0" lvl="0" indent="0" algn="just">
              <a:lnSpc>
                <a:spcPct val="107000"/>
              </a:lnSpc>
              <a:spcAft>
                <a:spcPts val="800"/>
              </a:spcAft>
              <a:buFont typeface="+mj-lt"/>
              <a:buNone/>
            </a:pPr>
            <a:r>
              <a:rPr lang="es-MX" sz="1800" b="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1.</a:t>
            </a:r>
            <a:r>
              <a:rPr lang="es-MX" sz="1800" b="0" baseline="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s-MX" sz="1800" b="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Más del 25% de los usuarios en Internet pagan sus facturas en línea.</a:t>
            </a:r>
          </a:p>
        </p:txBody>
      </p:sp>
      <p:sp>
        <p:nvSpPr>
          <p:cNvPr id="4" name="CuadroTexto 3">
            <a:extLst>
              <a:ext uri="{FF2B5EF4-FFF2-40B4-BE49-F238E27FC236}">
                <a16:creationId xmlns:a16="http://schemas.microsoft.com/office/drawing/2014/main" id="{1FF47733-9779-0BB6-8797-1ECADD20F42C}"/>
              </a:ext>
            </a:extLst>
          </p:cNvPr>
          <p:cNvSpPr txBox="1"/>
          <p:nvPr/>
        </p:nvSpPr>
        <p:spPr>
          <a:xfrm>
            <a:off x="500378" y="4435701"/>
            <a:ext cx="6760611" cy="368755"/>
          </a:xfrm>
          <a:prstGeom prst="rect">
            <a:avLst/>
          </a:prstGeom>
          <a:ln w="28575"/>
        </p:spPr>
        <p:style>
          <a:lnRef idx="2">
            <a:schemeClr val="accent2"/>
          </a:lnRef>
          <a:fillRef idx="1">
            <a:schemeClr val="lt1"/>
          </a:fillRef>
          <a:effectRef idx="0">
            <a:schemeClr val="accent2"/>
          </a:effectRef>
          <a:fontRef idx="minor">
            <a:schemeClr val="dk1"/>
          </a:fontRef>
        </p:style>
        <p:txBody>
          <a:bodyPr wrap="square" rtlCol="0">
            <a:spAutoFit/>
          </a:bodyPr>
          <a:lstStyle/>
          <a:p>
            <a:pPr marL="0" lvl="0" indent="0" algn="just">
              <a:lnSpc>
                <a:spcPct val="107000"/>
              </a:lnSpc>
              <a:spcAft>
                <a:spcPts val="800"/>
              </a:spcAft>
              <a:buFont typeface="+mj-lt"/>
              <a:buNone/>
            </a:pPr>
            <a:r>
              <a:rPr lang="es-MX" sz="1800" b="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2. Los dulces M&amp;M tienen un peso medio de al menos 0.8535 g.</a:t>
            </a:r>
          </a:p>
        </p:txBody>
      </p:sp>
      <p:sp>
        <p:nvSpPr>
          <p:cNvPr id="7" name="CuadroTexto 6">
            <a:extLst>
              <a:ext uri="{FF2B5EF4-FFF2-40B4-BE49-F238E27FC236}">
                <a16:creationId xmlns:a16="http://schemas.microsoft.com/office/drawing/2014/main" id="{9FB63714-1FDC-65AD-F749-3A42C8E78555}"/>
              </a:ext>
            </a:extLst>
          </p:cNvPr>
          <p:cNvSpPr txBox="1"/>
          <p:nvPr/>
        </p:nvSpPr>
        <p:spPr>
          <a:xfrm>
            <a:off x="500378" y="5611689"/>
            <a:ext cx="6760611" cy="961482"/>
          </a:xfrm>
          <a:prstGeom prst="rect">
            <a:avLst/>
          </a:prstGeom>
          <a:ln w="28575"/>
        </p:spPr>
        <p:style>
          <a:lnRef idx="2">
            <a:schemeClr val="accent2"/>
          </a:lnRef>
          <a:fillRef idx="1">
            <a:schemeClr val="lt1"/>
          </a:fillRef>
          <a:effectRef idx="0">
            <a:schemeClr val="accent2"/>
          </a:effectRef>
          <a:fontRef idx="minor">
            <a:schemeClr val="dk1"/>
          </a:fontRef>
        </p:style>
        <p:txBody>
          <a:bodyPr wrap="square" rtlCol="0">
            <a:spAutoFit/>
          </a:bodyPr>
          <a:lstStyle/>
          <a:p>
            <a:pPr marL="0" lvl="0" indent="0" algn="just">
              <a:lnSpc>
                <a:spcPct val="107000"/>
              </a:lnSpc>
              <a:spcAft>
                <a:spcPts val="800"/>
              </a:spcAft>
              <a:buFont typeface="+mj-lt"/>
              <a:buNone/>
            </a:pPr>
            <a:r>
              <a:rPr lang="es-MX" sz="1800" b="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3. Las puntuaciones de CI de profesores universitarios tienen una desviación estándar menor que 15, que es la desviación estándar de la población general.</a:t>
            </a:r>
          </a:p>
        </p:txBody>
      </p:sp>
      <p:pic>
        <p:nvPicPr>
          <p:cNvPr id="9" name="Imagen 8">
            <a:extLst>
              <a:ext uri="{FF2B5EF4-FFF2-40B4-BE49-F238E27FC236}">
                <a16:creationId xmlns:a16="http://schemas.microsoft.com/office/drawing/2014/main" id="{709623F0-CCFC-15B2-D22B-4791CD823AAF}"/>
              </a:ext>
            </a:extLst>
          </p:cNvPr>
          <p:cNvPicPr>
            <a:picLocks noChangeAspect="1"/>
          </p:cNvPicPr>
          <p:nvPr/>
        </p:nvPicPr>
        <p:blipFill>
          <a:blip r:embed="rId4"/>
          <a:stretch>
            <a:fillRect/>
          </a:stretch>
        </p:blipFill>
        <p:spPr>
          <a:xfrm>
            <a:off x="7260989" y="3021725"/>
            <a:ext cx="885655" cy="904876"/>
          </a:xfrm>
          <a:prstGeom prst="rect">
            <a:avLst/>
          </a:prstGeom>
        </p:spPr>
      </p:pic>
      <p:pic>
        <p:nvPicPr>
          <p:cNvPr id="12" name="Imagen 11">
            <a:extLst>
              <a:ext uri="{FF2B5EF4-FFF2-40B4-BE49-F238E27FC236}">
                <a16:creationId xmlns:a16="http://schemas.microsoft.com/office/drawing/2014/main" id="{1EFEF292-C962-6651-F9A4-A9CA70929DCB}"/>
              </a:ext>
            </a:extLst>
          </p:cNvPr>
          <p:cNvPicPr>
            <a:picLocks noChangeAspect="1"/>
          </p:cNvPicPr>
          <p:nvPr/>
        </p:nvPicPr>
        <p:blipFill>
          <a:blip r:embed="rId4"/>
          <a:stretch>
            <a:fillRect/>
          </a:stretch>
        </p:blipFill>
        <p:spPr>
          <a:xfrm>
            <a:off x="7260989" y="4104873"/>
            <a:ext cx="885655" cy="904876"/>
          </a:xfrm>
          <a:prstGeom prst="rect">
            <a:avLst/>
          </a:prstGeom>
        </p:spPr>
      </p:pic>
      <p:pic>
        <p:nvPicPr>
          <p:cNvPr id="5" name="Imagen 11">
            <a:extLst>
              <a:ext uri="{FF2B5EF4-FFF2-40B4-BE49-F238E27FC236}">
                <a16:creationId xmlns:a16="http://schemas.microsoft.com/office/drawing/2014/main" id="{0CC4544F-2F94-311C-DAC1-365DB87ACA21}"/>
              </a:ext>
            </a:extLst>
          </p:cNvPr>
          <p:cNvPicPr>
            <a:picLocks noChangeAspect="1"/>
          </p:cNvPicPr>
          <p:nvPr/>
        </p:nvPicPr>
        <p:blipFill>
          <a:blip r:embed="rId4"/>
          <a:stretch>
            <a:fillRect/>
          </a:stretch>
        </p:blipFill>
        <p:spPr>
          <a:xfrm>
            <a:off x="7260989" y="5597000"/>
            <a:ext cx="885655" cy="904876"/>
          </a:xfrm>
          <a:prstGeom prst="rect">
            <a:avLst/>
          </a:prstGeom>
        </p:spPr>
      </p:pic>
      <p:sp>
        <p:nvSpPr>
          <p:cNvPr id="6" name="TextBox 5">
            <a:extLst>
              <a:ext uri="{FF2B5EF4-FFF2-40B4-BE49-F238E27FC236}">
                <a16:creationId xmlns:a16="http://schemas.microsoft.com/office/drawing/2014/main" id="{6F3577EB-512C-B75A-A008-341ADDD28B65}"/>
              </a:ext>
            </a:extLst>
          </p:cNvPr>
          <p:cNvSpPr txBox="1"/>
          <p:nvPr/>
        </p:nvSpPr>
        <p:spPr>
          <a:xfrm>
            <a:off x="8360396" y="3202873"/>
            <a:ext cx="2857937" cy="830997"/>
          </a:xfrm>
          <a:prstGeom prst="rect">
            <a:avLst/>
          </a:prstGeom>
          <a:solidFill>
            <a:schemeClr val="tx1"/>
          </a:solidFill>
        </p:spPr>
        <p:txBody>
          <a:bodyPr wrap="square" rtlCol="0">
            <a:spAutoFit/>
          </a:bodyPr>
          <a:lstStyle/>
          <a:p>
            <a:pPr marL="228600" indent="-228600">
              <a:buFont typeface="+mj-lt"/>
              <a:buAutoNum type="arabicPeriod"/>
            </a:pPr>
            <a:r>
              <a:rPr lang="en-US" sz="1200" dirty="0">
                <a:solidFill>
                  <a:sysClr val="windowText" lastClr="000000"/>
                </a:solidFill>
              </a:rPr>
              <a:t>p &gt; 0.25</a:t>
            </a:r>
          </a:p>
          <a:p>
            <a:pPr marL="228600" indent="-228600">
              <a:buFont typeface="+mj-lt"/>
              <a:buAutoNum type="arabicPeriod"/>
            </a:pPr>
            <a:r>
              <a:rPr lang="en-US" sz="1200" dirty="0">
                <a:solidFill>
                  <a:sysClr val="windowText" lastClr="000000"/>
                </a:solidFill>
              </a:rPr>
              <a:t>Si p&gt;0.25 </a:t>
            </a:r>
            <a:r>
              <a:rPr lang="en-US" sz="1200" dirty="0" err="1">
                <a:solidFill>
                  <a:sysClr val="windowText" lastClr="000000"/>
                </a:solidFill>
              </a:rPr>
              <a:t>fuera</a:t>
            </a:r>
            <a:r>
              <a:rPr lang="en-US" sz="1200" dirty="0">
                <a:solidFill>
                  <a:sysClr val="windowText" lastClr="000000"/>
                </a:solidFill>
              </a:rPr>
              <a:t> </a:t>
            </a:r>
            <a:r>
              <a:rPr lang="en-US" sz="1200" dirty="0" err="1">
                <a:solidFill>
                  <a:sysClr val="windowText" lastClr="000000"/>
                </a:solidFill>
              </a:rPr>
              <a:t>falso</a:t>
            </a:r>
            <a:r>
              <a:rPr lang="en-US" sz="1200" dirty="0">
                <a:solidFill>
                  <a:sysClr val="windowText" lastClr="000000"/>
                </a:solidFill>
              </a:rPr>
              <a:t>, </a:t>
            </a:r>
            <a:r>
              <a:rPr lang="en-US" sz="1200" dirty="0" err="1">
                <a:solidFill>
                  <a:sysClr val="windowText" lastClr="000000"/>
                </a:solidFill>
              </a:rPr>
              <a:t>entonces</a:t>
            </a:r>
            <a:r>
              <a:rPr lang="en-US" sz="1200" dirty="0">
                <a:solidFill>
                  <a:sysClr val="windowText" lastClr="000000"/>
                </a:solidFill>
              </a:rPr>
              <a:t> p&lt;=0.25 seria </a:t>
            </a:r>
            <a:r>
              <a:rPr lang="en-US" sz="1200" dirty="0" err="1">
                <a:solidFill>
                  <a:sysClr val="windowText" lastClr="000000"/>
                </a:solidFill>
              </a:rPr>
              <a:t>verdadero</a:t>
            </a:r>
            <a:r>
              <a:rPr lang="en-US" sz="1200" dirty="0">
                <a:solidFill>
                  <a:sysClr val="windowText" lastClr="000000"/>
                </a:solidFill>
              </a:rPr>
              <a:t>.</a:t>
            </a:r>
          </a:p>
          <a:p>
            <a:pPr marL="228600" indent="-228600">
              <a:buFont typeface="+mj-lt"/>
              <a:buAutoNum type="arabicPeriod"/>
            </a:pPr>
            <a:r>
              <a:rPr lang="en-US" sz="1200" dirty="0">
                <a:solidFill>
                  <a:sysClr val="windowText" lastClr="000000"/>
                </a:solidFill>
              </a:rPr>
              <a:t>H0: p&lt;=0.25, </a:t>
            </a:r>
            <a:r>
              <a:rPr lang="en-US" sz="1200" b="1" dirty="0">
                <a:solidFill>
                  <a:sysClr val="windowText" lastClr="000000"/>
                </a:solidFill>
              </a:rPr>
              <a:t>H1: p&gt;0.25</a:t>
            </a:r>
          </a:p>
        </p:txBody>
      </p:sp>
      <p:sp>
        <p:nvSpPr>
          <p:cNvPr id="14" name="TextBox 13">
            <a:extLst>
              <a:ext uri="{FF2B5EF4-FFF2-40B4-BE49-F238E27FC236}">
                <a16:creationId xmlns:a16="http://schemas.microsoft.com/office/drawing/2014/main" id="{8AB22306-B55A-549F-F3B2-BB9A776799C5}"/>
              </a:ext>
            </a:extLst>
          </p:cNvPr>
          <p:cNvSpPr txBox="1"/>
          <p:nvPr/>
        </p:nvSpPr>
        <p:spPr>
          <a:xfrm>
            <a:off x="8360396" y="4274112"/>
            <a:ext cx="2857937" cy="830997"/>
          </a:xfrm>
          <a:prstGeom prst="rect">
            <a:avLst/>
          </a:prstGeom>
          <a:solidFill>
            <a:schemeClr val="tx1"/>
          </a:solidFill>
        </p:spPr>
        <p:txBody>
          <a:bodyPr wrap="square" rtlCol="0">
            <a:spAutoFit/>
          </a:bodyPr>
          <a:lstStyle/>
          <a:p>
            <a:pPr marL="228600" indent="-228600">
              <a:buFont typeface="+mj-lt"/>
              <a:buAutoNum type="arabicPeriod"/>
            </a:pPr>
            <a:r>
              <a:rPr lang="en-US" sz="1200" dirty="0">
                <a:solidFill>
                  <a:sysClr val="windowText" lastClr="000000"/>
                </a:solidFill>
              </a:rPr>
              <a:t>p&gt;=0.8535</a:t>
            </a:r>
          </a:p>
          <a:p>
            <a:pPr marL="228600" indent="-228600">
              <a:buFont typeface="+mj-lt"/>
              <a:buAutoNum type="arabicPeriod"/>
            </a:pPr>
            <a:r>
              <a:rPr lang="en-US" sz="1200" dirty="0">
                <a:solidFill>
                  <a:sysClr val="windowText" lastClr="000000"/>
                </a:solidFill>
              </a:rPr>
              <a:t>Si p&gt;=0.8535 </a:t>
            </a:r>
            <a:r>
              <a:rPr lang="en-US" sz="1200" dirty="0" err="1">
                <a:solidFill>
                  <a:sysClr val="windowText" lastClr="000000"/>
                </a:solidFill>
              </a:rPr>
              <a:t>fuera</a:t>
            </a:r>
            <a:r>
              <a:rPr lang="en-US" sz="1200" dirty="0">
                <a:solidFill>
                  <a:sysClr val="windowText" lastClr="000000"/>
                </a:solidFill>
              </a:rPr>
              <a:t> </a:t>
            </a:r>
            <a:r>
              <a:rPr lang="en-US" sz="1200" dirty="0" err="1">
                <a:solidFill>
                  <a:sysClr val="windowText" lastClr="000000"/>
                </a:solidFill>
              </a:rPr>
              <a:t>falso</a:t>
            </a:r>
            <a:r>
              <a:rPr lang="en-US" sz="1200" dirty="0">
                <a:solidFill>
                  <a:sysClr val="windowText" lastClr="000000"/>
                </a:solidFill>
              </a:rPr>
              <a:t>, </a:t>
            </a:r>
            <a:r>
              <a:rPr lang="en-US" sz="1200" dirty="0" err="1">
                <a:solidFill>
                  <a:sysClr val="windowText" lastClr="000000"/>
                </a:solidFill>
              </a:rPr>
              <a:t>entonces</a:t>
            </a:r>
            <a:r>
              <a:rPr lang="en-US" sz="1200" dirty="0">
                <a:solidFill>
                  <a:sysClr val="windowText" lastClr="000000"/>
                </a:solidFill>
              </a:rPr>
              <a:t> p&lt;0.8535 seria </a:t>
            </a:r>
            <a:r>
              <a:rPr lang="en-US" sz="1200" dirty="0" err="1">
                <a:solidFill>
                  <a:sysClr val="windowText" lastClr="000000"/>
                </a:solidFill>
              </a:rPr>
              <a:t>verdadero</a:t>
            </a:r>
            <a:endParaRPr lang="en-US" sz="1200" dirty="0">
              <a:solidFill>
                <a:sysClr val="windowText" lastClr="000000"/>
              </a:solidFill>
            </a:endParaRPr>
          </a:p>
          <a:p>
            <a:pPr marL="228600" indent="-228600">
              <a:buFont typeface="+mj-lt"/>
              <a:buAutoNum type="arabicPeriod"/>
            </a:pPr>
            <a:r>
              <a:rPr lang="en-US" sz="1200" b="1" dirty="0">
                <a:solidFill>
                  <a:sysClr val="windowText" lastClr="000000"/>
                </a:solidFill>
              </a:rPr>
              <a:t>H0: p&gt;=0.8535, </a:t>
            </a:r>
            <a:r>
              <a:rPr lang="en-US" sz="1200" dirty="0">
                <a:solidFill>
                  <a:sysClr val="windowText" lastClr="000000"/>
                </a:solidFill>
              </a:rPr>
              <a:t>H1: p&lt;0.8535</a:t>
            </a:r>
            <a:endParaRPr lang="en-US" sz="1200" b="1" dirty="0">
              <a:solidFill>
                <a:sysClr val="windowText" lastClr="000000"/>
              </a:solidFill>
            </a:endParaRPr>
          </a:p>
        </p:txBody>
      </p:sp>
      <p:sp>
        <p:nvSpPr>
          <p:cNvPr id="15" name="TextBox 14">
            <a:extLst>
              <a:ext uri="{FF2B5EF4-FFF2-40B4-BE49-F238E27FC236}">
                <a16:creationId xmlns:a16="http://schemas.microsoft.com/office/drawing/2014/main" id="{E968DE17-272D-5E33-F37F-8ECF65C62573}"/>
              </a:ext>
            </a:extLst>
          </p:cNvPr>
          <p:cNvSpPr txBox="1"/>
          <p:nvPr/>
        </p:nvSpPr>
        <p:spPr>
          <a:xfrm>
            <a:off x="8360396" y="5484845"/>
            <a:ext cx="2857937" cy="830997"/>
          </a:xfrm>
          <a:prstGeom prst="rect">
            <a:avLst/>
          </a:prstGeom>
          <a:solidFill>
            <a:schemeClr val="tx1"/>
          </a:solidFill>
        </p:spPr>
        <p:txBody>
          <a:bodyPr wrap="square" rtlCol="0">
            <a:spAutoFit/>
          </a:bodyPr>
          <a:lstStyle/>
          <a:p>
            <a:pPr marL="228600" indent="-228600">
              <a:buFont typeface="+mj-lt"/>
              <a:buAutoNum type="arabicPeriod"/>
            </a:pPr>
            <a:r>
              <a:rPr lang="en-US" sz="1200" dirty="0">
                <a:solidFill>
                  <a:sysClr val="windowText" lastClr="000000"/>
                </a:solidFill>
              </a:rPr>
              <a:t>p&lt;0.15</a:t>
            </a:r>
          </a:p>
          <a:p>
            <a:pPr marL="228600" indent="-228600">
              <a:buFont typeface="+mj-lt"/>
              <a:buAutoNum type="arabicPeriod"/>
            </a:pPr>
            <a:r>
              <a:rPr lang="en-US" sz="1200" dirty="0">
                <a:solidFill>
                  <a:sysClr val="windowText" lastClr="000000"/>
                </a:solidFill>
              </a:rPr>
              <a:t>Si p&lt;0.15 </a:t>
            </a:r>
            <a:r>
              <a:rPr lang="en-US" sz="1200" dirty="0" err="1">
                <a:solidFill>
                  <a:sysClr val="windowText" lastClr="000000"/>
                </a:solidFill>
              </a:rPr>
              <a:t>fuera</a:t>
            </a:r>
            <a:r>
              <a:rPr lang="en-US" sz="1200" dirty="0">
                <a:solidFill>
                  <a:sysClr val="windowText" lastClr="000000"/>
                </a:solidFill>
              </a:rPr>
              <a:t> falsa, </a:t>
            </a:r>
            <a:r>
              <a:rPr lang="en-US" sz="1200" dirty="0" err="1">
                <a:solidFill>
                  <a:sysClr val="windowText" lastClr="000000"/>
                </a:solidFill>
              </a:rPr>
              <a:t>entonces</a:t>
            </a:r>
            <a:r>
              <a:rPr lang="en-US" sz="1200" dirty="0">
                <a:solidFill>
                  <a:sysClr val="windowText" lastClr="000000"/>
                </a:solidFill>
              </a:rPr>
              <a:t> p&gt;=0.15 seria </a:t>
            </a:r>
            <a:r>
              <a:rPr lang="en-US" sz="1200" dirty="0" err="1">
                <a:solidFill>
                  <a:sysClr val="windowText" lastClr="000000"/>
                </a:solidFill>
              </a:rPr>
              <a:t>verdadera</a:t>
            </a:r>
            <a:endParaRPr lang="en-US" sz="1200" dirty="0">
              <a:solidFill>
                <a:sysClr val="windowText" lastClr="000000"/>
              </a:solidFill>
            </a:endParaRPr>
          </a:p>
          <a:p>
            <a:pPr marL="228600" indent="-228600">
              <a:buFont typeface="+mj-lt"/>
              <a:buAutoNum type="arabicPeriod"/>
            </a:pPr>
            <a:r>
              <a:rPr lang="en-US" sz="1200" dirty="0">
                <a:solidFill>
                  <a:sysClr val="windowText" lastClr="000000"/>
                </a:solidFill>
              </a:rPr>
              <a:t>H1: p&gt;=0.15 , </a:t>
            </a:r>
            <a:r>
              <a:rPr lang="en-US" sz="1200" b="1" dirty="0">
                <a:solidFill>
                  <a:sysClr val="windowText" lastClr="000000"/>
                </a:solidFill>
              </a:rPr>
              <a:t>H1: p&lt;0.15</a:t>
            </a:r>
          </a:p>
        </p:txBody>
      </p:sp>
      <p:sp>
        <p:nvSpPr>
          <p:cNvPr id="16" name="Rectangle 15">
            <a:extLst>
              <a:ext uri="{FF2B5EF4-FFF2-40B4-BE49-F238E27FC236}">
                <a16:creationId xmlns:a16="http://schemas.microsoft.com/office/drawing/2014/main" id="{F4EFAC6D-ED00-AFBD-63E5-035297D1B00A}"/>
              </a:ext>
            </a:extLst>
          </p:cNvPr>
          <p:cNvSpPr/>
          <p:nvPr/>
        </p:nvSpPr>
        <p:spPr>
          <a:xfrm>
            <a:off x="9572662" y="3813414"/>
            <a:ext cx="914400" cy="22045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ADB5342-250F-F91F-FBCF-81EEE91FB3CE}"/>
              </a:ext>
            </a:extLst>
          </p:cNvPr>
          <p:cNvSpPr/>
          <p:nvPr/>
        </p:nvSpPr>
        <p:spPr>
          <a:xfrm>
            <a:off x="8658261" y="4884653"/>
            <a:ext cx="1086871" cy="22045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B9033BD-682D-A93A-44F4-1907EDA173C6}"/>
              </a:ext>
            </a:extLst>
          </p:cNvPr>
          <p:cNvSpPr/>
          <p:nvPr/>
        </p:nvSpPr>
        <p:spPr>
          <a:xfrm>
            <a:off x="9572662" y="6076992"/>
            <a:ext cx="914400" cy="22045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CF64298A-B732-D1D6-40FC-1489AE6A3DF1}"/>
              </a:ext>
            </a:extLst>
          </p:cNvPr>
          <p:cNvSpPr txBox="1"/>
          <p:nvPr/>
        </p:nvSpPr>
        <p:spPr>
          <a:xfrm>
            <a:off x="10605941" y="6396335"/>
            <a:ext cx="1586059" cy="461665"/>
          </a:xfrm>
          <a:prstGeom prst="rect">
            <a:avLst/>
          </a:prstGeom>
          <a:solidFill>
            <a:schemeClr val="tx1"/>
          </a:solidFill>
          <a:ln>
            <a:solidFill>
              <a:srgbClr val="FF0000"/>
            </a:solidFill>
          </a:ln>
        </p:spPr>
        <p:txBody>
          <a:bodyPr wrap="square" rtlCol="0">
            <a:spAutoFit/>
          </a:bodyPr>
          <a:lstStyle/>
          <a:p>
            <a:r>
              <a:rPr lang="en-US" sz="1200" dirty="0">
                <a:solidFill>
                  <a:srgbClr val="FF0000"/>
                </a:solidFill>
              </a:rPr>
              <a:t>La hipotesis que se </a:t>
            </a:r>
            <a:r>
              <a:rPr lang="en-US" sz="1200" dirty="0" err="1">
                <a:solidFill>
                  <a:srgbClr val="FF0000"/>
                </a:solidFill>
              </a:rPr>
              <a:t>desea</a:t>
            </a:r>
            <a:r>
              <a:rPr lang="en-US" sz="1200" dirty="0">
                <a:solidFill>
                  <a:srgbClr val="FF0000"/>
                </a:solidFill>
              </a:rPr>
              <a:t> sea </a:t>
            </a:r>
            <a:r>
              <a:rPr lang="en-US" sz="1200" dirty="0" err="1">
                <a:solidFill>
                  <a:srgbClr val="FF0000"/>
                </a:solidFill>
              </a:rPr>
              <a:t>aceptada</a:t>
            </a:r>
            <a:endParaRPr lang="en-US" sz="1200" b="1" dirty="0">
              <a:solidFill>
                <a:srgbClr val="FF0000"/>
              </a:solidFill>
            </a:endParaRPr>
          </a:p>
        </p:txBody>
      </p:sp>
    </p:spTree>
    <p:extLst>
      <p:ext uri="{BB962C8B-B14F-4D97-AF65-F5344CB8AC3E}">
        <p14:creationId xmlns:p14="http://schemas.microsoft.com/office/powerpoint/2010/main" val="63076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a:r>
              <a:rPr lang="es-MX" sz="2400" dirty="0">
                <a:latin typeface="Times New Roman" panose="02020603050405020304" pitchFamily="18" charset="0"/>
                <a:ea typeface="Times New Roman" panose="02020603050405020304" pitchFamily="18" charset="0"/>
                <a:cs typeface="Times New Roman" panose="02020603050405020304" pitchFamily="18" charset="0"/>
              </a:rPr>
              <a:t>Estadísticos de Prueba</a:t>
            </a:r>
            <a:endParaRPr lang="es-ES" sz="26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1" name="CuadroTexto 10">
                <a:extLst>
                  <a:ext uri="{FF2B5EF4-FFF2-40B4-BE49-F238E27FC236}">
                    <a16:creationId xmlns:a16="http://schemas.microsoft.com/office/drawing/2014/main" id="{F494AF8A-D47C-6E15-F0A8-B546B382BBB9}"/>
                  </a:ext>
                </a:extLst>
              </p:cNvPr>
              <p:cNvSpPr txBox="1"/>
              <p:nvPr/>
            </p:nvSpPr>
            <p:spPr>
              <a:xfrm>
                <a:off x="964022" y="2277572"/>
                <a:ext cx="9332916" cy="1263166"/>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El </a:t>
                </a:r>
                <a:r>
                  <a:rPr lang="es-MX" b="1" i="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estadístico de prueba </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es un valor que se utiliza para tomar la decisión sobre la hipótesis nula, y se calcula convirtiendo al estadístico </a:t>
                </a:r>
                <a:r>
                  <a:rPr lang="es-MX" dirty="0" err="1">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muestral</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(como la </a:t>
                </a:r>
                <a:r>
                  <a:rPr lang="es-MX"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proporción</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a:t>
                </a:r>
                <a:r>
                  <a:rPr lang="es-MX" b="1" dirty="0" err="1">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muestral</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acc>
                      <m:accPr>
                        <m:chr m:val="̂"/>
                        <m:ctrlP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ctrlPr>
                      </m:accPr>
                      <m:e>
                        <m:r>
                          <a:rPr lang="es-MX" b="1"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𝒑</m:t>
                        </m:r>
                      </m:e>
                    </m:acc>
                  </m:oMath>
                </a14:m>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la </a:t>
                </a:r>
                <a:r>
                  <a:rPr lang="es-MX"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media</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a:t>
                </a:r>
                <a:r>
                  <a:rPr lang="es-MX" b="1" dirty="0" err="1">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muestral</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acc>
                      <m:accPr>
                        <m:chr m:val="̅"/>
                        <m:ctrlP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ctrlPr>
                      </m:accPr>
                      <m:e>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𝑥</m:t>
                        </m:r>
                      </m:e>
                    </m:acc>
                  </m:oMath>
                </a14:m>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o la </a:t>
                </a:r>
                <a:r>
                  <a:rPr lang="es-MX"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desviación estándar </a:t>
                </a:r>
                <a:r>
                  <a:rPr lang="es-MX" b="1" dirty="0" err="1">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muestral</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r>
                      <a:rPr lang="es-MX" b="1"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𝒔</m:t>
                    </m:r>
                  </m:oMath>
                </a14:m>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en una puntuación (como </a:t>
                </a:r>
                <a14:m>
                  <m:oMath xmlns:m="http://schemas.openxmlformats.org/officeDocument/2006/math">
                    <m:r>
                      <a:rPr lang="es-MX" b="1" i="1" smtClean="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𝒛</m:t>
                    </m:r>
                    <m:r>
                      <a:rPr lang="es-MX" b="1" i="1" smtClean="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 </m:t>
                    </m:r>
                    <m:r>
                      <a:rPr lang="es-MX" b="1" i="1" smtClean="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𝒕</m:t>
                    </m:r>
                    <m:r>
                      <a:rPr lang="es-MX" b="1" i="0" smtClean="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s-MX" b="1" i="1">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ctrlPr>
                      </m:sSupPr>
                      <m:e>
                        <m:r>
                          <a:rPr lang="es-MX" b="1" i="1">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𝝌</m:t>
                        </m:r>
                      </m:e>
                      <m:sup>
                        <m:r>
                          <a:rPr lang="es-MX" b="1" i="1">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𝟐</m:t>
                        </m:r>
                      </m:sup>
                    </m:sSup>
                  </m:oMath>
                </a14:m>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a:t>
                </a:r>
                <a:r>
                  <a:rPr lang="es-MX"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bajo el supuesto de que la hipótesis nula es verdadera. </a:t>
                </a:r>
                <a:endParaRPr lang="es-MX" sz="16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p:sp>
            <p:nvSpPr>
              <p:cNvPr id="11" name="CuadroTexto 10">
                <a:extLst>
                  <a:ext uri="{FF2B5EF4-FFF2-40B4-BE49-F238E27FC236}">
                    <a16:creationId xmlns:a16="http://schemas.microsoft.com/office/drawing/2014/main" id="{F494AF8A-D47C-6E15-F0A8-B546B382BBB9}"/>
                  </a:ext>
                </a:extLst>
              </p:cNvPr>
              <p:cNvSpPr txBox="1">
                <a:spLocks noRot="1" noChangeAspect="1" noMove="1" noResize="1" noEditPoints="1" noAdjustHandles="1" noChangeArrowheads="1" noChangeShapeType="1" noTextEdit="1"/>
              </p:cNvSpPr>
              <p:nvPr/>
            </p:nvSpPr>
            <p:spPr>
              <a:xfrm>
                <a:off x="964022" y="2277572"/>
                <a:ext cx="9332916" cy="1263166"/>
              </a:xfrm>
              <a:prstGeom prst="rect">
                <a:avLst/>
              </a:prstGeom>
              <a:blipFill>
                <a:blip r:embed="rId3"/>
                <a:stretch>
                  <a:fillRect l="-457" t="-2392" r="-522" b="-6699"/>
                </a:stretch>
              </a:blipFill>
              <a:ln>
                <a:solidFill>
                  <a:schemeClr val="tx1">
                    <a:lumMod val="85000"/>
                  </a:schemeClr>
                </a:solidFill>
              </a:ln>
            </p:spPr>
            <p:txBody>
              <a:bodyPr/>
              <a:lstStyle/>
              <a:p>
                <a:r>
                  <a:rPr lang="en-US">
                    <a:noFill/>
                  </a:rPr>
                  <a:t> </a:t>
                </a:r>
              </a:p>
            </p:txBody>
          </p:sp>
        </mc:Fallback>
      </mc:AlternateContent>
      <p:pic>
        <p:nvPicPr>
          <p:cNvPr id="4" name="Imagen 3"/>
          <p:cNvPicPr>
            <a:picLocks noChangeAspect="1"/>
          </p:cNvPicPr>
          <p:nvPr/>
        </p:nvPicPr>
        <p:blipFill>
          <a:blip r:embed="rId4"/>
          <a:stretch>
            <a:fillRect/>
          </a:stretch>
        </p:blipFill>
        <p:spPr>
          <a:xfrm>
            <a:off x="67732" y="3615268"/>
            <a:ext cx="9006035" cy="3149600"/>
          </a:xfrm>
          <a:prstGeom prst="rect">
            <a:avLst/>
          </a:prstGeom>
        </p:spPr>
      </p:pic>
      <p:sp>
        <p:nvSpPr>
          <p:cNvPr id="3" name="TextBox 2">
            <a:extLst>
              <a:ext uri="{FF2B5EF4-FFF2-40B4-BE49-F238E27FC236}">
                <a16:creationId xmlns:a16="http://schemas.microsoft.com/office/drawing/2014/main" id="{68F95522-A369-8F12-4FCB-62C1B5CF10AC}"/>
              </a:ext>
            </a:extLst>
          </p:cNvPr>
          <p:cNvSpPr txBox="1"/>
          <p:nvPr/>
        </p:nvSpPr>
        <p:spPr>
          <a:xfrm>
            <a:off x="8348133" y="3713662"/>
            <a:ext cx="3843867" cy="1061829"/>
          </a:xfrm>
          <a:prstGeom prst="rect">
            <a:avLst/>
          </a:prstGeom>
          <a:noFill/>
        </p:spPr>
        <p:txBody>
          <a:bodyPr wrap="square" rtlCol="0">
            <a:spAutoFit/>
          </a:bodyPr>
          <a:lstStyle/>
          <a:p>
            <a:r>
              <a:rPr lang="en-US" sz="1050" dirty="0" err="1">
                <a:solidFill>
                  <a:schemeClr val="bg1"/>
                </a:solidFill>
              </a:rPr>
              <a:t>Puntuacion</a:t>
            </a:r>
            <a:r>
              <a:rPr lang="en-US" sz="1050" dirty="0">
                <a:solidFill>
                  <a:schemeClr val="bg1"/>
                </a:solidFill>
              </a:rPr>
              <a:t> </a:t>
            </a:r>
            <a:r>
              <a:rPr lang="en-US" sz="1050" b="1" dirty="0">
                <a:solidFill>
                  <a:schemeClr val="bg1"/>
                </a:solidFill>
              </a:rPr>
              <a:t>Z</a:t>
            </a:r>
            <a:r>
              <a:rPr lang="en-US" sz="1050" dirty="0">
                <a:solidFill>
                  <a:schemeClr val="bg1"/>
                </a:solidFill>
              </a:rPr>
              <a:t> </a:t>
            </a:r>
            <a:r>
              <a:rPr lang="en-US" sz="1050" dirty="0" err="1">
                <a:solidFill>
                  <a:schemeClr val="bg1"/>
                </a:solidFill>
              </a:rPr>
              <a:t>si</a:t>
            </a:r>
            <a:r>
              <a:rPr lang="en-US" sz="1050" dirty="0">
                <a:solidFill>
                  <a:schemeClr val="bg1"/>
                </a:solidFill>
              </a:rPr>
              <a:t> es que se </a:t>
            </a:r>
            <a:r>
              <a:rPr lang="en-US" sz="1050" dirty="0" err="1">
                <a:solidFill>
                  <a:schemeClr val="bg1"/>
                </a:solidFill>
              </a:rPr>
              <a:t>va</a:t>
            </a:r>
            <a:r>
              <a:rPr lang="en-US" sz="1050" dirty="0">
                <a:solidFill>
                  <a:schemeClr val="bg1"/>
                </a:solidFill>
              </a:rPr>
              <a:t> a usar </a:t>
            </a:r>
            <a:r>
              <a:rPr lang="en-US" sz="1050" dirty="0" err="1">
                <a:solidFill>
                  <a:schemeClr val="bg1"/>
                </a:solidFill>
              </a:rPr>
              <a:t>una</a:t>
            </a:r>
            <a:r>
              <a:rPr lang="en-US" sz="1050" dirty="0">
                <a:solidFill>
                  <a:schemeClr val="bg1"/>
                </a:solidFill>
              </a:rPr>
              <a:t> </a:t>
            </a:r>
            <a:r>
              <a:rPr lang="en-US" sz="1050" dirty="0" err="1">
                <a:solidFill>
                  <a:schemeClr val="bg1"/>
                </a:solidFill>
              </a:rPr>
              <a:t>Distribucion</a:t>
            </a:r>
            <a:r>
              <a:rPr lang="en-US" sz="1050" dirty="0">
                <a:solidFill>
                  <a:schemeClr val="bg1"/>
                </a:solidFill>
              </a:rPr>
              <a:t> normal.</a:t>
            </a:r>
          </a:p>
          <a:p>
            <a:r>
              <a:rPr lang="en-US" sz="1050" b="1" dirty="0">
                <a:solidFill>
                  <a:schemeClr val="bg1"/>
                </a:solidFill>
              </a:rPr>
              <a:t>p^ </a:t>
            </a:r>
            <a:r>
              <a:rPr lang="en-US" sz="1050" dirty="0" err="1">
                <a:solidFill>
                  <a:schemeClr val="bg1"/>
                </a:solidFill>
              </a:rPr>
              <a:t>representa</a:t>
            </a:r>
            <a:r>
              <a:rPr lang="en-US" sz="1050" dirty="0">
                <a:solidFill>
                  <a:schemeClr val="bg1"/>
                </a:solidFill>
              </a:rPr>
              <a:t> la </a:t>
            </a:r>
            <a:r>
              <a:rPr lang="en-US" sz="1050" dirty="0" err="1">
                <a:solidFill>
                  <a:schemeClr val="bg1"/>
                </a:solidFill>
              </a:rPr>
              <a:t>proporcion</a:t>
            </a:r>
            <a:r>
              <a:rPr lang="en-US" sz="1050" dirty="0">
                <a:solidFill>
                  <a:schemeClr val="bg1"/>
                </a:solidFill>
              </a:rPr>
              <a:t> </a:t>
            </a:r>
            <a:r>
              <a:rPr lang="en-US" sz="1050" dirty="0" err="1">
                <a:solidFill>
                  <a:schemeClr val="bg1"/>
                </a:solidFill>
              </a:rPr>
              <a:t>muestral</a:t>
            </a:r>
            <a:r>
              <a:rPr lang="en-US" sz="1050" dirty="0">
                <a:solidFill>
                  <a:schemeClr val="bg1"/>
                </a:solidFill>
              </a:rPr>
              <a:t>, es </a:t>
            </a:r>
            <a:r>
              <a:rPr lang="en-US" sz="1050" dirty="0" err="1">
                <a:solidFill>
                  <a:schemeClr val="bg1"/>
                </a:solidFill>
              </a:rPr>
              <a:t>decir</a:t>
            </a:r>
            <a:r>
              <a:rPr lang="en-US" sz="1050" dirty="0">
                <a:solidFill>
                  <a:schemeClr val="bg1"/>
                </a:solidFill>
              </a:rPr>
              <a:t> la </a:t>
            </a:r>
            <a:r>
              <a:rPr lang="en-US" sz="1050" dirty="0" err="1">
                <a:solidFill>
                  <a:schemeClr val="bg1"/>
                </a:solidFill>
              </a:rPr>
              <a:t>cantidad</a:t>
            </a:r>
            <a:r>
              <a:rPr lang="en-US" sz="1050" dirty="0">
                <a:solidFill>
                  <a:schemeClr val="bg1"/>
                </a:solidFill>
              </a:rPr>
              <a:t> de </a:t>
            </a:r>
            <a:r>
              <a:rPr lang="en-US" sz="1050" dirty="0" err="1">
                <a:solidFill>
                  <a:schemeClr val="bg1"/>
                </a:solidFill>
              </a:rPr>
              <a:t>individuos</a:t>
            </a:r>
            <a:r>
              <a:rPr lang="en-US" sz="1050" dirty="0">
                <a:solidFill>
                  <a:schemeClr val="bg1"/>
                </a:solidFill>
              </a:rPr>
              <a:t> que </a:t>
            </a:r>
            <a:r>
              <a:rPr lang="en-US" sz="1050" dirty="0" err="1">
                <a:solidFill>
                  <a:schemeClr val="bg1"/>
                </a:solidFill>
              </a:rPr>
              <a:t>cumplen</a:t>
            </a:r>
            <a:r>
              <a:rPr lang="en-US" sz="1050" dirty="0">
                <a:solidFill>
                  <a:schemeClr val="bg1"/>
                </a:solidFill>
              </a:rPr>
              <a:t> la </a:t>
            </a:r>
            <a:r>
              <a:rPr lang="en-US" sz="1050" dirty="0" err="1">
                <a:solidFill>
                  <a:schemeClr val="bg1"/>
                </a:solidFill>
              </a:rPr>
              <a:t>caracteristica</a:t>
            </a:r>
            <a:r>
              <a:rPr lang="en-US" sz="1050" dirty="0">
                <a:solidFill>
                  <a:schemeClr val="bg1"/>
                </a:solidFill>
              </a:rPr>
              <a:t> de ser o la </a:t>
            </a:r>
            <a:r>
              <a:rPr lang="en-US" sz="1050" dirty="0" err="1">
                <a:solidFill>
                  <a:schemeClr val="bg1"/>
                </a:solidFill>
              </a:rPr>
              <a:t>cantidad</a:t>
            </a:r>
            <a:r>
              <a:rPr lang="en-US" sz="1050" dirty="0">
                <a:solidFill>
                  <a:schemeClr val="bg1"/>
                </a:solidFill>
              </a:rPr>
              <a:t> de </a:t>
            </a:r>
            <a:r>
              <a:rPr lang="en-US" sz="1050" dirty="0" err="1">
                <a:solidFill>
                  <a:schemeClr val="bg1"/>
                </a:solidFill>
              </a:rPr>
              <a:t>exitos</a:t>
            </a:r>
            <a:r>
              <a:rPr lang="en-US" sz="1050" dirty="0">
                <a:solidFill>
                  <a:schemeClr val="bg1"/>
                </a:solidFill>
              </a:rPr>
              <a:t> que </a:t>
            </a:r>
            <a:r>
              <a:rPr lang="en-US" sz="1050" dirty="0" err="1">
                <a:solidFill>
                  <a:schemeClr val="bg1"/>
                </a:solidFill>
              </a:rPr>
              <a:t>tienes</a:t>
            </a:r>
            <a:r>
              <a:rPr lang="en-US" sz="1050" dirty="0">
                <a:solidFill>
                  <a:schemeClr val="bg1"/>
                </a:solidFill>
              </a:rPr>
              <a:t> </a:t>
            </a:r>
            <a:r>
              <a:rPr lang="en-US" sz="1050" dirty="0" err="1">
                <a:solidFill>
                  <a:schemeClr val="bg1"/>
                </a:solidFill>
              </a:rPr>
              <a:t>en</a:t>
            </a:r>
            <a:r>
              <a:rPr lang="en-US" sz="1050" dirty="0">
                <a:solidFill>
                  <a:schemeClr val="bg1"/>
                </a:solidFill>
              </a:rPr>
              <a:t> la </a:t>
            </a:r>
            <a:r>
              <a:rPr lang="en-US" sz="1050" dirty="0" err="1">
                <a:solidFill>
                  <a:schemeClr val="bg1"/>
                </a:solidFill>
              </a:rPr>
              <a:t>proporcion</a:t>
            </a:r>
            <a:r>
              <a:rPr lang="en-US" sz="1050" dirty="0">
                <a:solidFill>
                  <a:schemeClr val="bg1"/>
                </a:solidFill>
              </a:rPr>
              <a:t>, </a:t>
            </a:r>
            <a:r>
              <a:rPr lang="en-US" sz="1050" b="1" dirty="0">
                <a:solidFill>
                  <a:schemeClr val="bg1"/>
                </a:solidFill>
              </a:rPr>
              <a:t>p</a:t>
            </a:r>
            <a:r>
              <a:rPr lang="en-US" sz="1050" dirty="0">
                <a:solidFill>
                  <a:schemeClr val="bg1"/>
                </a:solidFill>
              </a:rPr>
              <a:t> es </a:t>
            </a:r>
            <a:r>
              <a:rPr lang="en-US" sz="1050" dirty="0" err="1">
                <a:solidFill>
                  <a:schemeClr val="bg1"/>
                </a:solidFill>
              </a:rPr>
              <a:t>el</a:t>
            </a:r>
            <a:r>
              <a:rPr lang="en-US" sz="1050" dirty="0">
                <a:solidFill>
                  <a:schemeClr val="bg1"/>
                </a:solidFill>
              </a:rPr>
              <a:t> valor </a:t>
            </a:r>
            <a:r>
              <a:rPr lang="en-US" sz="1050" dirty="0" err="1">
                <a:solidFill>
                  <a:schemeClr val="bg1"/>
                </a:solidFill>
              </a:rPr>
              <a:t>aseverado</a:t>
            </a:r>
            <a:r>
              <a:rPr lang="en-US" sz="1050" dirty="0">
                <a:solidFill>
                  <a:schemeClr val="bg1"/>
                </a:solidFill>
              </a:rPr>
              <a:t> que se </a:t>
            </a:r>
            <a:r>
              <a:rPr lang="en-US" sz="1050" dirty="0" err="1">
                <a:solidFill>
                  <a:schemeClr val="bg1"/>
                </a:solidFill>
              </a:rPr>
              <a:t>esta</a:t>
            </a:r>
            <a:r>
              <a:rPr lang="en-US" sz="1050" dirty="0">
                <a:solidFill>
                  <a:schemeClr val="bg1"/>
                </a:solidFill>
              </a:rPr>
              <a:t> hacienda </a:t>
            </a:r>
            <a:r>
              <a:rPr lang="en-US" sz="1050" dirty="0" err="1">
                <a:solidFill>
                  <a:schemeClr val="bg1"/>
                </a:solidFill>
              </a:rPr>
              <a:t>en</a:t>
            </a:r>
            <a:r>
              <a:rPr lang="en-US" sz="1050" dirty="0">
                <a:solidFill>
                  <a:schemeClr val="bg1"/>
                </a:solidFill>
              </a:rPr>
              <a:t> la hipotesis </a:t>
            </a:r>
            <a:r>
              <a:rPr lang="en-US" sz="1050" dirty="0" err="1">
                <a:solidFill>
                  <a:schemeClr val="bg1"/>
                </a:solidFill>
              </a:rPr>
              <a:t>nula</a:t>
            </a:r>
            <a:r>
              <a:rPr lang="en-US" sz="1050" dirty="0">
                <a:solidFill>
                  <a:schemeClr val="bg1"/>
                </a:solidFill>
              </a:rPr>
              <a:t> o la </a:t>
            </a:r>
            <a:r>
              <a:rPr lang="en-US" sz="1050" dirty="0" err="1">
                <a:solidFill>
                  <a:schemeClr val="bg1"/>
                </a:solidFill>
              </a:rPr>
              <a:t>proporcion</a:t>
            </a:r>
            <a:r>
              <a:rPr lang="en-US" sz="1050" dirty="0">
                <a:solidFill>
                  <a:schemeClr val="bg1"/>
                </a:solidFill>
              </a:rPr>
              <a:t> de </a:t>
            </a:r>
            <a:r>
              <a:rPr lang="en-US" sz="1050" dirty="0" err="1">
                <a:solidFill>
                  <a:schemeClr val="bg1"/>
                </a:solidFill>
              </a:rPr>
              <a:t>exitos</a:t>
            </a:r>
            <a:r>
              <a:rPr lang="en-US" sz="1050" dirty="0">
                <a:solidFill>
                  <a:schemeClr val="bg1"/>
                </a:solidFill>
              </a:rPr>
              <a:t> y </a:t>
            </a:r>
            <a:r>
              <a:rPr lang="en-US" sz="1050" b="1" dirty="0">
                <a:solidFill>
                  <a:schemeClr val="bg1"/>
                </a:solidFill>
              </a:rPr>
              <a:t>q</a:t>
            </a:r>
            <a:r>
              <a:rPr lang="en-US" sz="1050" dirty="0">
                <a:solidFill>
                  <a:schemeClr val="bg1"/>
                </a:solidFill>
              </a:rPr>
              <a:t> es la </a:t>
            </a:r>
            <a:r>
              <a:rPr lang="en-US" sz="1050" dirty="0" err="1">
                <a:solidFill>
                  <a:schemeClr val="bg1"/>
                </a:solidFill>
              </a:rPr>
              <a:t>proporcion</a:t>
            </a:r>
            <a:r>
              <a:rPr lang="en-US" sz="1050" dirty="0">
                <a:solidFill>
                  <a:schemeClr val="bg1"/>
                </a:solidFill>
              </a:rPr>
              <a:t> de </a:t>
            </a:r>
            <a:r>
              <a:rPr lang="en-US" sz="1050" dirty="0" err="1">
                <a:solidFill>
                  <a:schemeClr val="bg1"/>
                </a:solidFill>
              </a:rPr>
              <a:t>fracasos</a:t>
            </a:r>
            <a:r>
              <a:rPr lang="en-US" sz="1050" dirty="0">
                <a:solidFill>
                  <a:schemeClr val="bg1"/>
                </a:solidFill>
              </a:rPr>
              <a:t>. N es </a:t>
            </a:r>
            <a:r>
              <a:rPr lang="en-US" sz="1050" dirty="0" err="1">
                <a:solidFill>
                  <a:schemeClr val="bg1"/>
                </a:solidFill>
              </a:rPr>
              <a:t>el</a:t>
            </a:r>
            <a:r>
              <a:rPr lang="en-US" sz="1050" dirty="0">
                <a:solidFill>
                  <a:schemeClr val="bg1"/>
                </a:solidFill>
              </a:rPr>
              <a:t> </a:t>
            </a:r>
            <a:r>
              <a:rPr lang="en-US" sz="1050" dirty="0" err="1">
                <a:solidFill>
                  <a:schemeClr val="bg1"/>
                </a:solidFill>
              </a:rPr>
              <a:t>tamanio</a:t>
            </a:r>
            <a:r>
              <a:rPr lang="en-US" sz="1050" dirty="0">
                <a:solidFill>
                  <a:schemeClr val="bg1"/>
                </a:solidFill>
              </a:rPr>
              <a:t> de la </a:t>
            </a:r>
            <a:r>
              <a:rPr lang="en-US" sz="1050" dirty="0" err="1">
                <a:solidFill>
                  <a:schemeClr val="bg1"/>
                </a:solidFill>
              </a:rPr>
              <a:t>muestra</a:t>
            </a:r>
            <a:r>
              <a:rPr lang="en-US" sz="1050" dirty="0">
                <a:solidFill>
                  <a:schemeClr val="bg1"/>
                </a:solidFill>
              </a:rPr>
              <a:t>.</a:t>
            </a:r>
          </a:p>
        </p:txBody>
      </p:sp>
      <p:sp>
        <p:nvSpPr>
          <p:cNvPr id="5" name="TextBox 4">
            <a:extLst>
              <a:ext uri="{FF2B5EF4-FFF2-40B4-BE49-F238E27FC236}">
                <a16:creationId xmlns:a16="http://schemas.microsoft.com/office/drawing/2014/main" id="{B86B8B54-4F79-10B4-60A1-BB01987772D5}"/>
              </a:ext>
            </a:extLst>
          </p:cNvPr>
          <p:cNvSpPr txBox="1"/>
          <p:nvPr/>
        </p:nvSpPr>
        <p:spPr>
          <a:xfrm>
            <a:off x="8348133" y="4835082"/>
            <a:ext cx="3843867" cy="1084912"/>
          </a:xfrm>
          <a:prstGeom prst="rect">
            <a:avLst/>
          </a:prstGeom>
          <a:noFill/>
        </p:spPr>
        <p:txBody>
          <a:bodyPr wrap="square" rtlCol="0">
            <a:spAutoFit/>
          </a:bodyPr>
          <a:lstStyle>
            <a:defPPr>
              <a:defRPr lang="es-MX"/>
            </a:defPPr>
            <a:lvl1pPr>
              <a:defRPr sz="1050">
                <a:solidFill>
                  <a:schemeClr val="bg1"/>
                </a:solidFill>
              </a:defRPr>
            </a:lvl1pPr>
          </a:lstStyle>
          <a:p>
            <a:r>
              <a:rPr lang="en-US" dirty="0"/>
              <a:t>Usar </a:t>
            </a:r>
            <a:r>
              <a:rPr lang="en-US" b="1" dirty="0"/>
              <a:t>Z</a:t>
            </a:r>
            <a:r>
              <a:rPr lang="en-US" dirty="0"/>
              <a:t> </a:t>
            </a:r>
            <a:r>
              <a:rPr lang="en-US" dirty="0" err="1"/>
              <a:t>si</a:t>
            </a:r>
            <a:r>
              <a:rPr lang="en-US" dirty="0"/>
              <a:t> se </a:t>
            </a:r>
            <a:r>
              <a:rPr lang="en-US" dirty="0" err="1"/>
              <a:t>conoce</a:t>
            </a:r>
            <a:r>
              <a:rPr lang="en-US" dirty="0"/>
              <a:t> la </a:t>
            </a:r>
            <a:r>
              <a:rPr lang="en-US" dirty="0" err="1"/>
              <a:t>desviacion</a:t>
            </a:r>
            <a:r>
              <a:rPr lang="en-US" dirty="0"/>
              <a:t> </a:t>
            </a:r>
            <a:r>
              <a:rPr lang="en-US" dirty="0" err="1"/>
              <a:t>estandar</a:t>
            </a:r>
            <a:r>
              <a:rPr lang="en-US" dirty="0"/>
              <a:t> </a:t>
            </a:r>
            <a:r>
              <a:rPr lang="en-US" dirty="0" err="1"/>
              <a:t>poblacional</a:t>
            </a:r>
            <a:r>
              <a:rPr lang="en-US" dirty="0"/>
              <a:t> (sigma), y </a:t>
            </a:r>
            <a:r>
              <a:rPr lang="en-US" dirty="0" err="1"/>
              <a:t>cuando</a:t>
            </a:r>
            <a:r>
              <a:rPr lang="en-US" dirty="0"/>
              <a:t> NO se </a:t>
            </a:r>
            <a:r>
              <a:rPr lang="en-US" dirty="0" err="1"/>
              <a:t>conoce</a:t>
            </a:r>
            <a:r>
              <a:rPr lang="en-US" dirty="0"/>
              <a:t> </a:t>
            </a:r>
            <a:r>
              <a:rPr lang="en-US" dirty="0" err="1"/>
              <a:t>entonces</a:t>
            </a:r>
            <a:r>
              <a:rPr lang="en-US" dirty="0"/>
              <a:t> usar </a:t>
            </a:r>
            <a:r>
              <a:rPr lang="en-US" b="1" dirty="0"/>
              <a:t>t</a:t>
            </a:r>
            <a:r>
              <a:rPr lang="en-US" dirty="0"/>
              <a:t> </a:t>
            </a:r>
            <a:r>
              <a:rPr lang="en-US" dirty="0" err="1"/>
              <a:t>si</a:t>
            </a:r>
            <a:r>
              <a:rPr lang="en-US" dirty="0"/>
              <a:t> se </a:t>
            </a:r>
            <a:r>
              <a:rPr lang="en-US" dirty="0" err="1"/>
              <a:t>va</a:t>
            </a:r>
            <a:r>
              <a:rPr lang="en-US" dirty="0"/>
              <a:t> a usar la </a:t>
            </a:r>
            <a:r>
              <a:rPr lang="en-US" dirty="0" err="1"/>
              <a:t>distribucion</a:t>
            </a:r>
            <a:r>
              <a:rPr lang="en-US" dirty="0"/>
              <a:t> t de “Student” (William Sealy </a:t>
            </a:r>
            <a:r>
              <a:rPr lang="en-US" dirty="0" err="1"/>
              <a:t>Gosset</a:t>
            </a:r>
            <a:r>
              <a:rPr lang="en-US" dirty="0"/>
              <a:t>).</a:t>
            </a:r>
          </a:p>
          <a:p>
            <a:r>
              <a:rPr lang="en-US" b="1" dirty="0"/>
              <a:t>X-</a:t>
            </a:r>
            <a:r>
              <a:rPr lang="en-US" dirty="0"/>
              <a:t> es la media </a:t>
            </a:r>
            <a:r>
              <a:rPr lang="en-US" dirty="0" err="1"/>
              <a:t>muestral</a:t>
            </a:r>
            <a:r>
              <a:rPr lang="en-US" dirty="0"/>
              <a:t>, </a:t>
            </a:r>
            <a:r>
              <a:rPr lang="en-US" b="1" dirty="0"/>
              <a:t>mu</a:t>
            </a:r>
            <a:r>
              <a:rPr lang="en-US" dirty="0"/>
              <a:t> es </a:t>
            </a:r>
            <a:r>
              <a:rPr lang="en-US" dirty="0" err="1"/>
              <a:t>el</a:t>
            </a:r>
            <a:r>
              <a:rPr lang="en-US" dirty="0"/>
              <a:t> valor </a:t>
            </a:r>
            <a:r>
              <a:rPr lang="en-US" dirty="0" err="1"/>
              <a:t>aseverado</a:t>
            </a:r>
            <a:r>
              <a:rPr lang="en-US" dirty="0"/>
              <a:t> de la hipotesis </a:t>
            </a:r>
            <a:r>
              <a:rPr lang="en-US" dirty="0" err="1"/>
              <a:t>nula</a:t>
            </a:r>
            <a:r>
              <a:rPr lang="en-US" dirty="0"/>
              <a:t>, </a:t>
            </a:r>
            <a:r>
              <a:rPr lang="en-US" b="1" dirty="0"/>
              <a:t>sigma</a:t>
            </a:r>
            <a:r>
              <a:rPr lang="en-US" dirty="0"/>
              <a:t> es la </a:t>
            </a:r>
            <a:r>
              <a:rPr lang="en-US" dirty="0" err="1"/>
              <a:t>desviacion</a:t>
            </a:r>
            <a:r>
              <a:rPr lang="en-US" dirty="0"/>
              <a:t> </a:t>
            </a:r>
            <a:r>
              <a:rPr lang="en-US" dirty="0" err="1"/>
              <a:t>estandar</a:t>
            </a:r>
            <a:r>
              <a:rPr lang="en-US" dirty="0"/>
              <a:t> </a:t>
            </a:r>
            <a:r>
              <a:rPr lang="en-US" b="1" dirty="0" err="1"/>
              <a:t>poblacional</a:t>
            </a:r>
            <a:r>
              <a:rPr lang="en-US" dirty="0"/>
              <a:t>, </a:t>
            </a:r>
            <a:r>
              <a:rPr lang="en-US" b="1" dirty="0"/>
              <a:t>n</a:t>
            </a:r>
            <a:r>
              <a:rPr lang="en-US" dirty="0"/>
              <a:t> es </a:t>
            </a:r>
            <a:r>
              <a:rPr lang="en-US" dirty="0" err="1"/>
              <a:t>el</a:t>
            </a:r>
            <a:r>
              <a:rPr lang="en-US" dirty="0"/>
              <a:t> total de la </a:t>
            </a:r>
            <a:r>
              <a:rPr lang="en-US" dirty="0" err="1"/>
              <a:t>muestra</a:t>
            </a:r>
            <a:r>
              <a:rPr lang="en-US" dirty="0"/>
              <a:t>, y </a:t>
            </a:r>
            <a:r>
              <a:rPr lang="en-US" b="1" dirty="0"/>
              <a:t>S</a:t>
            </a:r>
            <a:r>
              <a:rPr lang="en-US" dirty="0"/>
              <a:t> </a:t>
            </a:r>
            <a:r>
              <a:rPr lang="en-US" dirty="0" err="1"/>
              <a:t>desviacion</a:t>
            </a:r>
            <a:r>
              <a:rPr lang="en-US" dirty="0"/>
              <a:t> </a:t>
            </a:r>
            <a:r>
              <a:rPr lang="en-US" dirty="0" err="1"/>
              <a:t>estandar</a:t>
            </a:r>
            <a:r>
              <a:rPr lang="en-US" dirty="0"/>
              <a:t> </a:t>
            </a:r>
            <a:r>
              <a:rPr lang="en-US" b="1" dirty="0" err="1"/>
              <a:t>muestral</a:t>
            </a:r>
            <a:r>
              <a:rPr lang="en-US" dirty="0"/>
              <a:t>.</a:t>
            </a:r>
          </a:p>
        </p:txBody>
      </p:sp>
      <p:sp>
        <p:nvSpPr>
          <p:cNvPr id="6" name="TextBox 5">
            <a:extLst>
              <a:ext uri="{FF2B5EF4-FFF2-40B4-BE49-F238E27FC236}">
                <a16:creationId xmlns:a16="http://schemas.microsoft.com/office/drawing/2014/main" id="{90825186-D166-2C5A-2B8A-E1A0A288F734}"/>
              </a:ext>
            </a:extLst>
          </p:cNvPr>
          <p:cNvSpPr txBox="1"/>
          <p:nvPr/>
        </p:nvSpPr>
        <p:spPr>
          <a:xfrm>
            <a:off x="8348133" y="5994524"/>
            <a:ext cx="2362201" cy="415498"/>
          </a:xfrm>
          <a:prstGeom prst="rect">
            <a:avLst/>
          </a:prstGeom>
          <a:noFill/>
        </p:spPr>
        <p:txBody>
          <a:bodyPr wrap="square" rtlCol="0">
            <a:spAutoFit/>
          </a:bodyPr>
          <a:lstStyle>
            <a:defPPr>
              <a:defRPr lang="es-MX"/>
            </a:defPPr>
            <a:lvl1pPr>
              <a:defRPr sz="1050">
                <a:solidFill>
                  <a:schemeClr val="bg1"/>
                </a:solidFill>
              </a:defRPr>
            </a:lvl1pPr>
          </a:lstStyle>
          <a:p>
            <a:r>
              <a:rPr lang="en-US" dirty="0" err="1"/>
              <a:t>Puntuacion</a:t>
            </a:r>
            <a:r>
              <a:rPr lang="en-US" dirty="0"/>
              <a:t> </a:t>
            </a:r>
            <a:r>
              <a:rPr lang="en-US" b="1" dirty="0"/>
              <a:t>Chi^2</a:t>
            </a:r>
            <a:r>
              <a:rPr lang="en-US" dirty="0"/>
              <a:t> </a:t>
            </a:r>
            <a:r>
              <a:rPr lang="en-US" dirty="0" err="1"/>
              <a:t>si</a:t>
            </a:r>
            <a:r>
              <a:rPr lang="en-US" dirty="0"/>
              <a:t> es que se </a:t>
            </a:r>
            <a:r>
              <a:rPr lang="en-US" dirty="0" err="1"/>
              <a:t>va</a:t>
            </a:r>
            <a:r>
              <a:rPr lang="en-US" dirty="0"/>
              <a:t> a usar </a:t>
            </a:r>
            <a:r>
              <a:rPr lang="en-US" dirty="0" err="1"/>
              <a:t>una</a:t>
            </a:r>
            <a:r>
              <a:rPr lang="en-US" dirty="0"/>
              <a:t> </a:t>
            </a:r>
            <a:r>
              <a:rPr lang="en-US" dirty="0" err="1"/>
              <a:t>Distribucion</a:t>
            </a:r>
            <a:r>
              <a:rPr lang="en-US" dirty="0"/>
              <a:t> </a:t>
            </a:r>
            <a:r>
              <a:rPr lang="en-US" b="1" dirty="0"/>
              <a:t>chi^2</a:t>
            </a:r>
          </a:p>
        </p:txBody>
      </p:sp>
      <p:sp>
        <p:nvSpPr>
          <p:cNvPr id="7" name="Rectangle 6">
            <a:extLst>
              <a:ext uri="{FF2B5EF4-FFF2-40B4-BE49-F238E27FC236}">
                <a16:creationId xmlns:a16="http://schemas.microsoft.com/office/drawing/2014/main" id="{EC767BBC-604E-0430-FDBB-FA646B206109}"/>
              </a:ext>
            </a:extLst>
          </p:cNvPr>
          <p:cNvSpPr/>
          <p:nvPr/>
        </p:nvSpPr>
        <p:spPr>
          <a:xfrm>
            <a:off x="2929468" y="3798332"/>
            <a:ext cx="1464732" cy="31646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AAA1BDCD-9EA2-4C9B-F148-46DBFC9FA98B}"/>
              </a:ext>
            </a:extLst>
          </p:cNvPr>
          <p:cNvSpPr/>
          <p:nvPr/>
        </p:nvSpPr>
        <p:spPr>
          <a:xfrm>
            <a:off x="3234268" y="4918202"/>
            <a:ext cx="897465" cy="31646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6453312-F861-D080-E04F-60801E0BFFB0}"/>
              </a:ext>
            </a:extLst>
          </p:cNvPr>
          <p:cNvSpPr/>
          <p:nvPr/>
        </p:nvSpPr>
        <p:spPr>
          <a:xfrm>
            <a:off x="1727201" y="6256867"/>
            <a:ext cx="1015999" cy="30755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AC1E110-0EA4-B1AE-F710-DE0B71B98E23}"/>
              </a:ext>
            </a:extLst>
          </p:cNvPr>
          <p:cNvSpPr/>
          <p:nvPr/>
        </p:nvSpPr>
        <p:spPr>
          <a:xfrm>
            <a:off x="2951576" y="5884294"/>
            <a:ext cx="1366424" cy="31646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78640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circle(in)">
                                      <p:cBhvr>
                                        <p:cTn id="7" dur="20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circle(in)">
                                      <p:cBhvr>
                                        <p:cTn id="12"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a:r>
              <a:rPr lang="es-MX" sz="2400" dirty="0">
                <a:latin typeface="Times New Roman" panose="02020603050405020304" pitchFamily="18" charset="0"/>
                <a:ea typeface="Times New Roman" panose="02020603050405020304" pitchFamily="18" charset="0"/>
                <a:cs typeface="Times New Roman" panose="02020603050405020304" pitchFamily="18" charset="0"/>
              </a:rPr>
              <a:t>Estadísticos de Prueba</a:t>
            </a:r>
            <a:endParaRPr lang="es-ES" sz="2600" dirty="0">
              <a:latin typeface="Times New Roman" panose="02020603050405020304" pitchFamily="18" charset="0"/>
              <a:cs typeface="Times New Roman" panose="02020603050405020304" pitchFamily="18" charset="0"/>
            </a:endParaRPr>
          </a:p>
        </p:txBody>
      </p:sp>
      <p:sp>
        <p:nvSpPr>
          <p:cNvPr id="11" name="CuadroTexto 10">
            <a:extLst>
              <a:ext uri="{FF2B5EF4-FFF2-40B4-BE49-F238E27FC236}">
                <a16:creationId xmlns:a16="http://schemas.microsoft.com/office/drawing/2014/main" id="{F494AF8A-D47C-6E15-F0A8-B546B382BBB9}"/>
              </a:ext>
            </a:extLst>
          </p:cNvPr>
          <p:cNvSpPr txBox="1"/>
          <p:nvPr/>
        </p:nvSpPr>
        <p:spPr>
          <a:xfrm>
            <a:off x="964022" y="2277572"/>
            <a:ext cx="9332916" cy="1263166"/>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Ejemplo: </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Una encuesta de 703 empleados seleccionados al azar, reveló que el 61% de ellos consiguió trabajo por medio de una red de contactos. Calcule el valor del estadístico de prueba para la aseveración de que la mayoría de los empleados (más del 50%) consiguen trabajo por medio de una red de contactos. </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Imagen 4"/>
          <p:cNvPicPr>
            <a:picLocks noChangeAspect="1"/>
          </p:cNvPicPr>
          <p:nvPr/>
        </p:nvPicPr>
        <p:blipFill>
          <a:blip r:embed="rId3"/>
          <a:stretch>
            <a:fillRect/>
          </a:stretch>
        </p:blipFill>
        <p:spPr>
          <a:xfrm>
            <a:off x="2182430" y="3764960"/>
            <a:ext cx="6896100" cy="1914525"/>
          </a:xfrm>
          <a:prstGeom prst="rect">
            <a:avLst/>
          </a:prstGeom>
        </p:spPr>
      </p:pic>
      <p:sp>
        <p:nvSpPr>
          <p:cNvPr id="3" name="TextBox 2">
            <a:extLst>
              <a:ext uri="{FF2B5EF4-FFF2-40B4-BE49-F238E27FC236}">
                <a16:creationId xmlns:a16="http://schemas.microsoft.com/office/drawing/2014/main" id="{438988E8-425B-BE7A-9420-84726BC3DC40}"/>
              </a:ext>
            </a:extLst>
          </p:cNvPr>
          <p:cNvSpPr txBox="1"/>
          <p:nvPr/>
        </p:nvSpPr>
        <p:spPr>
          <a:xfrm>
            <a:off x="9078530" y="4328384"/>
            <a:ext cx="2849033" cy="1323439"/>
          </a:xfrm>
          <a:prstGeom prst="rect">
            <a:avLst/>
          </a:prstGeom>
          <a:noFill/>
        </p:spPr>
        <p:txBody>
          <a:bodyPr wrap="square" rtlCol="0">
            <a:spAutoFit/>
          </a:bodyPr>
          <a:lstStyle/>
          <a:p>
            <a:r>
              <a:rPr lang="en-US" sz="1600" dirty="0">
                <a:solidFill>
                  <a:schemeClr val="bg1"/>
                </a:solidFill>
              </a:rPr>
              <a:t>En </a:t>
            </a:r>
            <a:r>
              <a:rPr lang="en-US" sz="1600" dirty="0" err="1">
                <a:solidFill>
                  <a:schemeClr val="bg1"/>
                </a:solidFill>
              </a:rPr>
              <a:t>este</a:t>
            </a:r>
            <a:r>
              <a:rPr lang="en-US" sz="1600" dirty="0">
                <a:solidFill>
                  <a:schemeClr val="bg1"/>
                </a:solidFill>
              </a:rPr>
              <a:t> </a:t>
            </a:r>
            <a:r>
              <a:rPr lang="en-US" sz="1600" dirty="0" err="1">
                <a:solidFill>
                  <a:schemeClr val="bg1"/>
                </a:solidFill>
              </a:rPr>
              <a:t>ejercicio</a:t>
            </a:r>
            <a:r>
              <a:rPr lang="en-US" sz="1600" dirty="0">
                <a:solidFill>
                  <a:schemeClr val="bg1"/>
                </a:solidFill>
              </a:rPr>
              <a:t> </a:t>
            </a:r>
            <a:r>
              <a:rPr lang="en-US" sz="1600" dirty="0" err="1">
                <a:solidFill>
                  <a:schemeClr val="bg1"/>
                </a:solidFill>
              </a:rPr>
              <a:t>esperamos</a:t>
            </a:r>
            <a:r>
              <a:rPr lang="en-US" sz="1600" dirty="0">
                <a:solidFill>
                  <a:schemeClr val="bg1"/>
                </a:solidFill>
              </a:rPr>
              <a:t> que se </a:t>
            </a:r>
            <a:r>
              <a:rPr lang="en-US" sz="1600" dirty="0" err="1">
                <a:solidFill>
                  <a:schemeClr val="bg1"/>
                </a:solidFill>
              </a:rPr>
              <a:t>rechace</a:t>
            </a:r>
            <a:r>
              <a:rPr lang="en-US" sz="1600" dirty="0">
                <a:solidFill>
                  <a:schemeClr val="bg1"/>
                </a:solidFill>
              </a:rPr>
              <a:t> la Hipotesis </a:t>
            </a:r>
            <a:r>
              <a:rPr lang="en-US" sz="1600" dirty="0" err="1">
                <a:solidFill>
                  <a:schemeClr val="bg1"/>
                </a:solidFill>
              </a:rPr>
              <a:t>nula</a:t>
            </a:r>
            <a:r>
              <a:rPr lang="en-US" sz="1600" dirty="0">
                <a:solidFill>
                  <a:schemeClr val="bg1"/>
                </a:solidFill>
              </a:rPr>
              <a:t> </a:t>
            </a:r>
            <a:r>
              <a:rPr lang="en-US" sz="1600" dirty="0" err="1">
                <a:solidFill>
                  <a:schemeClr val="bg1"/>
                </a:solidFill>
              </a:rPr>
              <a:t>en</a:t>
            </a:r>
            <a:r>
              <a:rPr lang="en-US" sz="1600" dirty="0">
                <a:solidFill>
                  <a:schemeClr val="bg1"/>
                </a:solidFill>
              </a:rPr>
              <a:t> favor de la Alternativa, o sea </a:t>
            </a:r>
            <a:r>
              <a:rPr lang="en-US" sz="1600" dirty="0" err="1">
                <a:solidFill>
                  <a:schemeClr val="bg1"/>
                </a:solidFill>
              </a:rPr>
              <a:t>en</a:t>
            </a:r>
            <a:r>
              <a:rPr lang="en-US" sz="1600" dirty="0">
                <a:solidFill>
                  <a:schemeClr val="bg1"/>
                </a:solidFill>
              </a:rPr>
              <a:t> favor de la </a:t>
            </a:r>
            <a:r>
              <a:rPr lang="en-US" sz="1600" dirty="0" err="1">
                <a:solidFill>
                  <a:schemeClr val="bg1"/>
                </a:solidFill>
              </a:rPr>
              <a:t>aseveracion</a:t>
            </a:r>
            <a:r>
              <a:rPr lang="en-US" sz="1600" dirty="0">
                <a:solidFill>
                  <a:schemeClr val="bg1"/>
                </a:solidFill>
              </a:rPr>
              <a:t> del </a:t>
            </a:r>
            <a:r>
              <a:rPr lang="en-US" sz="1600" dirty="0" err="1">
                <a:solidFill>
                  <a:schemeClr val="bg1"/>
                </a:solidFill>
              </a:rPr>
              <a:t>investigador</a:t>
            </a:r>
            <a:endParaRPr lang="en-US" sz="1600" dirty="0">
              <a:solidFill>
                <a:schemeClr val="bg1"/>
              </a:solidFill>
            </a:endParaRPr>
          </a:p>
        </p:txBody>
      </p:sp>
      <p:sp>
        <p:nvSpPr>
          <p:cNvPr id="4" name="TextBox 3">
            <a:extLst>
              <a:ext uri="{FF2B5EF4-FFF2-40B4-BE49-F238E27FC236}">
                <a16:creationId xmlns:a16="http://schemas.microsoft.com/office/drawing/2014/main" id="{D10E6602-B069-D475-45F8-5BE71DA523A3}"/>
              </a:ext>
            </a:extLst>
          </p:cNvPr>
          <p:cNvSpPr txBox="1"/>
          <p:nvPr/>
        </p:nvSpPr>
        <p:spPr>
          <a:xfrm>
            <a:off x="5605079" y="4233892"/>
            <a:ext cx="1202267" cy="276999"/>
          </a:xfrm>
          <a:prstGeom prst="rect">
            <a:avLst/>
          </a:prstGeom>
          <a:noFill/>
        </p:spPr>
        <p:txBody>
          <a:bodyPr wrap="square" rtlCol="0">
            <a:spAutoFit/>
          </a:bodyPr>
          <a:lstStyle/>
          <a:p>
            <a:r>
              <a:rPr lang="en-US" sz="1200" dirty="0">
                <a:solidFill>
                  <a:sysClr val="windowText" lastClr="000000"/>
                </a:solidFill>
              </a:rPr>
              <a:t>(o </a:t>
            </a:r>
            <a:r>
              <a:rPr lang="en-US" sz="1200" i="1" dirty="0">
                <a:solidFill>
                  <a:sysClr val="windowText" lastClr="000000"/>
                </a:solidFill>
              </a:rPr>
              <a:t>H</a:t>
            </a:r>
            <a:r>
              <a:rPr lang="en-US" sz="800" i="1" dirty="0">
                <a:solidFill>
                  <a:sysClr val="windowText" lastClr="000000"/>
                </a:solidFill>
              </a:rPr>
              <a:t>0</a:t>
            </a:r>
            <a:r>
              <a:rPr lang="en-US" sz="1200" dirty="0">
                <a:solidFill>
                  <a:sysClr val="windowText" lastClr="000000"/>
                </a:solidFill>
              </a:rPr>
              <a:t>: p&lt;= 0.5)</a:t>
            </a:r>
          </a:p>
        </p:txBody>
      </p:sp>
      <p:sp>
        <p:nvSpPr>
          <p:cNvPr id="6" name="TextBox 5">
            <a:extLst>
              <a:ext uri="{FF2B5EF4-FFF2-40B4-BE49-F238E27FC236}">
                <a16:creationId xmlns:a16="http://schemas.microsoft.com/office/drawing/2014/main" id="{984EEF38-F4F3-C5F9-C051-234F5174AC15}"/>
              </a:ext>
            </a:extLst>
          </p:cNvPr>
          <p:cNvSpPr txBox="1"/>
          <p:nvPr/>
        </p:nvSpPr>
        <p:spPr>
          <a:xfrm>
            <a:off x="2182430" y="5771235"/>
            <a:ext cx="5587855" cy="1015663"/>
          </a:xfrm>
          <a:prstGeom prst="rect">
            <a:avLst/>
          </a:prstGeom>
          <a:noFill/>
        </p:spPr>
        <p:txBody>
          <a:bodyPr wrap="square" rtlCol="0">
            <a:spAutoFit/>
          </a:bodyPr>
          <a:lstStyle/>
          <a:p>
            <a:pPr marL="171450" indent="-171450">
              <a:buFont typeface="Arial" panose="020B0604020202020204" pitchFamily="34" charset="0"/>
              <a:buChar char="•"/>
            </a:pPr>
            <a:r>
              <a:rPr lang="en-US" sz="1200" dirty="0">
                <a:solidFill>
                  <a:sysClr val="windowText" lastClr="000000"/>
                </a:solidFill>
              </a:rPr>
              <a:t>P^ 0.61 es la </a:t>
            </a:r>
            <a:r>
              <a:rPr lang="en-US" sz="1200" dirty="0" err="1">
                <a:solidFill>
                  <a:sysClr val="windowText" lastClr="000000"/>
                </a:solidFill>
              </a:rPr>
              <a:t>proporcion</a:t>
            </a:r>
            <a:r>
              <a:rPr lang="en-US" sz="1200" dirty="0">
                <a:solidFill>
                  <a:sysClr val="windowText" lastClr="000000"/>
                </a:solidFill>
              </a:rPr>
              <a:t> de </a:t>
            </a:r>
            <a:r>
              <a:rPr lang="en-US" sz="1200" dirty="0" err="1">
                <a:solidFill>
                  <a:sysClr val="windowText" lastClr="000000"/>
                </a:solidFill>
              </a:rPr>
              <a:t>exitos</a:t>
            </a:r>
            <a:r>
              <a:rPr lang="en-US" sz="1200" dirty="0">
                <a:solidFill>
                  <a:sysClr val="windowText" lastClr="000000"/>
                </a:solidFill>
              </a:rPr>
              <a:t> </a:t>
            </a:r>
            <a:r>
              <a:rPr lang="en-US" sz="1200" dirty="0" err="1">
                <a:solidFill>
                  <a:sysClr val="windowText" lastClr="000000"/>
                </a:solidFill>
              </a:rPr>
              <a:t>en</a:t>
            </a:r>
            <a:r>
              <a:rPr lang="en-US" sz="1200" dirty="0">
                <a:solidFill>
                  <a:sysClr val="windowText" lastClr="000000"/>
                </a:solidFill>
              </a:rPr>
              <a:t> la </a:t>
            </a:r>
            <a:r>
              <a:rPr lang="en-US" sz="1200" dirty="0" err="1">
                <a:solidFill>
                  <a:sysClr val="windowText" lastClr="000000"/>
                </a:solidFill>
              </a:rPr>
              <a:t>muestra</a:t>
            </a:r>
            <a:endParaRPr lang="en-US" sz="1200" dirty="0">
              <a:solidFill>
                <a:sysClr val="windowText" lastClr="000000"/>
              </a:solidFill>
            </a:endParaRPr>
          </a:p>
          <a:p>
            <a:pPr marL="171450" indent="-171450">
              <a:buFont typeface="Arial" panose="020B0604020202020204" pitchFamily="34" charset="0"/>
              <a:buChar char="•"/>
            </a:pPr>
            <a:r>
              <a:rPr lang="en-US" sz="1200" dirty="0">
                <a:solidFill>
                  <a:sysClr val="windowText" lastClr="000000"/>
                </a:solidFill>
              </a:rPr>
              <a:t>P es </a:t>
            </a:r>
            <a:r>
              <a:rPr lang="en-US" sz="1200" dirty="0" err="1">
                <a:solidFill>
                  <a:sysClr val="windowText" lastClr="000000"/>
                </a:solidFill>
              </a:rPr>
              <a:t>el</a:t>
            </a:r>
            <a:r>
              <a:rPr lang="en-US" sz="1200" dirty="0">
                <a:solidFill>
                  <a:sysClr val="windowText" lastClr="000000"/>
                </a:solidFill>
              </a:rPr>
              <a:t> valor </a:t>
            </a:r>
            <a:r>
              <a:rPr lang="en-US" sz="1200" dirty="0" err="1">
                <a:solidFill>
                  <a:sysClr val="windowText" lastClr="000000"/>
                </a:solidFill>
              </a:rPr>
              <a:t>aceverado</a:t>
            </a:r>
            <a:r>
              <a:rPr lang="en-US" sz="1200" dirty="0">
                <a:solidFill>
                  <a:sysClr val="windowText" lastClr="000000"/>
                </a:solidFill>
              </a:rPr>
              <a:t> de la hipotesis </a:t>
            </a:r>
            <a:r>
              <a:rPr lang="en-US" sz="1200" dirty="0" err="1">
                <a:solidFill>
                  <a:sysClr val="windowText" lastClr="000000"/>
                </a:solidFill>
              </a:rPr>
              <a:t>nula</a:t>
            </a:r>
            <a:r>
              <a:rPr lang="en-US" sz="1200" dirty="0">
                <a:solidFill>
                  <a:sysClr val="windowText" lastClr="000000"/>
                </a:solidFill>
              </a:rPr>
              <a:t>, la hipotesis </a:t>
            </a:r>
            <a:r>
              <a:rPr lang="en-US" sz="1200" dirty="0" err="1">
                <a:solidFill>
                  <a:sysClr val="windowText" lastClr="000000"/>
                </a:solidFill>
              </a:rPr>
              <a:t>nula</a:t>
            </a:r>
            <a:r>
              <a:rPr lang="en-US" sz="1200" dirty="0">
                <a:solidFill>
                  <a:sysClr val="windowText" lastClr="000000"/>
                </a:solidFill>
              </a:rPr>
              <a:t> </a:t>
            </a:r>
            <a:r>
              <a:rPr lang="en-US" sz="1200" dirty="0" err="1">
                <a:solidFill>
                  <a:sysClr val="windowText" lastClr="000000"/>
                </a:solidFill>
              </a:rPr>
              <a:t>asevera</a:t>
            </a:r>
            <a:r>
              <a:rPr lang="en-US" sz="1200" dirty="0">
                <a:solidFill>
                  <a:sysClr val="windowText" lastClr="000000"/>
                </a:solidFill>
              </a:rPr>
              <a:t> que p = 0.5</a:t>
            </a:r>
          </a:p>
          <a:p>
            <a:pPr marL="171450" indent="-171450">
              <a:buFont typeface="Arial" panose="020B0604020202020204" pitchFamily="34" charset="0"/>
              <a:buChar char="•"/>
            </a:pPr>
            <a:r>
              <a:rPr lang="en-US" sz="1200" dirty="0">
                <a:solidFill>
                  <a:sysClr val="windowText" lastClr="000000"/>
                </a:solidFill>
              </a:rPr>
              <a:t>Si p=0.5 </a:t>
            </a:r>
            <a:r>
              <a:rPr lang="en-US" sz="1200" dirty="0" err="1">
                <a:solidFill>
                  <a:sysClr val="windowText" lastClr="000000"/>
                </a:solidFill>
              </a:rPr>
              <a:t>entonces</a:t>
            </a:r>
            <a:r>
              <a:rPr lang="en-US" sz="1200" dirty="0">
                <a:solidFill>
                  <a:sysClr val="windowText" lastClr="000000"/>
                </a:solidFill>
              </a:rPr>
              <a:t> q=0.5 que es la </a:t>
            </a:r>
            <a:r>
              <a:rPr lang="en-US" sz="1200" dirty="0" err="1">
                <a:solidFill>
                  <a:sysClr val="windowText" lastClr="000000"/>
                </a:solidFill>
              </a:rPr>
              <a:t>proporcion</a:t>
            </a:r>
            <a:r>
              <a:rPr lang="en-US" sz="1200" dirty="0">
                <a:solidFill>
                  <a:sysClr val="windowText" lastClr="000000"/>
                </a:solidFill>
              </a:rPr>
              <a:t> de </a:t>
            </a:r>
            <a:r>
              <a:rPr lang="en-US" sz="1200" dirty="0" err="1">
                <a:solidFill>
                  <a:sysClr val="windowText" lastClr="000000"/>
                </a:solidFill>
              </a:rPr>
              <a:t>frcasos</a:t>
            </a:r>
            <a:endParaRPr lang="en-US" sz="1200" dirty="0">
              <a:solidFill>
                <a:sysClr val="windowText" lastClr="000000"/>
              </a:solidFill>
            </a:endParaRPr>
          </a:p>
          <a:p>
            <a:pPr marL="171450" indent="-171450">
              <a:buFont typeface="Arial" panose="020B0604020202020204" pitchFamily="34" charset="0"/>
              <a:buChar char="•"/>
            </a:pPr>
            <a:r>
              <a:rPr lang="en-US" sz="1200" dirty="0">
                <a:solidFill>
                  <a:sysClr val="windowText" lastClr="000000"/>
                </a:solidFill>
              </a:rPr>
              <a:t>N= 703, </a:t>
            </a:r>
            <a:r>
              <a:rPr lang="en-US" sz="1200" dirty="0" err="1">
                <a:solidFill>
                  <a:sysClr val="windowText" lastClr="000000"/>
                </a:solidFill>
              </a:rPr>
              <a:t>tamanio</a:t>
            </a:r>
            <a:r>
              <a:rPr lang="en-US" sz="1200" dirty="0">
                <a:solidFill>
                  <a:sysClr val="windowText" lastClr="000000"/>
                </a:solidFill>
              </a:rPr>
              <a:t> de la </a:t>
            </a:r>
            <a:r>
              <a:rPr lang="en-US" sz="1200" dirty="0" err="1">
                <a:solidFill>
                  <a:sysClr val="windowText" lastClr="000000"/>
                </a:solidFill>
              </a:rPr>
              <a:t>muestra</a:t>
            </a:r>
            <a:endParaRPr lang="en-US" sz="1200" dirty="0">
              <a:solidFill>
                <a:sysClr val="windowText" lastClr="000000"/>
              </a:solidFill>
            </a:endParaRPr>
          </a:p>
          <a:p>
            <a:pPr marL="171450" indent="-171450">
              <a:buFont typeface="Arial" panose="020B0604020202020204" pitchFamily="34" charset="0"/>
              <a:buChar char="•"/>
            </a:pPr>
            <a:endParaRPr lang="en-US" sz="1200" dirty="0">
              <a:solidFill>
                <a:sysClr val="windowText" lastClr="000000"/>
              </a:solidFill>
            </a:endParaRPr>
          </a:p>
        </p:txBody>
      </p:sp>
      <p:sp>
        <p:nvSpPr>
          <p:cNvPr id="9" name="TextBox 8">
            <a:extLst>
              <a:ext uri="{FF2B5EF4-FFF2-40B4-BE49-F238E27FC236}">
                <a16:creationId xmlns:a16="http://schemas.microsoft.com/office/drawing/2014/main" id="{F490679D-DE6F-04BA-B31B-B7BE251C4B45}"/>
              </a:ext>
            </a:extLst>
          </p:cNvPr>
          <p:cNvSpPr txBox="1"/>
          <p:nvPr/>
        </p:nvSpPr>
        <p:spPr>
          <a:xfrm>
            <a:off x="7268981" y="5082140"/>
            <a:ext cx="1364880" cy="461665"/>
          </a:xfrm>
          <a:prstGeom prst="rect">
            <a:avLst/>
          </a:prstGeom>
          <a:noFill/>
        </p:spPr>
        <p:txBody>
          <a:bodyPr wrap="square" rtlCol="0">
            <a:spAutoFit/>
          </a:bodyPr>
          <a:lstStyle/>
          <a:p>
            <a:r>
              <a:rPr lang="en-US" sz="1200" dirty="0">
                <a:solidFill>
                  <a:srgbClr val="0070C0"/>
                </a:solidFill>
              </a:rPr>
              <a:t>R-Studio (9) z=5.83</a:t>
            </a:r>
          </a:p>
        </p:txBody>
      </p:sp>
    </p:spTree>
    <p:extLst>
      <p:ext uri="{BB962C8B-B14F-4D97-AF65-F5344CB8AC3E}">
        <p14:creationId xmlns:p14="http://schemas.microsoft.com/office/powerpoint/2010/main" val="1926917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circle(in)">
                                      <p:cBhvr>
                                        <p:cTn id="7" dur="20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circle(in)">
                                      <p:cBhvr>
                                        <p:cTn id="12"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a:r>
              <a:rPr lang="es-MX" sz="2400" dirty="0">
                <a:latin typeface="Times New Roman" panose="02020603050405020304" pitchFamily="18" charset="0"/>
                <a:ea typeface="Times New Roman" panose="02020603050405020304" pitchFamily="18" charset="0"/>
                <a:cs typeface="Times New Roman" panose="02020603050405020304" pitchFamily="18" charset="0"/>
              </a:rPr>
              <a:t>Estadísticos de Prueba</a:t>
            </a:r>
            <a:endParaRPr lang="es-ES" sz="2600" dirty="0">
              <a:latin typeface="Times New Roman" panose="02020603050405020304" pitchFamily="18" charset="0"/>
              <a:cs typeface="Times New Roman" panose="02020603050405020304" pitchFamily="18" charset="0"/>
            </a:endParaRPr>
          </a:p>
        </p:txBody>
      </p:sp>
      <p:sp>
        <p:nvSpPr>
          <p:cNvPr id="11" name="CuadroTexto 10">
            <a:extLst>
              <a:ext uri="{FF2B5EF4-FFF2-40B4-BE49-F238E27FC236}">
                <a16:creationId xmlns:a16="http://schemas.microsoft.com/office/drawing/2014/main" id="{F494AF8A-D47C-6E15-F0A8-B546B382BBB9}"/>
              </a:ext>
            </a:extLst>
          </p:cNvPr>
          <p:cNvSpPr txBox="1"/>
          <p:nvPr/>
        </p:nvSpPr>
        <p:spPr>
          <a:xfrm>
            <a:off x="964022" y="1947374"/>
            <a:ext cx="9332916" cy="670440"/>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Actividad: </a:t>
            </a:r>
            <a:r>
              <a:rPr lang="es-MX"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Utilice aseveraciones para expresar la hipótesis nula y alternativa en cada uno de los siguientes casos. Luego, </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calcula el valor del estadístico de prueba.</a:t>
            </a:r>
            <a:endParaRPr lang="es-MX"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p:txBody>
      </p:sp>
      <p:pic>
        <p:nvPicPr>
          <p:cNvPr id="1028" name="Picture 4" descr="Personas con un icono de computadora: vector de stock (libre de regalías)  2008763171 | Shutterstock">
            <a:extLst>
              <a:ext uri="{FF2B5EF4-FFF2-40B4-BE49-F238E27FC236}">
                <a16:creationId xmlns:a16="http://schemas.microsoft.com/office/drawing/2014/main" id="{7598E9CD-D5C9-1B28-0D24-0E7A5F5CB16B}"/>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17260"/>
          <a:stretch/>
        </p:blipFill>
        <p:spPr bwMode="auto">
          <a:xfrm>
            <a:off x="9434074" y="2727630"/>
            <a:ext cx="1033608" cy="92099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3" name="CuadroTexto 2">
                <a:extLst>
                  <a:ext uri="{FF2B5EF4-FFF2-40B4-BE49-F238E27FC236}">
                    <a16:creationId xmlns:a16="http://schemas.microsoft.com/office/drawing/2014/main" id="{BE10E74B-D706-73E3-B461-B9393357E687}"/>
                  </a:ext>
                </a:extLst>
              </p:cNvPr>
              <p:cNvSpPr txBox="1"/>
              <p:nvPr/>
            </p:nvSpPr>
            <p:spPr>
              <a:xfrm>
                <a:off x="101158" y="2762017"/>
                <a:ext cx="9332916" cy="961482"/>
              </a:xfrm>
              <a:prstGeom prst="rect">
                <a:avLst/>
              </a:prstGeom>
              <a:ln w="28575"/>
            </p:spPr>
            <p:style>
              <a:lnRef idx="2">
                <a:schemeClr val="accent2"/>
              </a:lnRef>
              <a:fillRef idx="1">
                <a:schemeClr val="lt1"/>
              </a:fillRef>
              <a:effectRef idx="0">
                <a:schemeClr val="accent2"/>
              </a:effectRef>
              <a:fontRef idx="minor">
                <a:schemeClr val="dk1"/>
              </a:fontRef>
            </p:style>
            <p:txBody>
              <a:bodyPr wrap="square" rtlCol="0">
                <a:spAutoFit/>
              </a:bodyPr>
              <a:lstStyle/>
              <a:p>
                <a:pPr lvl="0" algn="just">
                  <a:lnSpc>
                    <a:spcPct val="107000"/>
                  </a:lnSpc>
                  <a:spcAft>
                    <a:spcPts val="0"/>
                  </a:spcAft>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1. La aseveración es que la proporción de adultos que fumaron un cigarrillo la semana pasada es menor que 0.25, y los estadísticos de muestra incluyen </a:t>
                </a:r>
                <a14:m>
                  <m:oMath xmlns:m="http://schemas.openxmlformats.org/officeDocument/2006/math">
                    <m:r>
                      <a:rPr lang="es-MX" i="1" dirty="0" smtClean="0">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𝑛</m:t>
                    </m:r>
                    <m:r>
                      <a:rPr lang="es-MX" i="1" dirty="0" smtClean="0">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=1018</m:t>
                    </m:r>
                  </m:oMath>
                </a14:m>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sujetos, de los cuales 224 dicen que fumaron un cigarrillo la semana pasada. </a:t>
                </a:r>
              </a:p>
            </p:txBody>
          </p:sp>
        </mc:Choice>
        <mc:Fallback>
          <p:sp>
            <p:nvSpPr>
              <p:cNvPr id="3" name="CuadroTexto 2">
                <a:extLst>
                  <a:ext uri="{FF2B5EF4-FFF2-40B4-BE49-F238E27FC236}">
                    <a16:creationId xmlns:a16="http://schemas.microsoft.com/office/drawing/2014/main" id="{BE10E74B-D706-73E3-B461-B9393357E687}"/>
                  </a:ext>
                </a:extLst>
              </p:cNvPr>
              <p:cNvSpPr txBox="1">
                <a:spLocks noRot="1" noChangeAspect="1" noMove="1" noResize="1" noEditPoints="1" noAdjustHandles="1" noChangeArrowheads="1" noChangeShapeType="1" noTextEdit="1"/>
              </p:cNvSpPr>
              <p:nvPr/>
            </p:nvSpPr>
            <p:spPr>
              <a:xfrm>
                <a:off x="101158" y="2762017"/>
                <a:ext cx="9332916" cy="961482"/>
              </a:xfrm>
              <a:prstGeom prst="rect">
                <a:avLst/>
              </a:prstGeom>
              <a:blipFill>
                <a:blip r:embed="rId4"/>
                <a:stretch>
                  <a:fillRect l="-456" t="-1840" r="-326" b="-6748"/>
                </a:stretch>
              </a:blipFill>
              <a:ln w="28575"/>
            </p:spPr>
            <p:txBody>
              <a:bodyPr/>
              <a:lstStyle/>
              <a:p>
                <a:r>
                  <a:rPr lang="en-US">
                    <a:noFill/>
                  </a:rPr>
                  <a:t> </a:t>
                </a:r>
              </a:p>
            </p:txBody>
          </p:sp>
        </mc:Fallback>
      </mc:AlternateContent>
      <p:sp>
        <p:nvSpPr>
          <p:cNvPr id="4" name="CuadroTexto 3">
            <a:extLst>
              <a:ext uri="{FF2B5EF4-FFF2-40B4-BE49-F238E27FC236}">
                <a16:creationId xmlns:a16="http://schemas.microsoft.com/office/drawing/2014/main" id="{2F384325-9A7A-42FF-B36D-008DE010ACE6}"/>
              </a:ext>
            </a:extLst>
          </p:cNvPr>
          <p:cNvSpPr txBox="1"/>
          <p:nvPr/>
        </p:nvSpPr>
        <p:spPr>
          <a:xfrm>
            <a:off x="101158" y="4938280"/>
            <a:ext cx="9332916" cy="670440"/>
          </a:xfrm>
          <a:prstGeom prst="rect">
            <a:avLst/>
          </a:prstGeom>
          <a:ln w="28575"/>
        </p:spPr>
        <p:style>
          <a:lnRef idx="2">
            <a:schemeClr val="accent2"/>
          </a:lnRef>
          <a:fillRef idx="1">
            <a:schemeClr val="lt1"/>
          </a:fillRef>
          <a:effectRef idx="0">
            <a:schemeClr val="accent2"/>
          </a:effectRef>
          <a:fontRef idx="minor">
            <a:schemeClr val="dk1"/>
          </a:fontRef>
        </p:style>
        <p:txBody>
          <a:bodyPr wrap="square" rtlCol="0">
            <a:spAutoFit/>
          </a:bodyPr>
          <a:lstStyle/>
          <a:p>
            <a:pPr lvl="0" algn="just">
              <a:lnSpc>
                <a:spcPct val="107000"/>
              </a:lnSpc>
              <a:spcAft>
                <a:spcPts val="800"/>
              </a:spcAft>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2. La aseveración es que la mayoría de las demandas por negligencia se retiran o se rechazan, y una muestra aleatoria de 500 demandas incluye 349 que fueron retiradas o rechazadas.</a:t>
            </a:r>
            <a:endParaRPr lang="es-MX"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p:txBody>
      </p:sp>
      <p:pic>
        <p:nvPicPr>
          <p:cNvPr id="5" name="Picture 4" descr="Personas con un icono de computadora: vector de stock (libre de regalías)  2008763171 | Shutterstock">
            <a:extLst>
              <a:ext uri="{FF2B5EF4-FFF2-40B4-BE49-F238E27FC236}">
                <a16:creationId xmlns:a16="http://schemas.microsoft.com/office/drawing/2014/main" id="{39055C67-4E91-BB25-3D72-F6CBB9E32CA1}"/>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17260"/>
          <a:stretch/>
        </p:blipFill>
        <p:spPr bwMode="auto">
          <a:xfrm>
            <a:off x="9653472" y="4813003"/>
            <a:ext cx="1033608" cy="92099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60180BF5-2A8E-4284-6B28-D090F3F106D2}"/>
              </a:ext>
            </a:extLst>
          </p:cNvPr>
          <p:cNvSpPr txBox="1"/>
          <p:nvPr/>
        </p:nvSpPr>
        <p:spPr>
          <a:xfrm>
            <a:off x="101159" y="3794427"/>
            <a:ext cx="2668178" cy="830997"/>
          </a:xfrm>
          <a:prstGeom prst="rect">
            <a:avLst/>
          </a:prstGeom>
          <a:solidFill>
            <a:schemeClr val="tx1"/>
          </a:solidFill>
        </p:spPr>
        <p:txBody>
          <a:bodyPr wrap="square" rtlCol="0">
            <a:spAutoFit/>
          </a:bodyPr>
          <a:lstStyle/>
          <a:p>
            <a:pPr marL="228600" indent="-228600">
              <a:buFont typeface="+mj-lt"/>
              <a:buAutoNum type="arabicPeriod"/>
            </a:pPr>
            <a:r>
              <a:rPr lang="en-US" sz="1200" dirty="0">
                <a:solidFill>
                  <a:sysClr val="windowText" lastClr="000000"/>
                </a:solidFill>
              </a:rPr>
              <a:t>p &lt; 0.25</a:t>
            </a:r>
          </a:p>
          <a:p>
            <a:pPr marL="228600" indent="-228600">
              <a:buFont typeface="+mj-lt"/>
              <a:buAutoNum type="arabicPeriod"/>
            </a:pPr>
            <a:r>
              <a:rPr lang="en-US" sz="1200" dirty="0">
                <a:solidFill>
                  <a:sysClr val="windowText" lastClr="000000"/>
                </a:solidFill>
              </a:rPr>
              <a:t>Si p&lt;0.25 </a:t>
            </a:r>
            <a:r>
              <a:rPr lang="en-US" sz="1200" dirty="0" err="1">
                <a:solidFill>
                  <a:sysClr val="windowText" lastClr="000000"/>
                </a:solidFill>
              </a:rPr>
              <a:t>fuera</a:t>
            </a:r>
            <a:r>
              <a:rPr lang="en-US" sz="1200" dirty="0">
                <a:solidFill>
                  <a:sysClr val="windowText" lastClr="000000"/>
                </a:solidFill>
              </a:rPr>
              <a:t> </a:t>
            </a:r>
            <a:r>
              <a:rPr lang="en-US" sz="1200" dirty="0" err="1">
                <a:solidFill>
                  <a:sysClr val="windowText" lastClr="000000"/>
                </a:solidFill>
              </a:rPr>
              <a:t>falso</a:t>
            </a:r>
            <a:r>
              <a:rPr lang="en-US" sz="1200" dirty="0">
                <a:solidFill>
                  <a:sysClr val="windowText" lastClr="000000"/>
                </a:solidFill>
              </a:rPr>
              <a:t>, </a:t>
            </a:r>
            <a:r>
              <a:rPr lang="en-US" sz="1200" dirty="0" err="1">
                <a:solidFill>
                  <a:sysClr val="windowText" lastClr="000000"/>
                </a:solidFill>
              </a:rPr>
              <a:t>entonces</a:t>
            </a:r>
            <a:r>
              <a:rPr lang="en-US" sz="1200" dirty="0">
                <a:solidFill>
                  <a:sysClr val="windowText" lastClr="000000"/>
                </a:solidFill>
              </a:rPr>
              <a:t> p&gt;=0.25 seria </a:t>
            </a:r>
            <a:r>
              <a:rPr lang="en-US" sz="1200" dirty="0" err="1">
                <a:solidFill>
                  <a:sysClr val="windowText" lastClr="000000"/>
                </a:solidFill>
              </a:rPr>
              <a:t>verdadero</a:t>
            </a:r>
            <a:r>
              <a:rPr lang="en-US" sz="1200" dirty="0">
                <a:solidFill>
                  <a:sysClr val="windowText" lastClr="000000"/>
                </a:solidFill>
              </a:rPr>
              <a:t>.</a:t>
            </a:r>
          </a:p>
          <a:p>
            <a:pPr marL="228600" indent="-228600">
              <a:buFont typeface="+mj-lt"/>
              <a:buAutoNum type="arabicPeriod"/>
            </a:pPr>
            <a:r>
              <a:rPr lang="en-US" sz="1200" dirty="0">
                <a:solidFill>
                  <a:sysClr val="windowText" lastClr="000000"/>
                </a:solidFill>
              </a:rPr>
              <a:t>H0: p&gt;=0.25, </a:t>
            </a:r>
            <a:r>
              <a:rPr lang="en-US" sz="1200" b="1" dirty="0">
                <a:solidFill>
                  <a:sysClr val="windowText" lastClr="000000"/>
                </a:solidFill>
              </a:rPr>
              <a:t>H1: p&lt;0.25</a:t>
            </a:r>
          </a:p>
        </p:txBody>
      </p:sp>
      <p:pic>
        <p:nvPicPr>
          <p:cNvPr id="8" name="Picture 7">
            <a:extLst>
              <a:ext uri="{FF2B5EF4-FFF2-40B4-BE49-F238E27FC236}">
                <a16:creationId xmlns:a16="http://schemas.microsoft.com/office/drawing/2014/main" id="{A23387E2-D3CE-D9B3-CBB7-4342642DB339}"/>
              </a:ext>
            </a:extLst>
          </p:cNvPr>
          <p:cNvPicPr>
            <a:picLocks noChangeAspect="1"/>
          </p:cNvPicPr>
          <p:nvPr/>
        </p:nvPicPr>
        <p:blipFill>
          <a:blip r:embed="rId5"/>
          <a:stretch>
            <a:fillRect/>
          </a:stretch>
        </p:blipFill>
        <p:spPr>
          <a:xfrm>
            <a:off x="2936318" y="3794427"/>
            <a:ext cx="933538" cy="670440"/>
          </a:xfrm>
          <a:prstGeom prst="rect">
            <a:avLst/>
          </a:prstGeom>
        </p:spPr>
      </p:pic>
      <p:sp>
        <p:nvSpPr>
          <p:cNvPr id="9" name="TextBox 8">
            <a:extLst>
              <a:ext uri="{FF2B5EF4-FFF2-40B4-BE49-F238E27FC236}">
                <a16:creationId xmlns:a16="http://schemas.microsoft.com/office/drawing/2014/main" id="{587ACED0-7916-BDCA-4764-5D04A6FF8104}"/>
              </a:ext>
            </a:extLst>
          </p:cNvPr>
          <p:cNvSpPr txBox="1"/>
          <p:nvPr/>
        </p:nvSpPr>
        <p:spPr>
          <a:xfrm>
            <a:off x="4036837" y="3794427"/>
            <a:ext cx="4739157" cy="1015663"/>
          </a:xfrm>
          <a:prstGeom prst="rect">
            <a:avLst/>
          </a:prstGeom>
          <a:solidFill>
            <a:schemeClr val="tx1"/>
          </a:solidFill>
        </p:spPr>
        <p:txBody>
          <a:bodyPr wrap="square" rtlCol="0">
            <a:spAutoFit/>
          </a:bodyPr>
          <a:lstStyle/>
          <a:p>
            <a:pPr marL="171450" indent="-171450">
              <a:buFont typeface="Arial" panose="020B0604020202020204" pitchFamily="34" charset="0"/>
              <a:buChar char="•"/>
            </a:pPr>
            <a:r>
              <a:rPr lang="en-US" sz="1200" dirty="0">
                <a:solidFill>
                  <a:sysClr val="windowText" lastClr="000000"/>
                </a:solidFill>
              </a:rPr>
              <a:t>P^ </a:t>
            </a:r>
            <a:r>
              <a:rPr lang="en-US" sz="1200" dirty="0" err="1">
                <a:solidFill>
                  <a:sysClr val="windowText" lastClr="000000"/>
                </a:solidFill>
              </a:rPr>
              <a:t>proporcion</a:t>
            </a:r>
            <a:r>
              <a:rPr lang="en-US" sz="1200" dirty="0">
                <a:solidFill>
                  <a:sysClr val="windowText" lastClr="000000"/>
                </a:solidFill>
              </a:rPr>
              <a:t> de </a:t>
            </a:r>
            <a:r>
              <a:rPr lang="en-US" sz="1200" dirty="0" err="1">
                <a:solidFill>
                  <a:sysClr val="windowText" lastClr="000000"/>
                </a:solidFill>
              </a:rPr>
              <a:t>exitos</a:t>
            </a:r>
            <a:r>
              <a:rPr lang="en-US" sz="1200" dirty="0">
                <a:solidFill>
                  <a:sysClr val="windowText" lastClr="000000"/>
                </a:solidFill>
              </a:rPr>
              <a:t> </a:t>
            </a:r>
            <a:r>
              <a:rPr lang="en-US" sz="1200" dirty="0" err="1">
                <a:solidFill>
                  <a:sysClr val="windowText" lastClr="000000"/>
                </a:solidFill>
              </a:rPr>
              <a:t>en</a:t>
            </a:r>
            <a:r>
              <a:rPr lang="en-US" sz="1200" dirty="0">
                <a:solidFill>
                  <a:sysClr val="windowText" lastClr="000000"/>
                </a:solidFill>
              </a:rPr>
              <a:t> la </a:t>
            </a:r>
            <a:r>
              <a:rPr lang="en-US" sz="1200" dirty="0" err="1">
                <a:solidFill>
                  <a:sysClr val="windowText" lastClr="000000"/>
                </a:solidFill>
              </a:rPr>
              <a:t>muestra</a:t>
            </a:r>
            <a:r>
              <a:rPr lang="en-US" sz="1200" dirty="0">
                <a:solidFill>
                  <a:sysClr val="windowText" lastClr="000000"/>
                </a:solidFill>
              </a:rPr>
              <a:t> =  224/1028= 0.22</a:t>
            </a:r>
          </a:p>
          <a:p>
            <a:pPr marL="171450" indent="-171450">
              <a:buFont typeface="Arial" panose="020B0604020202020204" pitchFamily="34" charset="0"/>
              <a:buChar char="•"/>
            </a:pPr>
            <a:r>
              <a:rPr lang="en-US" sz="1200" dirty="0">
                <a:solidFill>
                  <a:sysClr val="windowText" lastClr="000000"/>
                </a:solidFill>
              </a:rPr>
              <a:t>P es </a:t>
            </a:r>
            <a:r>
              <a:rPr lang="en-US" sz="1200" dirty="0" err="1">
                <a:solidFill>
                  <a:sysClr val="windowText" lastClr="000000"/>
                </a:solidFill>
              </a:rPr>
              <a:t>el</a:t>
            </a:r>
            <a:r>
              <a:rPr lang="en-US" sz="1200" dirty="0">
                <a:solidFill>
                  <a:sysClr val="windowText" lastClr="000000"/>
                </a:solidFill>
              </a:rPr>
              <a:t> valor </a:t>
            </a:r>
            <a:r>
              <a:rPr lang="en-US" sz="1200" dirty="0" err="1">
                <a:solidFill>
                  <a:sysClr val="windowText" lastClr="000000"/>
                </a:solidFill>
              </a:rPr>
              <a:t>aceverado</a:t>
            </a:r>
            <a:r>
              <a:rPr lang="en-US" sz="1200" dirty="0">
                <a:solidFill>
                  <a:sysClr val="windowText" lastClr="000000"/>
                </a:solidFill>
              </a:rPr>
              <a:t> de la hipotesis </a:t>
            </a:r>
            <a:r>
              <a:rPr lang="en-US" sz="1200" dirty="0" err="1">
                <a:solidFill>
                  <a:sysClr val="windowText" lastClr="000000"/>
                </a:solidFill>
              </a:rPr>
              <a:t>nula</a:t>
            </a:r>
            <a:r>
              <a:rPr lang="en-US" sz="1200" dirty="0">
                <a:solidFill>
                  <a:sysClr val="windowText" lastClr="000000"/>
                </a:solidFill>
              </a:rPr>
              <a:t>, la hipotesis </a:t>
            </a:r>
            <a:r>
              <a:rPr lang="en-US" sz="1200" dirty="0" err="1">
                <a:solidFill>
                  <a:sysClr val="windowText" lastClr="000000"/>
                </a:solidFill>
              </a:rPr>
              <a:t>nula</a:t>
            </a:r>
            <a:r>
              <a:rPr lang="en-US" sz="1200" dirty="0">
                <a:solidFill>
                  <a:sysClr val="windowText" lastClr="000000"/>
                </a:solidFill>
              </a:rPr>
              <a:t> </a:t>
            </a:r>
            <a:r>
              <a:rPr lang="en-US" sz="1200" dirty="0" err="1">
                <a:solidFill>
                  <a:sysClr val="windowText" lastClr="000000"/>
                </a:solidFill>
              </a:rPr>
              <a:t>asevera</a:t>
            </a:r>
            <a:r>
              <a:rPr lang="en-US" sz="1200" dirty="0">
                <a:solidFill>
                  <a:sysClr val="windowText" lastClr="000000"/>
                </a:solidFill>
              </a:rPr>
              <a:t> que p &gt;= 0.25</a:t>
            </a:r>
          </a:p>
          <a:p>
            <a:pPr marL="171450" indent="-171450">
              <a:buFont typeface="Arial" panose="020B0604020202020204" pitchFamily="34" charset="0"/>
              <a:buChar char="•"/>
            </a:pPr>
            <a:r>
              <a:rPr lang="en-US" sz="1200" dirty="0">
                <a:solidFill>
                  <a:sysClr val="windowText" lastClr="000000"/>
                </a:solidFill>
              </a:rPr>
              <a:t>Si p=0.25 </a:t>
            </a:r>
            <a:r>
              <a:rPr lang="en-US" sz="1200" dirty="0" err="1">
                <a:solidFill>
                  <a:sysClr val="windowText" lastClr="000000"/>
                </a:solidFill>
              </a:rPr>
              <a:t>entonces</a:t>
            </a:r>
            <a:r>
              <a:rPr lang="en-US" sz="1200" dirty="0">
                <a:solidFill>
                  <a:sysClr val="windowText" lastClr="000000"/>
                </a:solidFill>
              </a:rPr>
              <a:t> q=0.75 que es la </a:t>
            </a:r>
            <a:r>
              <a:rPr lang="en-US" sz="1200" dirty="0" err="1">
                <a:solidFill>
                  <a:sysClr val="windowText" lastClr="000000"/>
                </a:solidFill>
              </a:rPr>
              <a:t>proporcion</a:t>
            </a:r>
            <a:r>
              <a:rPr lang="en-US" sz="1200" dirty="0">
                <a:solidFill>
                  <a:sysClr val="windowText" lastClr="000000"/>
                </a:solidFill>
              </a:rPr>
              <a:t> de </a:t>
            </a:r>
            <a:r>
              <a:rPr lang="en-US" sz="1200" dirty="0" err="1">
                <a:solidFill>
                  <a:sysClr val="windowText" lastClr="000000"/>
                </a:solidFill>
              </a:rPr>
              <a:t>fracasos</a:t>
            </a:r>
            <a:endParaRPr lang="en-US" sz="1200" dirty="0">
              <a:solidFill>
                <a:sysClr val="windowText" lastClr="000000"/>
              </a:solidFill>
            </a:endParaRPr>
          </a:p>
          <a:p>
            <a:pPr marL="171450" indent="-171450">
              <a:buFont typeface="Arial" panose="020B0604020202020204" pitchFamily="34" charset="0"/>
              <a:buChar char="•"/>
            </a:pPr>
            <a:r>
              <a:rPr lang="en-US" sz="1200" dirty="0">
                <a:solidFill>
                  <a:sysClr val="windowText" lastClr="000000"/>
                </a:solidFill>
              </a:rPr>
              <a:t>N= 1018, </a:t>
            </a:r>
            <a:r>
              <a:rPr lang="en-US" sz="1200" dirty="0" err="1">
                <a:solidFill>
                  <a:sysClr val="windowText" lastClr="000000"/>
                </a:solidFill>
              </a:rPr>
              <a:t>tamanio</a:t>
            </a:r>
            <a:r>
              <a:rPr lang="en-US" sz="1200" dirty="0">
                <a:solidFill>
                  <a:sysClr val="windowText" lastClr="000000"/>
                </a:solidFill>
              </a:rPr>
              <a:t> de la </a:t>
            </a:r>
            <a:r>
              <a:rPr lang="en-US" sz="1200" dirty="0" err="1">
                <a:solidFill>
                  <a:sysClr val="windowText" lastClr="000000"/>
                </a:solidFill>
              </a:rPr>
              <a:t>muestra</a:t>
            </a:r>
            <a:endParaRPr lang="en-US" sz="1200" dirty="0">
              <a:solidFill>
                <a:sysClr val="windowText" lastClr="000000"/>
              </a:solidFill>
            </a:endParaRPr>
          </a:p>
        </p:txBody>
      </p:sp>
      <p:sp>
        <p:nvSpPr>
          <p:cNvPr id="10" name="TextBox 9">
            <a:extLst>
              <a:ext uri="{FF2B5EF4-FFF2-40B4-BE49-F238E27FC236}">
                <a16:creationId xmlns:a16="http://schemas.microsoft.com/office/drawing/2014/main" id="{EB6B6D11-B4D7-2366-F7BB-565A82E6BEDC}"/>
              </a:ext>
            </a:extLst>
          </p:cNvPr>
          <p:cNvSpPr txBox="1"/>
          <p:nvPr/>
        </p:nvSpPr>
        <p:spPr>
          <a:xfrm>
            <a:off x="8942975" y="3794427"/>
            <a:ext cx="3007274" cy="461665"/>
          </a:xfrm>
          <a:prstGeom prst="rect">
            <a:avLst/>
          </a:prstGeom>
          <a:solidFill>
            <a:schemeClr val="tx1"/>
          </a:solidFill>
        </p:spPr>
        <p:txBody>
          <a:bodyPr wrap="square" rtlCol="0">
            <a:spAutoFit/>
          </a:bodyPr>
          <a:lstStyle/>
          <a:p>
            <a:r>
              <a:rPr lang="en-US" sz="1200" dirty="0">
                <a:solidFill>
                  <a:sysClr val="windowText" lastClr="000000"/>
                </a:solidFill>
              </a:rPr>
              <a:t>Z = (0.22-0.25)/sqrt(0.25*0.75/1018)</a:t>
            </a:r>
          </a:p>
          <a:p>
            <a:r>
              <a:rPr lang="en-US" sz="1200" b="1" dirty="0">
                <a:solidFill>
                  <a:sysClr val="windowText" lastClr="000000"/>
                </a:solidFill>
              </a:rPr>
              <a:t>Z = -2.207</a:t>
            </a:r>
          </a:p>
        </p:txBody>
      </p:sp>
      <p:sp>
        <p:nvSpPr>
          <p:cNvPr id="15" name="TextBox 14">
            <a:extLst>
              <a:ext uri="{FF2B5EF4-FFF2-40B4-BE49-F238E27FC236}">
                <a16:creationId xmlns:a16="http://schemas.microsoft.com/office/drawing/2014/main" id="{D78DBE0D-7C80-39BD-97DC-870B99D52344}"/>
              </a:ext>
            </a:extLst>
          </p:cNvPr>
          <p:cNvSpPr txBox="1"/>
          <p:nvPr/>
        </p:nvSpPr>
        <p:spPr>
          <a:xfrm>
            <a:off x="101159" y="5750009"/>
            <a:ext cx="2668178" cy="830997"/>
          </a:xfrm>
          <a:prstGeom prst="rect">
            <a:avLst/>
          </a:prstGeom>
          <a:solidFill>
            <a:schemeClr val="tx1"/>
          </a:solidFill>
        </p:spPr>
        <p:txBody>
          <a:bodyPr wrap="square" rtlCol="0">
            <a:spAutoFit/>
          </a:bodyPr>
          <a:lstStyle/>
          <a:p>
            <a:pPr marL="228600" indent="-228600">
              <a:buFont typeface="+mj-lt"/>
              <a:buAutoNum type="arabicPeriod"/>
            </a:pPr>
            <a:r>
              <a:rPr lang="en-US" sz="1200" dirty="0">
                <a:solidFill>
                  <a:sysClr val="windowText" lastClr="000000"/>
                </a:solidFill>
              </a:rPr>
              <a:t>p &gt; 0. 50</a:t>
            </a:r>
          </a:p>
          <a:p>
            <a:pPr marL="228600" indent="-228600">
              <a:buFont typeface="+mj-lt"/>
              <a:buAutoNum type="arabicPeriod"/>
            </a:pPr>
            <a:r>
              <a:rPr lang="en-US" sz="1200" dirty="0">
                <a:solidFill>
                  <a:sysClr val="windowText" lastClr="000000"/>
                </a:solidFill>
              </a:rPr>
              <a:t>Si p&lt;0.50 </a:t>
            </a:r>
            <a:r>
              <a:rPr lang="en-US" sz="1200" dirty="0" err="1">
                <a:solidFill>
                  <a:sysClr val="windowText" lastClr="000000"/>
                </a:solidFill>
              </a:rPr>
              <a:t>fuera</a:t>
            </a:r>
            <a:r>
              <a:rPr lang="en-US" sz="1200" dirty="0">
                <a:solidFill>
                  <a:sysClr val="windowText" lastClr="000000"/>
                </a:solidFill>
              </a:rPr>
              <a:t> </a:t>
            </a:r>
            <a:r>
              <a:rPr lang="en-US" sz="1200" dirty="0" err="1">
                <a:solidFill>
                  <a:sysClr val="windowText" lastClr="000000"/>
                </a:solidFill>
              </a:rPr>
              <a:t>falso</a:t>
            </a:r>
            <a:r>
              <a:rPr lang="en-US" sz="1200" dirty="0">
                <a:solidFill>
                  <a:sysClr val="windowText" lastClr="000000"/>
                </a:solidFill>
              </a:rPr>
              <a:t>, </a:t>
            </a:r>
            <a:r>
              <a:rPr lang="en-US" sz="1200" dirty="0" err="1">
                <a:solidFill>
                  <a:sysClr val="windowText" lastClr="000000"/>
                </a:solidFill>
              </a:rPr>
              <a:t>entonces</a:t>
            </a:r>
            <a:r>
              <a:rPr lang="en-US" sz="1200" dirty="0">
                <a:solidFill>
                  <a:sysClr val="windowText" lastClr="000000"/>
                </a:solidFill>
              </a:rPr>
              <a:t> p&lt;=0.50 seria </a:t>
            </a:r>
            <a:r>
              <a:rPr lang="en-US" sz="1200" dirty="0" err="1">
                <a:solidFill>
                  <a:sysClr val="windowText" lastClr="000000"/>
                </a:solidFill>
              </a:rPr>
              <a:t>verdadero</a:t>
            </a:r>
            <a:r>
              <a:rPr lang="en-US" sz="1200" dirty="0">
                <a:solidFill>
                  <a:sysClr val="windowText" lastClr="000000"/>
                </a:solidFill>
              </a:rPr>
              <a:t>.</a:t>
            </a:r>
          </a:p>
          <a:p>
            <a:pPr marL="228600" indent="-228600">
              <a:buFont typeface="+mj-lt"/>
              <a:buAutoNum type="arabicPeriod"/>
            </a:pPr>
            <a:r>
              <a:rPr lang="en-US" sz="1200" dirty="0">
                <a:solidFill>
                  <a:sysClr val="windowText" lastClr="000000"/>
                </a:solidFill>
              </a:rPr>
              <a:t>H0: p&lt;=0.50, </a:t>
            </a:r>
            <a:r>
              <a:rPr lang="en-US" sz="1200" b="1" dirty="0">
                <a:solidFill>
                  <a:sysClr val="windowText" lastClr="000000"/>
                </a:solidFill>
              </a:rPr>
              <a:t>H1: p&gt;0.50</a:t>
            </a:r>
          </a:p>
        </p:txBody>
      </p:sp>
      <p:pic>
        <p:nvPicPr>
          <p:cNvPr id="16" name="Picture 15">
            <a:extLst>
              <a:ext uri="{FF2B5EF4-FFF2-40B4-BE49-F238E27FC236}">
                <a16:creationId xmlns:a16="http://schemas.microsoft.com/office/drawing/2014/main" id="{40414F84-D501-1893-65A4-DA1EF6B15B79}"/>
              </a:ext>
            </a:extLst>
          </p:cNvPr>
          <p:cNvPicPr>
            <a:picLocks noChangeAspect="1"/>
          </p:cNvPicPr>
          <p:nvPr/>
        </p:nvPicPr>
        <p:blipFill>
          <a:blip r:embed="rId5"/>
          <a:stretch>
            <a:fillRect/>
          </a:stretch>
        </p:blipFill>
        <p:spPr>
          <a:xfrm>
            <a:off x="2936318" y="5750009"/>
            <a:ext cx="933538" cy="670440"/>
          </a:xfrm>
          <a:prstGeom prst="rect">
            <a:avLst/>
          </a:prstGeom>
        </p:spPr>
      </p:pic>
      <p:sp>
        <p:nvSpPr>
          <p:cNvPr id="17" name="TextBox 16">
            <a:extLst>
              <a:ext uri="{FF2B5EF4-FFF2-40B4-BE49-F238E27FC236}">
                <a16:creationId xmlns:a16="http://schemas.microsoft.com/office/drawing/2014/main" id="{CC3E8880-046B-12E4-8C46-E01ED2C159DD}"/>
              </a:ext>
            </a:extLst>
          </p:cNvPr>
          <p:cNvSpPr txBox="1"/>
          <p:nvPr/>
        </p:nvSpPr>
        <p:spPr>
          <a:xfrm>
            <a:off x="4036837" y="5750009"/>
            <a:ext cx="4739157" cy="1015663"/>
          </a:xfrm>
          <a:prstGeom prst="rect">
            <a:avLst/>
          </a:prstGeom>
          <a:solidFill>
            <a:schemeClr val="tx1"/>
          </a:solidFill>
        </p:spPr>
        <p:txBody>
          <a:bodyPr wrap="square" rtlCol="0">
            <a:spAutoFit/>
          </a:bodyPr>
          <a:lstStyle/>
          <a:p>
            <a:pPr marL="171450" indent="-171450">
              <a:buFont typeface="Arial" panose="020B0604020202020204" pitchFamily="34" charset="0"/>
              <a:buChar char="•"/>
            </a:pPr>
            <a:r>
              <a:rPr lang="en-US" sz="1200" dirty="0">
                <a:solidFill>
                  <a:sysClr val="windowText" lastClr="000000"/>
                </a:solidFill>
              </a:rPr>
              <a:t>P^ </a:t>
            </a:r>
            <a:r>
              <a:rPr lang="en-US" sz="1200" dirty="0" err="1">
                <a:solidFill>
                  <a:sysClr val="windowText" lastClr="000000"/>
                </a:solidFill>
              </a:rPr>
              <a:t>proporcion</a:t>
            </a:r>
            <a:r>
              <a:rPr lang="en-US" sz="1200" dirty="0">
                <a:solidFill>
                  <a:sysClr val="windowText" lastClr="000000"/>
                </a:solidFill>
              </a:rPr>
              <a:t> de </a:t>
            </a:r>
            <a:r>
              <a:rPr lang="en-US" sz="1200" dirty="0" err="1">
                <a:solidFill>
                  <a:sysClr val="windowText" lastClr="000000"/>
                </a:solidFill>
              </a:rPr>
              <a:t>exitos</a:t>
            </a:r>
            <a:r>
              <a:rPr lang="en-US" sz="1200" dirty="0">
                <a:solidFill>
                  <a:sysClr val="windowText" lastClr="000000"/>
                </a:solidFill>
              </a:rPr>
              <a:t> </a:t>
            </a:r>
            <a:r>
              <a:rPr lang="en-US" sz="1200" dirty="0" err="1">
                <a:solidFill>
                  <a:sysClr val="windowText" lastClr="000000"/>
                </a:solidFill>
              </a:rPr>
              <a:t>en</a:t>
            </a:r>
            <a:r>
              <a:rPr lang="en-US" sz="1200" dirty="0">
                <a:solidFill>
                  <a:sysClr val="windowText" lastClr="000000"/>
                </a:solidFill>
              </a:rPr>
              <a:t> la </a:t>
            </a:r>
            <a:r>
              <a:rPr lang="en-US" sz="1200" dirty="0" err="1">
                <a:solidFill>
                  <a:sysClr val="windowText" lastClr="000000"/>
                </a:solidFill>
              </a:rPr>
              <a:t>muestra</a:t>
            </a:r>
            <a:r>
              <a:rPr lang="en-US" sz="1200" dirty="0">
                <a:solidFill>
                  <a:sysClr val="windowText" lastClr="000000"/>
                </a:solidFill>
              </a:rPr>
              <a:t> =  349/500= 0.698</a:t>
            </a:r>
          </a:p>
          <a:p>
            <a:pPr marL="171450" indent="-171450">
              <a:buFont typeface="Arial" panose="020B0604020202020204" pitchFamily="34" charset="0"/>
              <a:buChar char="•"/>
            </a:pPr>
            <a:r>
              <a:rPr lang="en-US" sz="1200" dirty="0">
                <a:solidFill>
                  <a:sysClr val="windowText" lastClr="000000"/>
                </a:solidFill>
              </a:rPr>
              <a:t>P es </a:t>
            </a:r>
            <a:r>
              <a:rPr lang="en-US" sz="1200" dirty="0" err="1">
                <a:solidFill>
                  <a:sysClr val="windowText" lastClr="000000"/>
                </a:solidFill>
              </a:rPr>
              <a:t>el</a:t>
            </a:r>
            <a:r>
              <a:rPr lang="en-US" sz="1200" dirty="0">
                <a:solidFill>
                  <a:sysClr val="windowText" lastClr="000000"/>
                </a:solidFill>
              </a:rPr>
              <a:t> valor </a:t>
            </a:r>
            <a:r>
              <a:rPr lang="en-US" sz="1200" dirty="0" err="1">
                <a:solidFill>
                  <a:sysClr val="windowText" lastClr="000000"/>
                </a:solidFill>
              </a:rPr>
              <a:t>aceverado</a:t>
            </a:r>
            <a:r>
              <a:rPr lang="en-US" sz="1200" dirty="0">
                <a:solidFill>
                  <a:sysClr val="windowText" lastClr="000000"/>
                </a:solidFill>
              </a:rPr>
              <a:t> de la hipotesis </a:t>
            </a:r>
            <a:r>
              <a:rPr lang="en-US" sz="1200" dirty="0" err="1">
                <a:solidFill>
                  <a:sysClr val="windowText" lastClr="000000"/>
                </a:solidFill>
              </a:rPr>
              <a:t>nula</a:t>
            </a:r>
            <a:r>
              <a:rPr lang="en-US" sz="1200" dirty="0">
                <a:solidFill>
                  <a:sysClr val="windowText" lastClr="000000"/>
                </a:solidFill>
              </a:rPr>
              <a:t>, la hipotesis </a:t>
            </a:r>
            <a:r>
              <a:rPr lang="en-US" sz="1200" dirty="0" err="1">
                <a:solidFill>
                  <a:sysClr val="windowText" lastClr="000000"/>
                </a:solidFill>
              </a:rPr>
              <a:t>nula</a:t>
            </a:r>
            <a:r>
              <a:rPr lang="en-US" sz="1200" dirty="0">
                <a:solidFill>
                  <a:sysClr val="windowText" lastClr="000000"/>
                </a:solidFill>
              </a:rPr>
              <a:t> </a:t>
            </a:r>
            <a:r>
              <a:rPr lang="en-US" sz="1200" dirty="0" err="1">
                <a:solidFill>
                  <a:sysClr val="windowText" lastClr="000000"/>
                </a:solidFill>
              </a:rPr>
              <a:t>asevera</a:t>
            </a:r>
            <a:r>
              <a:rPr lang="en-US" sz="1200" dirty="0">
                <a:solidFill>
                  <a:sysClr val="windowText" lastClr="000000"/>
                </a:solidFill>
              </a:rPr>
              <a:t> que p &lt;= 0.50</a:t>
            </a:r>
          </a:p>
          <a:p>
            <a:pPr marL="171450" indent="-171450">
              <a:buFont typeface="Arial" panose="020B0604020202020204" pitchFamily="34" charset="0"/>
              <a:buChar char="•"/>
            </a:pPr>
            <a:r>
              <a:rPr lang="en-US" sz="1200" dirty="0">
                <a:solidFill>
                  <a:sysClr val="windowText" lastClr="000000"/>
                </a:solidFill>
              </a:rPr>
              <a:t>Si p=0.50 </a:t>
            </a:r>
            <a:r>
              <a:rPr lang="en-US" sz="1200" dirty="0" err="1">
                <a:solidFill>
                  <a:sysClr val="windowText" lastClr="000000"/>
                </a:solidFill>
              </a:rPr>
              <a:t>entonces</a:t>
            </a:r>
            <a:r>
              <a:rPr lang="en-US" sz="1200" dirty="0">
                <a:solidFill>
                  <a:sysClr val="windowText" lastClr="000000"/>
                </a:solidFill>
              </a:rPr>
              <a:t> q=0.50 que es la </a:t>
            </a:r>
            <a:r>
              <a:rPr lang="en-US" sz="1200" dirty="0" err="1">
                <a:solidFill>
                  <a:sysClr val="windowText" lastClr="000000"/>
                </a:solidFill>
              </a:rPr>
              <a:t>proporcion</a:t>
            </a:r>
            <a:r>
              <a:rPr lang="en-US" sz="1200" dirty="0">
                <a:solidFill>
                  <a:sysClr val="windowText" lastClr="000000"/>
                </a:solidFill>
              </a:rPr>
              <a:t> de </a:t>
            </a:r>
            <a:r>
              <a:rPr lang="en-US" sz="1200" dirty="0" err="1">
                <a:solidFill>
                  <a:sysClr val="windowText" lastClr="000000"/>
                </a:solidFill>
              </a:rPr>
              <a:t>fracasos</a:t>
            </a:r>
            <a:endParaRPr lang="en-US" sz="1200" dirty="0">
              <a:solidFill>
                <a:sysClr val="windowText" lastClr="000000"/>
              </a:solidFill>
            </a:endParaRPr>
          </a:p>
          <a:p>
            <a:pPr marL="171450" indent="-171450">
              <a:buFont typeface="Arial" panose="020B0604020202020204" pitchFamily="34" charset="0"/>
              <a:buChar char="•"/>
            </a:pPr>
            <a:r>
              <a:rPr lang="en-US" sz="1200" dirty="0">
                <a:solidFill>
                  <a:sysClr val="windowText" lastClr="000000"/>
                </a:solidFill>
              </a:rPr>
              <a:t>N= 500, </a:t>
            </a:r>
            <a:r>
              <a:rPr lang="en-US" sz="1200" dirty="0" err="1">
                <a:solidFill>
                  <a:sysClr val="windowText" lastClr="000000"/>
                </a:solidFill>
              </a:rPr>
              <a:t>tamanio</a:t>
            </a:r>
            <a:r>
              <a:rPr lang="en-US" sz="1200" dirty="0">
                <a:solidFill>
                  <a:sysClr val="windowText" lastClr="000000"/>
                </a:solidFill>
              </a:rPr>
              <a:t> de la </a:t>
            </a:r>
            <a:r>
              <a:rPr lang="en-US" sz="1200" dirty="0" err="1">
                <a:solidFill>
                  <a:sysClr val="windowText" lastClr="000000"/>
                </a:solidFill>
              </a:rPr>
              <a:t>muestra</a:t>
            </a:r>
            <a:endParaRPr lang="en-US" sz="1200" dirty="0">
              <a:solidFill>
                <a:sysClr val="windowText" lastClr="000000"/>
              </a:solidFill>
            </a:endParaRPr>
          </a:p>
        </p:txBody>
      </p:sp>
      <p:sp>
        <p:nvSpPr>
          <p:cNvPr id="18" name="TextBox 17">
            <a:extLst>
              <a:ext uri="{FF2B5EF4-FFF2-40B4-BE49-F238E27FC236}">
                <a16:creationId xmlns:a16="http://schemas.microsoft.com/office/drawing/2014/main" id="{2E8BB6C6-C424-F61D-4688-D858FDDE620D}"/>
              </a:ext>
            </a:extLst>
          </p:cNvPr>
          <p:cNvSpPr txBox="1"/>
          <p:nvPr/>
        </p:nvSpPr>
        <p:spPr>
          <a:xfrm>
            <a:off x="8942975" y="5750009"/>
            <a:ext cx="3007274" cy="461665"/>
          </a:xfrm>
          <a:prstGeom prst="rect">
            <a:avLst/>
          </a:prstGeom>
          <a:solidFill>
            <a:schemeClr val="tx1"/>
          </a:solidFill>
        </p:spPr>
        <p:txBody>
          <a:bodyPr wrap="square" rtlCol="0">
            <a:spAutoFit/>
          </a:bodyPr>
          <a:lstStyle/>
          <a:p>
            <a:r>
              <a:rPr lang="en-US" sz="1200" dirty="0">
                <a:solidFill>
                  <a:sysClr val="windowText" lastClr="000000"/>
                </a:solidFill>
              </a:rPr>
              <a:t>Z = (0.698-0.50)/sqrt(0.50*0.50/500)</a:t>
            </a:r>
          </a:p>
          <a:p>
            <a:r>
              <a:rPr lang="en-US" sz="1200" b="1" dirty="0">
                <a:solidFill>
                  <a:sysClr val="windowText" lastClr="000000"/>
                </a:solidFill>
              </a:rPr>
              <a:t>Z = 8.8548</a:t>
            </a:r>
          </a:p>
        </p:txBody>
      </p:sp>
      <p:sp>
        <p:nvSpPr>
          <p:cNvPr id="21" name="TextBox 20">
            <a:extLst>
              <a:ext uri="{FF2B5EF4-FFF2-40B4-BE49-F238E27FC236}">
                <a16:creationId xmlns:a16="http://schemas.microsoft.com/office/drawing/2014/main" id="{7594581C-8D60-5EF0-34A7-D5D0B679268A}"/>
              </a:ext>
            </a:extLst>
          </p:cNvPr>
          <p:cNvSpPr txBox="1"/>
          <p:nvPr/>
        </p:nvSpPr>
        <p:spPr>
          <a:xfrm>
            <a:off x="8942975" y="4234034"/>
            <a:ext cx="1364880" cy="461665"/>
          </a:xfrm>
          <a:prstGeom prst="rect">
            <a:avLst/>
          </a:prstGeom>
          <a:noFill/>
        </p:spPr>
        <p:txBody>
          <a:bodyPr wrap="square" rtlCol="0">
            <a:spAutoFit/>
          </a:bodyPr>
          <a:lstStyle/>
          <a:p>
            <a:r>
              <a:rPr lang="en-US" sz="1200" dirty="0">
                <a:solidFill>
                  <a:srgbClr val="0070C0"/>
                </a:solidFill>
              </a:rPr>
              <a:t>R-Studio (9) </a:t>
            </a:r>
          </a:p>
          <a:p>
            <a:r>
              <a:rPr lang="en-US" sz="1200" dirty="0">
                <a:solidFill>
                  <a:srgbClr val="0070C0"/>
                </a:solidFill>
              </a:rPr>
              <a:t>z=-2.21</a:t>
            </a:r>
          </a:p>
        </p:txBody>
      </p:sp>
      <p:sp>
        <p:nvSpPr>
          <p:cNvPr id="22" name="TextBox 21">
            <a:extLst>
              <a:ext uri="{FF2B5EF4-FFF2-40B4-BE49-F238E27FC236}">
                <a16:creationId xmlns:a16="http://schemas.microsoft.com/office/drawing/2014/main" id="{9F9343C7-0AAE-9375-341B-674019EE7F6E}"/>
              </a:ext>
            </a:extLst>
          </p:cNvPr>
          <p:cNvSpPr txBox="1"/>
          <p:nvPr/>
        </p:nvSpPr>
        <p:spPr>
          <a:xfrm>
            <a:off x="8998633" y="6253002"/>
            <a:ext cx="1364880" cy="461665"/>
          </a:xfrm>
          <a:prstGeom prst="rect">
            <a:avLst/>
          </a:prstGeom>
          <a:noFill/>
        </p:spPr>
        <p:txBody>
          <a:bodyPr wrap="square" rtlCol="0">
            <a:spAutoFit/>
          </a:bodyPr>
          <a:lstStyle/>
          <a:p>
            <a:r>
              <a:rPr lang="en-US" sz="1200" dirty="0">
                <a:solidFill>
                  <a:srgbClr val="0070C0"/>
                </a:solidFill>
              </a:rPr>
              <a:t>R-Studio (9) </a:t>
            </a:r>
          </a:p>
          <a:p>
            <a:r>
              <a:rPr lang="en-US" sz="1200" dirty="0">
                <a:solidFill>
                  <a:srgbClr val="0070C0"/>
                </a:solidFill>
              </a:rPr>
              <a:t>z= 8.85</a:t>
            </a:r>
          </a:p>
        </p:txBody>
      </p:sp>
    </p:spTree>
    <p:extLst>
      <p:ext uri="{BB962C8B-B14F-4D97-AF65-F5344CB8AC3E}">
        <p14:creationId xmlns:p14="http://schemas.microsoft.com/office/powerpoint/2010/main" val="1495579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1028"/>
                                        </p:tgtEl>
                                        <p:attrNameLst>
                                          <p:attrName>style.visibility</p:attrName>
                                        </p:attrNameLst>
                                      </p:cBhvr>
                                      <p:to>
                                        <p:strVal val="visible"/>
                                      </p:to>
                                    </p:set>
                                    <p:animEffect transition="in" filter="fade">
                                      <p:cBhvr>
                                        <p:cTn id="19" dur="1000"/>
                                        <p:tgtEl>
                                          <p:spTgt spid="1028"/>
                                        </p:tgtEl>
                                      </p:cBhvr>
                                    </p:animEffect>
                                    <p:anim calcmode="lin" valueType="num">
                                      <p:cBhvr>
                                        <p:cTn id="20" dur="1000" fill="hold"/>
                                        <p:tgtEl>
                                          <p:spTgt spid="1028"/>
                                        </p:tgtEl>
                                        <p:attrNameLst>
                                          <p:attrName>ppt_x</p:attrName>
                                        </p:attrNameLst>
                                      </p:cBhvr>
                                      <p:tavLst>
                                        <p:tav tm="0">
                                          <p:val>
                                            <p:strVal val="#ppt_x"/>
                                          </p:val>
                                        </p:tav>
                                        <p:tav tm="100000">
                                          <p:val>
                                            <p:strVal val="#ppt_x"/>
                                          </p:val>
                                        </p:tav>
                                      </p:tavLst>
                                    </p:anim>
                                    <p:anim calcmode="lin" valueType="num">
                                      <p:cBhvr>
                                        <p:cTn id="21" dur="1000" fill="hold"/>
                                        <p:tgtEl>
                                          <p:spTgt spid="1028"/>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fade">
                                      <p:cBhvr>
                                        <p:cTn id="26" dur="1000"/>
                                        <p:tgtEl>
                                          <p:spTgt spid="4"/>
                                        </p:tgtEl>
                                      </p:cBhvr>
                                    </p:animEffect>
                                    <p:anim calcmode="lin" valueType="num">
                                      <p:cBhvr>
                                        <p:cTn id="27" dur="1000" fill="hold"/>
                                        <p:tgtEl>
                                          <p:spTgt spid="4"/>
                                        </p:tgtEl>
                                        <p:attrNameLst>
                                          <p:attrName>ppt_x</p:attrName>
                                        </p:attrNameLst>
                                      </p:cBhvr>
                                      <p:tavLst>
                                        <p:tav tm="0">
                                          <p:val>
                                            <p:strVal val="#ppt_x"/>
                                          </p:val>
                                        </p:tav>
                                        <p:tav tm="100000">
                                          <p:val>
                                            <p:strVal val="#ppt_x"/>
                                          </p:val>
                                        </p:tav>
                                      </p:tavLst>
                                    </p:anim>
                                    <p:anim calcmode="lin" valueType="num">
                                      <p:cBhvr>
                                        <p:cTn id="28" dur="1000" fill="hold"/>
                                        <p:tgtEl>
                                          <p:spTgt spid="4"/>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1000"/>
                                        <p:tgtEl>
                                          <p:spTgt spid="5"/>
                                        </p:tgtEl>
                                      </p:cBhvr>
                                    </p:animEffect>
                                    <p:anim calcmode="lin" valueType="num">
                                      <p:cBhvr>
                                        <p:cTn id="32" dur="1000" fill="hold"/>
                                        <p:tgtEl>
                                          <p:spTgt spid="5"/>
                                        </p:tgtEl>
                                        <p:attrNameLst>
                                          <p:attrName>ppt_x</p:attrName>
                                        </p:attrNameLst>
                                      </p:cBhvr>
                                      <p:tavLst>
                                        <p:tav tm="0">
                                          <p:val>
                                            <p:strVal val="#ppt_x"/>
                                          </p:val>
                                        </p:tav>
                                        <p:tav tm="100000">
                                          <p:val>
                                            <p:strVal val="#ppt_x"/>
                                          </p:val>
                                        </p:tav>
                                      </p:tavLst>
                                    </p:anim>
                                    <p:anim calcmode="lin" valueType="num">
                                      <p:cBhvr>
                                        <p:cTn id="3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3" grpId="0" animBg="1"/>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1" y="879063"/>
                <a:ext cx="8558801" cy="610863"/>
              </a:xfrm>
            </p:spPr>
            <p:txBody>
              <a:bodyPr rtlCol="0">
                <a:noAutofit/>
              </a:bodyPr>
              <a:lstStyle/>
              <a:p>
                <a:pPr algn="just"/>
                <a:r>
                  <a:rPr lang="es-MX" sz="2400" dirty="0">
                    <a:latin typeface="Times New Roman" panose="02020603050405020304" pitchFamily="18" charset="0"/>
                    <a:ea typeface="Times New Roman" panose="02020603050405020304" pitchFamily="18" charset="0"/>
                    <a:cs typeface="Times New Roman" panose="02020603050405020304" pitchFamily="18" charset="0"/>
                  </a:rPr>
                  <a:t>Región Crítica, nivel de significancia, valor crítico y valor </a:t>
                </a:r>
                <a14:m>
                  <m:oMath xmlns:m="http://schemas.openxmlformats.org/officeDocument/2006/math">
                    <m:r>
                      <a:rPr lang="es-MX" sz="2400" i="1" dirty="0" smtClean="0">
                        <a:latin typeface="Cambria Math" panose="02040503050406030204" pitchFamily="18" charset="0"/>
                        <a:ea typeface="Times New Roman" panose="02020603050405020304" pitchFamily="18" charset="0"/>
                        <a:cs typeface="Times New Roman" panose="02020603050405020304" pitchFamily="18" charset="0"/>
                      </a:rPr>
                      <m:t>𝑃</m:t>
                    </m:r>
                  </m:oMath>
                </a14:m>
                <a:endParaRPr lang="es-ES" sz="2600" dirty="0">
                  <a:latin typeface="Times New Roman" panose="02020603050405020304" pitchFamily="18" charset="0"/>
                  <a:cs typeface="Times New Roman" panose="02020603050405020304" pitchFamily="18" charset="0"/>
                </a:endParaRPr>
              </a:p>
            </p:txBody>
          </p:sp>
        </mc:Choice>
        <mc:Fallback>
          <p:sp>
            <p:nvSpPr>
              <p:cNvPr id="2" name="Título 1">
                <a:extLst>
                  <a:ext uri="{FF2B5EF4-FFF2-40B4-BE49-F238E27FC236}">
                    <a16:creationId xmlns:a16="http://schemas.microsoft.com/office/drawing/2014/main" id="{8C122DF8-59D4-D94D-8ED9-F2F319899DBF}"/>
                  </a:ext>
                </a:extLst>
              </p:cNvPr>
              <p:cNvSpPr>
                <a:spLocks noGrp="1" noRot="1" noChangeAspect="1" noMove="1" noResize="1" noEditPoints="1" noAdjustHandles="1" noChangeArrowheads="1" noChangeShapeType="1" noTextEdit="1"/>
              </p:cNvSpPr>
              <p:nvPr>
                <p:ph type="title"/>
              </p:nvPr>
            </p:nvSpPr>
            <p:spPr>
              <a:xfrm>
                <a:off x="964021" y="879063"/>
                <a:ext cx="8558801" cy="610863"/>
              </a:xfrm>
              <a:blipFill>
                <a:blip r:embed="rId3"/>
                <a:stretch>
                  <a:fillRect l="-2137" r="-926" b="-31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CuadroTexto 10">
                <a:extLst>
                  <a:ext uri="{FF2B5EF4-FFF2-40B4-BE49-F238E27FC236}">
                    <a16:creationId xmlns:a16="http://schemas.microsoft.com/office/drawing/2014/main" id="{F494AF8A-D47C-6E15-F0A8-B546B382BBB9}"/>
                  </a:ext>
                </a:extLst>
              </p:cNvPr>
              <p:cNvSpPr txBox="1"/>
              <p:nvPr/>
            </p:nvSpPr>
            <p:spPr>
              <a:xfrm>
                <a:off x="303622" y="2387640"/>
                <a:ext cx="10719978" cy="966803"/>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La </a:t>
                </a:r>
                <a:r>
                  <a:rPr lang="es-MX"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región crítica </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(o región de rechazo de las </a:t>
                </a:r>
                <a:r>
                  <a:rPr lang="es-MX" b="1" u="sng"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tablas</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Normal, chi^2, t-</a:t>
                </a:r>
                <a:r>
                  <a:rPr lang="es-MX" dirty="0" err="1">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student</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es el conjunto de todos los valores del estadístico de prueba que pueden provocar que </a:t>
                </a:r>
                <a:r>
                  <a:rPr lang="es-MX"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rechacemos la hipótesis nula</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Si el estadístico de prueba (</a:t>
                </a:r>
                <a14:m>
                  <m:oMath xmlns:m="http://schemas.openxmlformats.org/officeDocument/2006/math">
                    <m:r>
                      <a:rPr lang="es-MX" b="1" i="1">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𝒛</m:t>
                    </m:r>
                    <m:r>
                      <a:rPr lang="es-MX" b="1" i="1">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 </m:t>
                    </m:r>
                    <m:r>
                      <a:rPr lang="es-MX" b="1" i="1">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𝒕</m:t>
                    </m:r>
                    <m:r>
                      <a:rPr lang="es-MX" b="1">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s-MX" b="1" i="1">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ctrlPr>
                      </m:sSupPr>
                      <m:e>
                        <m:r>
                          <a:rPr lang="es-MX" b="1" i="1">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𝝌</m:t>
                        </m:r>
                      </m:e>
                      <m:sup>
                        <m:r>
                          <a:rPr lang="es-MX" b="1" i="1">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𝟐</m:t>
                        </m:r>
                      </m:sup>
                    </m:sSup>
                  </m:oMath>
                </a14:m>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cae en la región de rechazo o región critica se rechaza la hipótesis nula H</a:t>
                </a:r>
                <a:r>
                  <a:rPr lang="es-MX" sz="12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0</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p:sp>
            <p:nvSpPr>
              <p:cNvPr id="11" name="CuadroTexto 10">
                <a:extLst>
                  <a:ext uri="{FF2B5EF4-FFF2-40B4-BE49-F238E27FC236}">
                    <a16:creationId xmlns:a16="http://schemas.microsoft.com/office/drawing/2014/main" id="{F494AF8A-D47C-6E15-F0A8-B546B382BBB9}"/>
                  </a:ext>
                </a:extLst>
              </p:cNvPr>
              <p:cNvSpPr txBox="1">
                <a:spLocks noRot="1" noChangeAspect="1" noMove="1" noResize="1" noEditPoints="1" noAdjustHandles="1" noChangeArrowheads="1" noChangeShapeType="1" noTextEdit="1"/>
              </p:cNvSpPr>
              <p:nvPr/>
            </p:nvSpPr>
            <p:spPr>
              <a:xfrm>
                <a:off x="303622" y="2387640"/>
                <a:ext cx="10719978" cy="966803"/>
              </a:xfrm>
              <a:prstGeom prst="rect">
                <a:avLst/>
              </a:prstGeom>
              <a:blipFill>
                <a:blip r:embed="rId4"/>
                <a:stretch>
                  <a:fillRect l="-455" t="-3125" r="-398" b="-8750"/>
                </a:stretch>
              </a:blipFill>
              <a:ln>
                <a:solidFill>
                  <a:schemeClr val="tx1">
                    <a:lumMod val="85000"/>
                  </a:schemeClr>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CuadroTexto 5">
                <a:extLst>
                  <a:ext uri="{FF2B5EF4-FFF2-40B4-BE49-F238E27FC236}">
                    <a16:creationId xmlns:a16="http://schemas.microsoft.com/office/drawing/2014/main" id="{F494AF8A-D47C-6E15-F0A8-B546B382BBB9}"/>
                  </a:ext>
                </a:extLst>
              </p:cNvPr>
              <p:cNvSpPr txBox="1"/>
              <p:nvPr/>
            </p:nvSpPr>
            <p:spPr>
              <a:xfrm>
                <a:off x="303622" y="3788741"/>
                <a:ext cx="10719977" cy="1263166"/>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El </a:t>
                </a:r>
                <a:r>
                  <a:rPr lang="es-MX"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nivel de significancia</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(denotado por </a:t>
                </a:r>
                <a14:m>
                  <m:oMath xmlns:m="http://schemas.openxmlformats.org/officeDocument/2006/math">
                    <m:r>
                      <a:rPr lang="es-MX" i="1" smtClean="0">
                        <a:solidFill>
                          <a:srgbClr val="FF0000"/>
                        </a:solidFill>
                        <a:highlight>
                          <a:srgbClr val="FFFF00"/>
                        </a:highlight>
                        <a:latin typeface="Cambria Math" panose="02040503050406030204" pitchFamily="18" charset="0"/>
                        <a:ea typeface="Times New Roman" panose="02020603050405020304" pitchFamily="18" charset="0"/>
                        <a:cs typeface="Times New Roman" panose="02020603050405020304" pitchFamily="18" charset="0"/>
                      </a:rPr>
                      <m:t>𝛼</m:t>
                    </m:r>
                  </m:oMath>
                </a14:m>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es la </a:t>
                </a:r>
                <a:r>
                  <a:rPr lang="es-MX"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probabilidad de que el estadístico de prueba caiga en la región crítica</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a:t>
                </a:r>
                <a:r>
                  <a:rPr lang="es-MX"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cuando la hipótesis nula es verdadera</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Si el estadístico de prueba cae en la región crítica, rechazamos la hipótesis nula, de manera que </a:t>
                </a:r>
                <a14:m>
                  <m:oMath xmlns:m="http://schemas.openxmlformats.org/officeDocument/2006/math">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𝛼</m:t>
                    </m:r>
                  </m:oMath>
                </a14:m>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es la probabilidad de cometer el error de rechazar la hipótesis nula cuando es verdadera, este es el </a:t>
                </a:r>
                <a:r>
                  <a:rPr lang="es-MX" u="sng"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Error tipo I </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(ver siguiente </a:t>
                </a:r>
                <a:r>
                  <a:rPr lang="es-MX" dirty="0" err="1">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slide</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14 para tipos de Errores)</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p:sp>
            <p:nvSpPr>
              <p:cNvPr id="6" name="CuadroTexto 5">
                <a:extLst>
                  <a:ext uri="{FF2B5EF4-FFF2-40B4-BE49-F238E27FC236}">
                    <a16:creationId xmlns:a16="http://schemas.microsoft.com/office/drawing/2014/main" id="{F494AF8A-D47C-6E15-F0A8-B546B382BBB9}"/>
                  </a:ext>
                </a:extLst>
              </p:cNvPr>
              <p:cNvSpPr txBox="1">
                <a:spLocks noRot="1" noChangeAspect="1" noMove="1" noResize="1" noEditPoints="1" noAdjustHandles="1" noChangeArrowheads="1" noChangeShapeType="1" noTextEdit="1"/>
              </p:cNvSpPr>
              <p:nvPr/>
            </p:nvSpPr>
            <p:spPr>
              <a:xfrm>
                <a:off x="303622" y="3788741"/>
                <a:ext cx="10719977" cy="1263166"/>
              </a:xfrm>
              <a:prstGeom prst="rect">
                <a:avLst/>
              </a:prstGeom>
              <a:blipFill>
                <a:blip r:embed="rId5"/>
                <a:stretch>
                  <a:fillRect l="-455" t="-2392" r="-398" b="-6220"/>
                </a:stretch>
              </a:blipFill>
              <a:ln>
                <a:solidFill>
                  <a:schemeClr val="tx1">
                    <a:lumMod val="85000"/>
                  </a:schemeClr>
                </a:solidFill>
              </a:ln>
            </p:spPr>
            <p:txBody>
              <a:bodyPr/>
              <a:lstStyle/>
              <a:p>
                <a:r>
                  <a:rPr lang="en-US">
                    <a:noFill/>
                  </a:rPr>
                  <a:t> </a:t>
                </a:r>
              </a:p>
            </p:txBody>
          </p:sp>
        </mc:Fallback>
      </mc:AlternateContent>
      <p:sp>
        <p:nvSpPr>
          <p:cNvPr id="7" name="CuadroTexto 6">
            <a:extLst>
              <a:ext uri="{FF2B5EF4-FFF2-40B4-BE49-F238E27FC236}">
                <a16:creationId xmlns:a16="http://schemas.microsoft.com/office/drawing/2014/main" id="{F494AF8A-D47C-6E15-F0A8-B546B382BBB9}"/>
              </a:ext>
            </a:extLst>
          </p:cNvPr>
          <p:cNvSpPr txBox="1"/>
          <p:nvPr/>
        </p:nvSpPr>
        <p:spPr>
          <a:xfrm>
            <a:off x="303622" y="5503036"/>
            <a:ext cx="10719977" cy="670440"/>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Un </a:t>
            </a:r>
            <a:r>
              <a:rPr lang="es-MX"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valor crítico</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es cualquier valor que separa a la región crítica (donde rechazamos la hipótesis nula) de los valores del estadístico de prueba que no conducen al rechazo de la hipótesis nula. </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9537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6" grpId="0" animBg="1"/>
      <p:bldP spid="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72488" y="53036"/>
                <a:ext cx="8558801" cy="442718"/>
              </a:xfrm>
              <a:solidFill>
                <a:schemeClr val="tx1"/>
              </a:solidFill>
            </p:spPr>
            <p:txBody>
              <a:bodyPr rtlCol="0">
                <a:noAutofit/>
              </a:bodyPr>
              <a:lstStyle/>
              <a:p>
                <a:pPr algn="just"/>
                <a:r>
                  <a:rPr lang="es-MX" sz="2400" dirty="0">
                    <a:latin typeface="Times New Roman" panose="02020603050405020304" pitchFamily="18" charset="0"/>
                    <a:ea typeface="Times New Roman" panose="02020603050405020304" pitchFamily="18" charset="0"/>
                    <a:cs typeface="Times New Roman" panose="02020603050405020304" pitchFamily="18" charset="0"/>
                  </a:rPr>
                  <a:t>Región Crítica, nivel de significancia, valor crítico y valor </a:t>
                </a:r>
                <a14:m>
                  <m:oMath xmlns:m="http://schemas.openxmlformats.org/officeDocument/2006/math">
                    <m:r>
                      <a:rPr lang="es-MX" sz="2400" i="1" dirty="0" smtClean="0">
                        <a:latin typeface="Cambria Math" panose="02040503050406030204" pitchFamily="18" charset="0"/>
                        <a:ea typeface="Times New Roman" panose="02020603050405020304" pitchFamily="18" charset="0"/>
                        <a:cs typeface="Times New Roman" panose="02020603050405020304" pitchFamily="18" charset="0"/>
                      </a:rPr>
                      <m:t>𝑃</m:t>
                    </m:r>
                  </m:oMath>
                </a14:m>
                <a:endParaRPr lang="es-ES" sz="2600" dirty="0">
                  <a:latin typeface="Times New Roman" panose="02020603050405020304" pitchFamily="18" charset="0"/>
                  <a:cs typeface="Times New Roman" panose="02020603050405020304" pitchFamily="18" charset="0"/>
                </a:endParaRPr>
              </a:p>
            </p:txBody>
          </p:sp>
        </mc:Choice>
        <mc:Fallback>
          <p:sp>
            <p:nvSpPr>
              <p:cNvPr id="2" name="Título 1">
                <a:extLst>
                  <a:ext uri="{FF2B5EF4-FFF2-40B4-BE49-F238E27FC236}">
                    <a16:creationId xmlns:a16="http://schemas.microsoft.com/office/drawing/2014/main" id="{8C122DF8-59D4-D94D-8ED9-F2F319899DBF}"/>
                  </a:ext>
                </a:extLst>
              </p:cNvPr>
              <p:cNvSpPr>
                <a:spLocks noGrp="1" noRot="1" noChangeAspect="1" noMove="1" noResize="1" noEditPoints="1" noAdjustHandles="1" noChangeArrowheads="1" noChangeShapeType="1" noTextEdit="1"/>
              </p:cNvSpPr>
              <p:nvPr>
                <p:ph type="title"/>
              </p:nvPr>
            </p:nvSpPr>
            <p:spPr>
              <a:xfrm>
                <a:off x="972488" y="53036"/>
                <a:ext cx="8558801" cy="442718"/>
              </a:xfrm>
              <a:blipFill>
                <a:blip r:embed="rId3"/>
                <a:stretch>
                  <a:fillRect l="-2208" t="-4167" r="-855" b="-43056"/>
                </a:stretch>
              </a:blipFill>
            </p:spPr>
            <p:txBody>
              <a:bodyPr/>
              <a:lstStyle/>
              <a:p>
                <a:r>
                  <a:rPr lang="en-US">
                    <a:noFill/>
                  </a:rPr>
                  <a:t> </a:t>
                </a:r>
              </a:p>
            </p:txBody>
          </p:sp>
        </mc:Fallback>
      </mc:AlternateContent>
      <p:pic>
        <p:nvPicPr>
          <p:cNvPr id="8" name="Imagen 7"/>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1444173" y="1412481"/>
            <a:ext cx="6523400" cy="3892187"/>
          </a:xfrm>
          <a:prstGeom prst="rect">
            <a:avLst/>
          </a:prstGeom>
        </p:spPr>
      </p:pic>
      <p:sp>
        <p:nvSpPr>
          <p:cNvPr id="3" name="TextBox 2">
            <a:extLst>
              <a:ext uri="{FF2B5EF4-FFF2-40B4-BE49-F238E27FC236}">
                <a16:creationId xmlns:a16="http://schemas.microsoft.com/office/drawing/2014/main" id="{80C06B96-7ED7-938E-4523-AD41D383BCED}"/>
              </a:ext>
            </a:extLst>
          </p:cNvPr>
          <p:cNvSpPr txBox="1"/>
          <p:nvPr/>
        </p:nvSpPr>
        <p:spPr>
          <a:xfrm>
            <a:off x="59635" y="2081892"/>
            <a:ext cx="2641231" cy="984885"/>
          </a:xfrm>
          <a:prstGeom prst="rect">
            <a:avLst/>
          </a:prstGeom>
          <a:noFill/>
        </p:spPr>
        <p:txBody>
          <a:bodyPr wrap="square" rtlCol="0">
            <a:spAutoFit/>
          </a:bodyPr>
          <a:lstStyle/>
          <a:p>
            <a:r>
              <a:rPr lang="en-US" sz="1400" b="1" dirty="0">
                <a:solidFill>
                  <a:schemeClr val="bg1"/>
                </a:solidFill>
              </a:rPr>
              <a:t>alpha</a:t>
            </a:r>
            <a:r>
              <a:rPr lang="en-US" sz="1400" dirty="0">
                <a:solidFill>
                  <a:schemeClr val="bg1"/>
                </a:solidFill>
              </a:rPr>
              <a:t> = </a:t>
            </a:r>
            <a:r>
              <a:rPr lang="en-US" sz="1400" dirty="0" err="1">
                <a:solidFill>
                  <a:schemeClr val="bg1"/>
                </a:solidFill>
              </a:rPr>
              <a:t>nivel</a:t>
            </a:r>
            <a:r>
              <a:rPr lang="en-US" sz="1400" dirty="0">
                <a:solidFill>
                  <a:schemeClr val="bg1"/>
                </a:solidFill>
              </a:rPr>
              <a:t> de </a:t>
            </a:r>
            <a:r>
              <a:rPr lang="en-US" sz="1400" b="1" dirty="0" err="1">
                <a:solidFill>
                  <a:schemeClr val="bg1"/>
                </a:solidFill>
              </a:rPr>
              <a:t>significancia</a:t>
            </a:r>
            <a:endParaRPr lang="en-US" sz="1400" b="1" dirty="0">
              <a:solidFill>
                <a:schemeClr val="bg1"/>
              </a:solidFill>
            </a:endParaRPr>
          </a:p>
          <a:p>
            <a:endParaRPr lang="en-US" sz="1200" b="1" dirty="0">
              <a:solidFill>
                <a:schemeClr val="bg1"/>
              </a:solidFill>
            </a:endParaRPr>
          </a:p>
          <a:p>
            <a:r>
              <a:rPr lang="en-US" sz="1400" dirty="0">
                <a:solidFill>
                  <a:schemeClr val="bg1"/>
                </a:solidFill>
              </a:rPr>
              <a:t>(</a:t>
            </a:r>
            <a:r>
              <a:rPr lang="en-US" sz="1400" b="1" dirty="0">
                <a:solidFill>
                  <a:schemeClr val="bg1"/>
                </a:solidFill>
              </a:rPr>
              <a:t>1 – alpha</a:t>
            </a:r>
            <a:r>
              <a:rPr lang="en-US" sz="1400" dirty="0">
                <a:solidFill>
                  <a:schemeClr val="bg1"/>
                </a:solidFill>
              </a:rPr>
              <a:t>) = </a:t>
            </a:r>
            <a:r>
              <a:rPr lang="en-US" sz="1400" dirty="0" err="1">
                <a:solidFill>
                  <a:schemeClr val="bg1"/>
                </a:solidFill>
              </a:rPr>
              <a:t>nivel</a:t>
            </a:r>
            <a:r>
              <a:rPr lang="en-US" sz="1400" dirty="0">
                <a:solidFill>
                  <a:schemeClr val="bg1"/>
                </a:solidFill>
              </a:rPr>
              <a:t> de </a:t>
            </a:r>
            <a:r>
              <a:rPr lang="en-US" sz="1400" b="1" dirty="0" err="1">
                <a:solidFill>
                  <a:schemeClr val="bg1"/>
                </a:solidFill>
              </a:rPr>
              <a:t>confianza</a:t>
            </a:r>
            <a:endParaRPr lang="en-US" sz="1400" b="1" dirty="0">
              <a:solidFill>
                <a:schemeClr val="bg1"/>
              </a:solidFill>
            </a:endParaRPr>
          </a:p>
          <a:p>
            <a:endParaRPr lang="en-US" dirty="0">
              <a:solidFill>
                <a:srgbClr val="FF0000"/>
              </a:solidFill>
            </a:endParaRPr>
          </a:p>
        </p:txBody>
      </p:sp>
      <p:sp>
        <p:nvSpPr>
          <p:cNvPr id="4" name="TextBox 3">
            <a:extLst>
              <a:ext uri="{FF2B5EF4-FFF2-40B4-BE49-F238E27FC236}">
                <a16:creationId xmlns:a16="http://schemas.microsoft.com/office/drawing/2014/main" id="{72020069-E954-45B1-25B0-D6BC7E6BD834}"/>
              </a:ext>
            </a:extLst>
          </p:cNvPr>
          <p:cNvSpPr txBox="1"/>
          <p:nvPr/>
        </p:nvSpPr>
        <p:spPr>
          <a:xfrm>
            <a:off x="1077441" y="3983505"/>
            <a:ext cx="1623425" cy="276999"/>
          </a:xfrm>
          <a:prstGeom prst="rect">
            <a:avLst/>
          </a:prstGeom>
          <a:noFill/>
        </p:spPr>
        <p:txBody>
          <a:bodyPr wrap="square" rtlCol="0">
            <a:spAutoFit/>
          </a:bodyPr>
          <a:lstStyle/>
          <a:p>
            <a:r>
              <a:rPr lang="en-US" sz="1200" b="1" dirty="0" err="1">
                <a:solidFill>
                  <a:sysClr val="windowText" lastClr="000000"/>
                </a:solidFill>
              </a:rPr>
              <a:t>Parametro</a:t>
            </a:r>
            <a:r>
              <a:rPr lang="en-US" sz="1200" b="1" dirty="0">
                <a:solidFill>
                  <a:sysClr val="windowText" lastClr="000000"/>
                </a:solidFill>
              </a:rPr>
              <a:t> </a:t>
            </a:r>
            <a:r>
              <a:rPr lang="en-US" sz="1200" b="1" dirty="0" err="1">
                <a:solidFill>
                  <a:sysClr val="windowText" lastClr="000000"/>
                </a:solidFill>
              </a:rPr>
              <a:t>aseverado</a:t>
            </a:r>
            <a:r>
              <a:rPr lang="en-US" sz="1200" b="1" dirty="0">
                <a:solidFill>
                  <a:sysClr val="windowText" lastClr="000000"/>
                </a:solidFill>
              </a:rPr>
              <a:t>.</a:t>
            </a:r>
          </a:p>
        </p:txBody>
      </p:sp>
      <p:cxnSp>
        <p:nvCxnSpPr>
          <p:cNvPr id="6" name="Straight Arrow Connector 5">
            <a:extLst>
              <a:ext uri="{FF2B5EF4-FFF2-40B4-BE49-F238E27FC236}">
                <a16:creationId xmlns:a16="http://schemas.microsoft.com/office/drawing/2014/main" id="{83BB823F-539D-58DA-6A18-9736CFB35675}"/>
              </a:ext>
            </a:extLst>
          </p:cNvPr>
          <p:cNvCxnSpPr>
            <a:cxnSpLocks/>
            <a:stCxn id="4" idx="3"/>
          </p:cNvCxnSpPr>
          <p:nvPr/>
        </p:nvCxnSpPr>
        <p:spPr>
          <a:xfrm flipV="1">
            <a:off x="2700866" y="3983505"/>
            <a:ext cx="516467" cy="138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28FFCADD-40DC-B5A9-9BEE-1A6DB6E916F5}"/>
              </a:ext>
            </a:extLst>
          </p:cNvPr>
          <p:cNvPicPr>
            <a:picLocks noChangeAspect="1"/>
          </p:cNvPicPr>
          <p:nvPr/>
        </p:nvPicPr>
        <p:blipFill>
          <a:blip r:embed="rId6"/>
          <a:stretch>
            <a:fillRect/>
          </a:stretch>
        </p:blipFill>
        <p:spPr>
          <a:xfrm>
            <a:off x="7967573" y="728260"/>
            <a:ext cx="4201639" cy="3926822"/>
          </a:xfrm>
          <a:prstGeom prst="rect">
            <a:avLst/>
          </a:prstGeom>
          <a:ln>
            <a:solidFill>
              <a:schemeClr val="bg1"/>
            </a:solidFill>
          </a:ln>
        </p:spPr>
      </p:pic>
      <p:sp>
        <p:nvSpPr>
          <p:cNvPr id="10" name="TextBox 9">
            <a:extLst>
              <a:ext uri="{FF2B5EF4-FFF2-40B4-BE49-F238E27FC236}">
                <a16:creationId xmlns:a16="http://schemas.microsoft.com/office/drawing/2014/main" id="{F744E0FE-D2FB-3086-C0C3-26923B14EA72}"/>
              </a:ext>
            </a:extLst>
          </p:cNvPr>
          <p:cNvSpPr txBox="1"/>
          <p:nvPr/>
        </p:nvSpPr>
        <p:spPr>
          <a:xfrm>
            <a:off x="9867733" y="1145422"/>
            <a:ext cx="1988141" cy="461665"/>
          </a:xfrm>
          <a:prstGeom prst="rect">
            <a:avLst/>
          </a:prstGeom>
          <a:noFill/>
        </p:spPr>
        <p:txBody>
          <a:bodyPr wrap="square" rtlCol="0">
            <a:spAutoFit/>
          </a:bodyPr>
          <a:lstStyle/>
          <a:p>
            <a:r>
              <a:rPr lang="en-US" sz="1200" b="1" dirty="0" err="1">
                <a:solidFill>
                  <a:srgbClr val="00B0F0"/>
                </a:solidFill>
                <a:hlinkClick r:id="rId7">
                  <a:extLst>
                    <a:ext uri="{A12FA001-AC4F-418D-AE19-62706E023703}">
                      <ahyp:hlinkClr xmlns:ahyp="http://schemas.microsoft.com/office/drawing/2018/hyperlinkcolor" val="tx"/>
                    </a:ext>
                  </a:extLst>
                </a:hlinkClick>
              </a:rPr>
              <a:t>Standar</a:t>
            </a:r>
            <a:r>
              <a:rPr lang="en-US" sz="1200" b="1" dirty="0">
                <a:solidFill>
                  <a:srgbClr val="00B0F0"/>
                </a:solidFill>
                <a:hlinkClick r:id="rId7">
                  <a:extLst>
                    <a:ext uri="{A12FA001-AC4F-418D-AE19-62706E023703}">
                      <ahyp:hlinkClr xmlns:ahyp="http://schemas.microsoft.com/office/drawing/2018/hyperlinkcolor" val="tx"/>
                    </a:ext>
                  </a:extLst>
                </a:hlinkClick>
              </a:rPr>
              <a:t> normal Distribution Z-table</a:t>
            </a:r>
            <a:endParaRPr lang="en-US" sz="1200" b="1" dirty="0">
              <a:solidFill>
                <a:srgbClr val="00B0F0"/>
              </a:solidFill>
            </a:endParaRPr>
          </a:p>
        </p:txBody>
      </p:sp>
      <p:sp>
        <p:nvSpPr>
          <p:cNvPr id="12" name="TextBox 11">
            <a:extLst>
              <a:ext uri="{FF2B5EF4-FFF2-40B4-BE49-F238E27FC236}">
                <a16:creationId xmlns:a16="http://schemas.microsoft.com/office/drawing/2014/main" id="{B3202DC8-A8DE-1A96-F1A3-711A5B28CB36}"/>
              </a:ext>
            </a:extLst>
          </p:cNvPr>
          <p:cNvSpPr txBox="1"/>
          <p:nvPr/>
        </p:nvSpPr>
        <p:spPr>
          <a:xfrm>
            <a:off x="7888393" y="4690356"/>
            <a:ext cx="4201639" cy="1015663"/>
          </a:xfrm>
          <a:prstGeom prst="rect">
            <a:avLst/>
          </a:prstGeom>
          <a:noFill/>
        </p:spPr>
        <p:txBody>
          <a:bodyPr wrap="square" rtlCol="0">
            <a:spAutoFit/>
          </a:bodyPr>
          <a:lstStyle/>
          <a:p>
            <a:r>
              <a:rPr lang="en-US" sz="1200" dirty="0">
                <a:solidFill>
                  <a:sysClr val="windowText" lastClr="000000"/>
                </a:solidFill>
              </a:rPr>
              <a:t>Con un alpha del 5% </a:t>
            </a:r>
            <a:r>
              <a:rPr lang="en-US" sz="1200" dirty="0" err="1">
                <a:solidFill>
                  <a:sysClr val="windowText" lastClr="000000"/>
                </a:solidFill>
              </a:rPr>
              <a:t>yo</a:t>
            </a:r>
            <a:r>
              <a:rPr lang="en-US" sz="1200" dirty="0">
                <a:solidFill>
                  <a:sysClr val="windowText" lastClr="000000"/>
                </a:solidFill>
              </a:rPr>
              <a:t> </a:t>
            </a:r>
            <a:r>
              <a:rPr lang="en-US" sz="1200" dirty="0" err="1">
                <a:solidFill>
                  <a:sysClr val="windowText" lastClr="000000"/>
                </a:solidFill>
              </a:rPr>
              <a:t>tendria</a:t>
            </a:r>
            <a:r>
              <a:rPr lang="en-US" sz="1200" dirty="0">
                <a:solidFill>
                  <a:sysClr val="windowText" lastClr="000000"/>
                </a:solidFill>
              </a:rPr>
              <a:t> que </a:t>
            </a:r>
            <a:r>
              <a:rPr lang="en-US" sz="1200" dirty="0" err="1">
                <a:solidFill>
                  <a:sysClr val="windowText" lastClr="000000"/>
                </a:solidFill>
              </a:rPr>
              <a:t>tener</a:t>
            </a:r>
            <a:r>
              <a:rPr lang="en-US" sz="1200" dirty="0">
                <a:solidFill>
                  <a:sysClr val="windowText" lastClr="000000"/>
                </a:solidFill>
              </a:rPr>
              <a:t> </a:t>
            </a:r>
            <a:r>
              <a:rPr lang="en-US" sz="1200" dirty="0" err="1">
                <a:solidFill>
                  <a:sysClr val="windowText" lastClr="000000"/>
                </a:solidFill>
              </a:rPr>
              <a:t>una</a:t>
            </a:r>
            <a:r>
              <a:rPr lang="en-US" sz="1200" dirty="0">
                <a:solidFill>
                  <a:sysClr val="windowText" lastClr="000000"/>
                </a:solidFill>
              </a:rPr>
              <a:t> area </a:t>
            </a:r>
            <a:r>
              <a:rPr lang="en-US" sz="1200" dirty="0" err="1">
                <a:solidFill>
                  <a:sysClr val="windowText" lastClr="000000"/>
                </a:solidFill>
              </a:rPr>
              <a:t>acumulada</a:t>
            </a:r>
            <a:r>
              <a:rPr lang="en-US" sz="1200" dirty="0">
                <a:solidFill>
                  <a:sysClr val="windowText" lastClr="000000"/>
                </a:solidFill>
              </a:rPr>
              <a:t> del 95% </a:t>
            </a:r>
            <a:r>
              <a:rPr lang="en-US" sz="1200" dirty="0" err="1">
                <a:solidFill>
                  <a:sysClr val="windowText" lastClr="000000"/>
                </a:solidFill>
              </a:rPr>
              <a:t>por</a:t>
            </a:r>
            <a:r>
              <a:rPr lang="en-US" sz="1200" dirty="0">
                <a:solidFill>
                  <a:sysClr val="windowText" lastClr="000000"/>
                </a:solidFill>
              </a:rPr>
              <a:t> </a:t>
            </a:r>
            <a:r>
              <a:rPr lang="en-US" sz="1200" dirty="0" err="1">
                <a:solidFill>
                  <a:sysClr val="windowText" lastClr="000000"/>
                </a:solidFill>
              </a:rPr>
              <a:t>el</a:t>
            </a:r>
            <a:r>
              <a:rPr lang="en-US" sz="1200" dirty="0">
                <a:solidFill>
                  <a:sysClr val="windowText" lastClr="000000"/>
                </a:solidFill>
              </a:rPr>
              <a:t> </a:t>
            </a:r>
            <a:r>
              <a:rPr lang="en-US" sz="1200" dirty="0" err="1">
                <a:solidFill>
                  <a:sysClr val="windowText" lastClr="000000"/>
                </a:solidFill>
              </a:rPr>
              <a:t>lado</a:t>
            </a:r>
            <a:r>
              <a:rPr lang="en-US" sz="1200" dirty="0">
                <a:solidFill>
                  <a:sysClr val="windowText" lastClr="000000"/>
                </a:solidFill>
              </a:rPr>
              <a:t> Izquierdo (imagen </a:t>
            </a:r>
            <a:r>
              <a:rPr lang="en-US" sz="1200" dirty="0" err="1">
                <a:solidFill>
                  <a:sysClr val="windowText" lastClr="000000"/>
                </a:solidFill>
              </a:rPr>
              <a:t>arriba</a:t>
            </a:r>
            <a:r>
              <a:rPr lang="en-US" sz="1200" dirty="0">
                <a:solidFill>
                  <a:sysClr val="windowText" lastClr="000000"/>
                </a:solidFill>
              </a:rPr>
              <a:t>) y un 5% </a:t>
            </a:r>
            <a:r>
              <a:rPr lang="en-US" sz="1200" dirty="0" err="1">
                <a:solidFill>
                  <a:sysClr val="windowText" lastClr="000000"/>
                </a:solidFill>
              </a:rPr>
              <a:t>acumulado</a:t>
            </a:r>
            <a:r>
              <a:rPr lang="en-US" sz="1200" dirty="0">
                <a:solidFill>
                  <a:sysClr val="windowText" lastClr="000000"/>
                </a:solidFill>
              </a:rPr>
              <a:t> </a:t>
            </a:r>
            <a:r>
              <a:rPr lang="en-US" sz="1200" dirty="0" err="1">
                <a:solidFill>
                  <a:sysClr val="windowText" lastClr="000000"/>
                </a:solidFill>
              </a:rPr>
              <a:t>por</a:t>
            </a:r>
            <a:r>
              <a:rPr lang="en-US" sz="1200" dirty="0">
                <a:solidFill>
                  <a:sysClr val="windowText" lastClr="000000"/>
                </a:solidFill>
              </a:rPr>
              <a:t> </a:t>
            </a:r>
            <a:r>
              <a:rPr lang="en-US" sz="1200" dirty="0" err="1">
                <a:solidFill>
                  <a:sysClr val="windowText" lastClr="000000"/>
                </a:solidFill>
              </a:rPr>
              <a:t>el</a:t>
            </a:r>
            <a:r>
              <a:rPr lang="en-US" sz="1200" dirty="0">
                <a:solidFill>
                  <a:sysClr val="windowText" lastClr="000000"/>
                </a:solidFill>
              </a:rPr>
              <a:t> </a:t>
            </a:r>
            <a:r>
              <a:rPr lang="en-US" sz="1200" dirty="0" err="1">
                <a:solidFill>
                  <a:sysClr val="windowText" lastClr="000000"/>
                </a:solidFill>
              </a:rPr>
              <a:t>lado</a:t>
            </a:r>
            <a:r>
              <a:rPr lang="en-US" sz="1200" dirty="0">
                <a:solidFill>
                  <a:sysClr val="windowText" lastClr="000000"/>
                </a:solidFill>
              </a:rPr>
              <a:t> derecho </a:t>
            </a:r>
            <a:r>
              <a:rPr lang="en-US" sz="1200" dirty="0" err="1">
                <a:solidFill>
                  <a:sysClr val="windowText" lastClr="000000"/>
                </a:solidFill>
              </a:rPr>
              <a:t>porque</a:t>
            </a:r>
            <a:r>
              <a:rPr lang="en-US" sz="1200" dirty="0">
                <a:solidFill>
                  <a:sysClr val="windowText" lastClr="000000"/>
                </a:solidFill>
              </a:rPr>
              <a:t> </a:t>
            </a:r>
            <a:r>
              <a:rPr lang="en-US" sz="1200" dirty="0" err="1">
                <a:solidFill>
                  <a:sysClr val="windowText" lastClr="000000"/>
                </a:solidFill>
              </a:rPr>
              <a:t>estoy</a:t>
            </a:r>
            <a:r>
              <a:rPr lang="en-US" sz="1200" dirty="0">
                <a:solidFill>
                  <a:sysClr val="windowText" lastClr="000000"/>
                </a:solidFill>
              </a:rPr>
              <a:t> </a:t>
            </a:r>
            <a:r>
              <a:rPr lang="en-US" sz="1200" dirty="0" err="1">
                <a:solidFill>
                  <a:sysClr val="windowText" lastClr="000000"/>
                </a:solidFill>
              </a:rPr>
              <a:t>utilizando</a:t>
            </a:r>
            <a:r>
              <a:rPr lang="en-US" sz="1200" dirty="0">
                <a:solidFill>
                  <a:sysClr val="windowText" lastClr="000000"/>
                </a:solidFill>
              </a:rPr>
              <a:t> un </a:t>
            </a:r>
            <a:r>
              <a:rPr lang="en-US" sz="1200" dirty="0" err="1">
                <a:solidFill>
                  <a:sysClr val="windowText" lastClr="000000"/>
                </a:solidFill>
              </a:rPr>
              <a:t>nivel</a:t>
            </a:r>
            <a:r>
              <a:rPr lang="en-US" sz="1200" dirty="0">
                <a:solidFill>
                  <a:sysClr val="windowText" lastClr="000000"/>
                </a:solidFill>
              </a:rPr>
              <a:t> de </a:t>
            </a:r>
            <a:r>
              <a:rPr lang="en-US" sz="1200" dirty="0" err="1">
                <a:solidFill>
                  <a:sysClr val="windowText" lastClr="000000"/>
                </a:solidFill>
              </a:rPr>
              <a:t>significancia</a:t>
            </a:r>
            <a:r>
              <a:rPr lang="en-US" sz="1200" dirty="0">
                <a:solidFill>
                  <a:sysClr val="windowText" lastClr="000000"/>
                </a:solidFill>
              </a:rPr>
              <a:t> (alpha) del 5%.</a:t>
            </a:r>
          </a:p>
          <a:p>
            <a:r>
              <a:rPr lang="en-US" sz="1200" dirty="0">
                <a:solidFill>
                  <a:sysClr val="windowText" lastClr="000000"/>
                </a:solidFill>
              </a:rPr>
              <a:t>Z = 1.6 in the table above.</a:t>
            </a:r>
          </a:p>
        </p:txBody>
      </p:sp>
      <p:sp>
        <p:nvSpPr>
          <p:cNvPr id="13" name="Rectangle 12">
            <a:extLst>
              <a:ext uri="{FF2B5EF4-FFF2-40B4-BE49-F238E27FC236}">
                <a16:creationId xmlns:a16="http://schemas.microsoft.com/office/drawing/2014/main" id="{A366444F-DC75-04B3-B3BA-23F9BFE192A1}"/>
              </a:ext>
            </a:extLst>
          </p:cNvPr>
          <p:cNvSpPr/>
          <p:nvPr/>
        </p:nvSpPr>
        <p:spPr>
          <a:xfrm>
            <a:off x="8040194" y="3805706"/>
            <a:ext cx="294111" cy="1385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CCC05EB-4BB6-DF06-00C6-15C1C836C826}"/>
              </a:ext>
            </a:extLst>
          </p:cNvPr>
          <p:cNvSpPr/>
          <p:nvPr/>
        </p:nvSpPr>
        <p:spPr>
          <a:xfrm>
            <a:off x="10064488" y="1993297"/>
            <a:ext cx="294111" cy="1385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F7B43008-9883-C8A5-1804-7AE24E36EE95}"/>
              </a:ext>
            </a:extLst>
          </p:cNvPr>
          <p:cNvSpPr txBox="1"/>
          <p:nvPr/>
        </p:nvSpPr>
        <p:spPr>
          <a:xfrm>
            <a:off x="0" y="5578262"/>
            <a:ext cx="5029197" cy="1200329"/>
          </a:xfrm>
          <a:prstGeom prst="rect">
            <a:avLst/>
          </a:prstGeom>
          <a:noFill/>
        </p:spPr>
        <p:txBody>
          <a:bodyPr wrap="square" rtlCol="0">
            <a:spAutoFit/>
          </a:bodyPr>
          <a:lstStyle/>
          <a:p>
            <a:r>
              <a:rPr lang="en-US" sz="1200" dirty="0">
                <a:solidFill>
                  <a:sysClr val="windowText" lastClr="000000"/>
                </a:solidFill>
              </a:rPr>
              <a:t>Nota: Esta es </a:t>
            </a:r>
            <a:r>
              <a:rPr lang="en-US" sz="1200" dirty="0" err="1">
                <a:solidFill>
                  <a:sysClr val="windowText" lastClr="000000"/>
                </a:solidFill>
              </a:rPr>
              <a:t>una</a:t>
            </a:r>
            <a:r>
              <a:rPr lang="en-US" sz="1200" dirty="0">
                <a:solidFill>
                  <a:sysClr val="windowText" lastClr="000000"/>
                </a:solidFill>
              </a:rPr>
              <a:t> prueba de cola </a:t>
            </a:r>
            <a:r>
              <a:rPr lang="en-US" sz="1200" dirty="0" err="1">
                <a:solidFill>
                  <a:sysClr val="windowText" lastClr="000000"/>
                </a:solidFill>
              </a:rPr>
              <a:t>derecha</a:t>
            </a:r>
            <a:r>
              <a:rPr lang="en-US" sz="1200" dirty="0">
                <a:solidFill>
                  <a:sysClr val="windowText" lastClr="000000"/>
                </a:solidFill>
              </a:rPr>
              <a:t> </a:t>
            </a:r>
            <a:r>
              <a:rPr lang="en-US" sz="1200" dirty="0" err="1">
                <a:solidFill>
                  <a:sysClr val="windowText" lastClr="000000"/>
                </a:solidFill>
              </a:rPr>
              <a:t>por</a:t>
            </a:r>
            <a:r>
              <a:rPr lang="en-US" sz="1200" dirty="0">
                <a:solidFill>
                  <a:sysClr val="windowText" lastClr="000000"/>
                </a:solidFill>
              </a:rPr>
              <a:t> </a:t>
            </a:r>
            <a:r>
              <a:rPr lang="en-US" sz="1200" dirty="0" err="1">
                <a:solidFill>
                  <a:sysClr val="windowText" lastClr="000000"/>
                </a:solidFill>
              </a:rPr>
              <a:t>el</a:t>
            </a:r>
            <a:r>
              <a:rPr lang="en-US" sz="1200" dirty="0">
                <a:solidFill>
                  <a:sysClr val="windowText" lastClr="000000"/>
                </a:solidFill>
              </a:rPr>
              <a:t> H1: p&gt;0.5, </a:t>
            </a:r>
          </a:p>
          <a:p>
            <a:r>
              <a:rPr lang="en-US" sz="1200" dirty="0" err="1">
                <a:solidFill>
                  <a:sysClr val="windowText" lastClr="000000"/>
                </a:solidFill>
              </a:rPr>
              <a:t>si</a:t>
            </a:r>
            <a:r>
              <a:rPr lang="en-US" sz="1200" dirty="0">
                <a:solidFill>
                  <a:sysClr val="windowText" lastClr="000000"/>
                </a:solidFill>
              </a:rPr>
              <a:t> </a:t>
            </a:r>
            <a:r>
              <a:rPr lang="en-US" sz="1200" dirty="0" err="1">
                <a:solidFill>
                  <a:sysClr val="windowText" lastClr="000000"/>
                </a:solidFill>
              </a:rPr>
              <a:t>fuera</a:t>
            </a:r>
            <a:r>
              <a:rPr lang="en-US" sz="1200" dirty="0">
                <a:solidFill>
                  <a:sysClr val="windowText" lastClr="000000"/>
                </a:solidFill>
              </a:rPr>
              <a:t> H1: p&lt;0.5 seria </a:t>
            </a:r>
            <a:r>
              <a:rPr lang="en-US" sz="1200" dirty="0" err="1">
                <a:solidFill>
                  <a:sysClr val="windowText" lastClr="000000"/>
                </a:solidFill>
              </a:rPr>
              <a:t>una</a:t>
            </a:r>
            <a:r>
              <a:rPr lang="en-US" sz="1200" dirty="0">
                <a:solidFill>
                  <a:sysClr val="windowText" lastClr="000000"/>
                </a:solidFill>
              </a:rPr>
              <a:t> prueba de cola </a:t>
            </a:r>
            <a:r>
              <a:rPr lang="en-US" sz="1200" dirty="0" err="1">
                <a:solidFill>
                  <a:sysClr val="windowText" lastClr="000000"/>
                </a:solidFill>
              </a:rPr>
              <a:t>izquierda</a:t>
            </a:r>
            <a:r>
              <a:rPr lang="en-US" sz="1200" dirty="0">
                <a:solidFill>
                  <a:sysClr val="windowText" lastClr="000000"/>
                </a:solidFill>
              </a:rPr>
              <a:t> y </a:t>
            </a:r>
            <a:r>
              <a:rPr lang="en-US" sz="1200" dirty="0" err="1">
                <a:solidFill>
                  <a:sysClr val="windowText" lastClr="000000"/>
                </a:solidFill>
              </a:rPr>
              <a:t>si</a:t>
            </a:r>
            <a:r>
              <a:rPr lang="en-US" sz="1200" dirty="0">
                <a:solidFill>
                  <a:sysClr val="windowText" lastClr="000000"/>
                </a:solidFill>
              </a:rPr>
              <a:t> </a:t>
            </a:r>
            <a:r>
              <a:rPr lang="en-US" sz="1200" dirty="0" err="1">
                <a:solidFill>
                  <a:sysClr val="windowText" lastClr="000000"/>
                </a:solidFill>
              </a:rPr>
              <a:t>fuera</a:t>
            </a:r>
            <a:r>
              <a:rPr lang="en-US" sz="1200" dirty="0">
                <a:solidFill>
                  <a:sysClr val="windowText" lastClr="000000"/>
                </a:solidFill>
              </a:rPr>
              <a:t> H1: p≠0.5 seria </a:t>
            </a:r>
            <a:r>
              <a:rPr lang="en-US" sz="1200" dirty="0" err="1">
                <a:solidFill>
                  <a:sysClr val="windowText" lastClr="000000"/>
                </a:solidFill>
              </a:rPr>
              <a:t>una</a:t>
            </a:r>
            <a:r>
              <a:rPr lang="en-US" sz="1200" dirty="0">
                <a:solidFill>
                  <a:sysClr val="windowText" lastClr="000000"/>
                </a:solidFill>
              </a:rPr>
              <a:t> prueba de dos colas.</a:t>
            </a:r>
          </a:p>
          <a:p>
            <a:r>
              <a:rPr lang="en-US" sz="1200" dirty="0">
                <a:solidFill>
                  <a:sysClr val="windowText" lastClr="000000"/>
                </a:solidFill>
              </a:rPr>
              <a:t>Por lo tanto </a:t>
            </a:r>
            <a:r>
              <a:rPr lang="en-US" sz="1200" dirty="0" err="1">
                <a:solidFill>
                  <a:sysClr val="windowText" lastClr="000000"/>
                </a:solidFill>
              </a:rPr>
              <a:t>en</a:t>
            </a:r>
            <a:r>
              <a:rPr lang="en-US" sz="1200" dirty="0">
                <a:solidFill>
                  <a:sysClr val="windowText" lastClr="000000"/>
                </a:solidFill>
              </a:rPr>
              <a:t> la cola </a:t>
            </a:r>
            <a:r>
              <a:rPr lang="en-US" sz="1200" dirty="0" err="1">
                <a:solidFill>
                  <a:sysClr val="windowText" lastClr="000000"/>
                </a:solidFill>
              </a:rPr>
              <a:t>derecha</a:t>
            </a:r>
            <a:r>
              <a:rPr lang="en-US" sz="1200" dirty="0">
                <a:solidFill>
                  <a:sysClr val="windowText" lastClr="000000"/>
                </a:solidFill>
              </a:rPr>
              <a:t> es </a:t>
            </a:r>
            <a:r>
              <a:rPr lang="en-US" sz="1200" dirty="0" err="1">
                <a:solidFill>
                  <a:sysClr val="windowText" lastClr="000000"/>
                </a:solidFill>
              </a:rPr>
              <a:t>en</a:t>
            </a:r>
            <a:r>
              <a:rPr lang="en-US" sz="1200" dirty="0">
                <a:solidFill>
                  <a:sysClr val="windowText" lastClr="000000"/>
                </a:solidFill>
              </a:rPr>
              <a:t> </a:t>
            </a:r>
            <a:r>
              <a:rPr lang="en-US" sz="1200" dirty="0" err="1">
                <a:solidFill>
                  <a:sysClr val="windowText" lastClr="000000"/>
                </a:solidFill>
              </a:rPr>
              <a:t>donde</a:t>
            </a:r>
            <a:r>
              <a:rPr lang="en-US" sz="1200" dirty="0">
                <a:solidFill>
                  <a:sysClr val="windowText" lastClr="000000"/>
                </a:solidFill>
              </a:rPr>
              <a:t> se </a:t>
            </a:r>
            <a:r>
              <a:rPr lang="en-US" sz="1200" dirty="0" err="1">
                <a:solidFill>
                  <a:sysClr val="windowText" lastClr="000000"/>
                </a:solidFill>
              </a:rPr>
              <a:t>va</a:t>
            </a:r>
            <a:r>
              <a:rPr lang="en-US" sz="1200" dirty="0">
                <a:solidFill>
                  <a:sysClr val="windowText" lastClr="000000"/>
                </a:solidFill>
              </a:rPr>
              <a:t> a </a:t>
            </a:r>
            <a:r>
              <a:rPr lang="en-US" sz="1200" dirty="0" err="1">
                <a:solidFill>
                  <a:sysClr val="windowText" lastClr="000000"/>
                </a:solidFill>
              </a:rPr>
              <a:t>cumular</a:t>
            </a:r>
            <a:r>
              <a:rPr lang="en-US" sz="1200" dirty="0">
                <a:solidFill>
                  <a:sysClr val="windowText" lastClr="000000"/>
                </a:solidFill>
              </a:rPr>
              <a:t> la </a:t>
            </a:r>
            <a:r>
              <a:rPr lang="en-US" sz="1200" dirty="0" err="1">
                <a:solidFill>
                  <a:sysClr val="windowText" lastClr="000000"/>
                </a:solidFill>
              </a:rPr>
              <a:t>probabilidad</a:t>
            </a:r>
            <a:r>
              <a:rPr lang="en-US" sz="1200" dirty="0">
                <a:solidFill>
                  <a:sysClr val="windowText" lastClr="000000"/>
                </a:solidFill>
              </a:rPr>
              <a:t> de </a:t>
            </a:r>
            <a:r>
              <a:rPr lang="en-US" sz="1200" dirty="0" err="1">
                <a:solidFill>
                  <a:sysClr val="windowText" lastClr="000000"/>
                </a:solidFill>
              </a:rPr>
              <a:t>rechazar</a:t>
            </a:r>
            <a:r>
              <a:rPr lang="en-US" sz="1200" dirty="0">
                <a:solidFill>
                  <a:sysClr val="windowText" lastClr="000000"/>
                </a:solidFill>
              </a:rPr>
              <a:t> la hipotesis </a:t>
            </a:r>
            <a:r>
              <a:rPr lang="en-US" sz="1200" dirty="0" err="1">
                <a:solidFill>
                  <a:sysClr val="windowText" lastClr="000000"/>
                </a:solidFill>
              </a:rPr>
              <a:t>nula</a:t>
            </a:r>
            <a:r>
              <a:rPr lang="en-US" sz="1200" dirty="0">
                <a:solidFill>
                  <a:sysClr val="windowText" lastClr="000000"/>
                </a:solidFill>
              </a:rPr>
              <a:t> </a:t>
            </a:r>
            <a:r>
              <a:rPr lang="en-US" sz="1200" dirty="0" err="1">
                <a:solidFill>
                  <a:sysClr val="windowText" lastClr="000000"/>
                </a:solidFill>
              </a:rPr>
              <a:t>cuando</a:t>
            </a:r>
            <a:r>
              <a:rPr lang="en-US" sz="1200" dirty="0">
                <a:solidFill>
                  <a:sysClr val="windowText" lastClr="000000"/>
                </a:solidFill>
              </a:rPr>
              <a:t> es </a:t>
            </a:r>
            <a:r>
              <a:rPr lang="en-US" sz="1200" dirty="0" err="1">
                <a:solidFill>
                  <a:sysClr val="windowText" lastClr="000000"/>
                </a:solidFill>
              </a:rPr>
              <a:t>verdadera</a:t>
            </a:r>
            <a:r>
              <a:rPr lang="en-US" sz="1200" dirty="0">
                <a:solidFill>
                  <a:sysClr val="windowText" lastClr="000000"/>
                </a:solidFill>
              </a:rPr>
              <a:t>, es </a:t>
            </a:r>
            <a:r>
              <a:rPr lang="en-US" sz="1200" dirty="0" err="1">
                <a:solidFill>
                  <a:sysClr val="windowText" lastClr="000000"/>
                </a:solidFill>
              </a:rPr>
              <a:t>decir</a:t>
            </a:r>
            <a:r>
              <a:rPr lang="en-US" sz="1200" dirty="0">
                <a:solidFill>
                  <a:sysClr val="windowText" lastClr="000000"/>
                </a:solidFill>
              </a:rPr>
              <a:t> </a:t>
            </a:r>
            <a:r>
              <a:rPr lang="en-US" sz="1200" dirty="0" err="1">
                <a:solidFill>
                  <a:sysClr val="windowText" lastClr="000000"/>
                </a:solidFill>
              </a:rPr>
              <a:t>el</a:t>
            </a:r>
            <a:r>
              <a:rPr lang="en-US" sz="1200" dirty="0">
                <a:solidFill>
                  <a:sysClr val="windowText" lastClr="000000"/>
                </a:solidFill>
              </a:rPr>
              <a:t> 5% (alpha).</a:t>
            </a:r>
          </a:p>
        </p:txBody>
      </p:sp>
      <p:sp>
        <p:nvSpPr>
          <p:cNvPr id="16" name="TextBox 15">
            <a:extLst>
              <a:ext uri="{FF2B5EF4-FFF2-40B4-BE49-F238E27FC236}">
                <a16:creationId xmlns:a16="http://schemas.microsoft.com/office/drawing/2014/main" id="{74A0C366-3672-2E06-265C-927BB476F76C}"/>
              </a:ext>
            </a:extLst>
          </p:cNvPr>
          <p:cNvSpPr txBox="1"/>
          <p:nvPr/>
        </p:nvSpPr>
        <p:spPr>
          <a:xfrm>
            <a:off x="2946566" y="3410590"/>
            <a:ext cx="3623805" cy="276999"/>
          </a:xfrm>
          <a:prstGeom prst="rect">
            <a:avLst/>
          </a:prstGeom>
          <a:noFill/>
        </p:spPr>
        <p:txBody>
          <a:bodyPr wrap="square" rtlCol="0">
            <a:spAutoFit/>
          </a:bodyPr>
          <a:lstStyle/>
          <a:p>
            <a:r>
              <a:rPr lang="en-US" sz="1200" b="1" dirty="0">
                <a:solidFill>
                  <a:sysClr val="windowText" lastClr="000000"/>
                </a:solidFill>
              </a:rPr>
              <a:t>Region de NO </a:t>
            </a:r>
            <a:r>
              <a:rPr lang="en-US" sz="1200" b="1" dirty="0" err="1">
                <a:solidFill>
                  <a:sysClr val="windowText" lastClr="000000"/>
                </a:solidFill>
              </a:rPr>
              <a:t>rechazo</a:t>
            </a:r>
            <a:r>
              <a:rPr lang="en-US" sz="1200" b="1" dirty="0">
                <a:solidFill>
                  <a:sysClr val="windowText" lastClr="000000"/>
                </a:solidFill>
              </a:rPr>
              <a:t>     |         </a:t>
            </a:r>
            <a:r>
              <a:rPr lang="en-US" sz="1200" b="1" dirty="0">
                <a:solidFill>
                  <a:srgbClr val="FF0000"/>
                </a:solidFill>
              </a:rPr>
              <a:t>Region de </a:t>
            </a:r>
            <a:r>
              <a:rPr lang="en-US" sz="1200" b="1" dirty="0" err="1">
                <a:solidFill>
                  <a:srgbClr val="FF0000"/>
                </a:solidFill>
              </a:rPr>
              <a:t>Rechazo</a:t>
            </a:r>
            <a:endParaRPr lang="en-US" sz="1200" b="1" dirty="0">
              <a:solidFill>
                <a:srgbClr val="FF0000"/>
              </a:solidFill>
            </a:endParaRPr>
          </a:p>
        </p:txBody>
      </p:sp>
      <p:sp>
        <p:nvSpPr>
          <p:cNvPr id="17" name="Rectangle 16">
            <a:extLst>
              <a:ext uri="{FF2B5EF4-FFF2-40B4-BE49-F238E27FC236}">
                <a16:creationId xmlns:a16="http://schemas.microsoft.com/office/drawing/2014/main" id="{9201D8F8-57AC-FBE1-38FE-B4D4F7E56477}"/>
              </a:ext>
            </a:extLst>
          </p:cNvPr>
          <p:cNvSpPr/>
          <p:nvPr/>
        </p:nvSpPr>
        <p:spPr>
          <a:xfrm>
            <a:off x="5093839" y="4324783"/>
            <a:ext cx="2356827" cy="40808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FE7C2C7-73F8-0B75-F248-B99F5FD87DA8}"/>
              </a:ext>
            </a:extLst>
          </p:cNvPr>
          <p:cNvSpPr/>
          <p:nvPr/>
        </p:nvSpPr>
        <p:spPr>
          <a:xfrm>
            <a:off x="3234450" y="4267709"/>
            <a:ext cx="778933" cy="2032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CC9E6364-5129-4AC7-8E79-5D4B1C405179}"/>
              </a:ext>
            </a:extLst>
          </p:cNvPr>
          <p:cNvSpPr/>
          <p:nvPr/>
        </p:nvSpPr>
        <p:spPr>
          <a:xfrm>
            <a:off x="4279652" y="3780305"/>
            <a:ext cx="778933" cy="2032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9103DE9C-FEFA-F396-6184-AB5F670D8819}"/>
              </a:ext>
            </a:extLst>
          </p:cNvPr>
          <p:cNvSpPr txBox="1"/>
          <p:nvPr/>
        </p:nvSpPr>
        <p:spPr>
          <a:xfrm>
            <a:off x="5943600" y="4779376"/>
            <a:ext cx="1728673" cy="830997"/>
          </a:xfrm>
          <a:prstGeom prst="rect">
            <a:avLst/>
          </a:prstGeom>
          <a:noFill/>
        </p:spPr>
        <p:txBody>
          <a:bodyPr wrap="square" rtlCol="0">
            <a:spAutoFit/>
          </a:bodyPr>
          <a:lstStyle/>
          <a:p>
            <a:r>
              <a:rPr lang="en-US" sz="1200" dirty="0">
                <a:solidFill>
                  <a:sysClr val="windowText" lastClr="000000"/>
                </a:solidFill>
              </a:rPr>
              <a:t>Por lo tanto </a:t>
            </a:r>
            <a:r>
              <a:rPr lang="en-US" sz="1200" dirty="0" err="1">
                <a:solidFill>
                  <a:sysClr val="windowText" lastClr="000000"/>
                </a:solidFill>
              </a:rPr>
              <a:t>voy</a:t>
            </a:r>
            <a:r>
              <a:rPr lang="en-US" sz="1200" dirty="0">
                <a:solidFill>
                  <a:sysClr val="windowText" lastClr="000000"/>
                </a:solidFill>
              </a:rPr>
              <a:t> a </a:t>
            </a:r>
            <a:r>
              <a:rPr lang="en-US" sz="1200" b="1" dirty="0" err="1">
                <a:solidFill>
                  <a:srgbClr val="FF0000"/>
                </a:solidFill>
              </a:rPr>
              <a:t>rechazar</a:t>
            </a:r>
            <a:r>
              <a:rPr lang="en-US" sz="1200" dirty="0">
                <a:solidFill>
                  <a:srgbClr val="FF0000"/>
                </a:solidFill>
              </a:rPr>
              <a:t> a la </a:t>
            </a:r>
            <a:r>
              <a:rPr lang="en-US" sz="1200" b="1" dirty="0">
                <a:solidFill>
                  <a:srgbClr val="FF0000"/>
                </a:solidFill>
              </a:rPr>
              <a:t>hipotesis</a:t>
            </a:r>
            <a:r>
              <a:rPr lang="en-US" sz="1200" dirty="0">
                <a:solidFill>
                  <a:srgbClr val="FF0000"/>
                </a:solidFill>
              </a:rPr>
              <a:t> </a:t>
            </a:r>
            <a:r>
              <a:rPr lang="en-US" sz="1200" b="1" dirty="0">
                <a:solidFill>
                  <a:srgbClr val="FF0000"/>
                </a:solidFill>
              </a:rPr>
              <a:t>Nula</a:t>
            </a:r>
            <a:r>
              <a:rPr lang="en-US" sz="1200" dirty="0">
                <a:solidFill>
                  <a:srgbClr val="FF0000"/>
                </a:solidFill>
              </a:rPr>
              <a:t> </a:t>
            </a:r>
            <a:r>
              <a:rPr lang="en-US" sz="1200" dirty="0">
                <a:solidFill>
                  <a:sysClr val="windowText" lastClr="000000"/>
                </a:solidFill>
              </a:rPr>
              <a:t>H0 </a:t>
            </a:r>
            <a:r>
              <a:rPr lang="en-US" sz="1200" dirty="0" err="1">
                <a:solidFill>
                  <a:sysClr val="windowText" lastClr="000000"/>
                </a:solidFill>
              </a:rPr>
              <a:t>en</a:t>
            </a:r>
            <a:r>
              <a:rPr lang="en-US" sz="1200" dirty="0">
                <a:solidFill>
                  <a:sysClr val="windowText" lastClr="000000"/>
                </a:solidFill>
              </a:rPr>
              <a:t> </a:t>
            </a:r>
            <a:r>
              <a:rPr lang="en-US" sz="1200" b="1" dirty="0">
                <a:solidFill>
                  <a:srgbClr val="00B050"/>
                </a:solidFill>
              </a:rPr>
              <a:t>favor</a:t>
            </a:r>
            <a:r>
              <a:rPr lang="en-US" sz="1200" dirty="0">
                <a:solidFill>
                  <a:sysClr val="windowText" lastClr="000000"/>
                </a:solidFill>
              </a:rPr>
              <a:t> de la </a:t>
            </a:r>
            <a:r>
              <a:rPr lang="en-US" sz="1200" b="1" dirty="0">
                <a:solidFill>
                  <a:srgbClr val="00B050"/>
                </a:solidFill>
              </a:rPr>
              <a:t>alternativa H1,  </a:t>
            </a:r>
          </a:p>
        </p:txBody>
      </p:sp>
      <p:sp>
        <p:nvSpPr>
          <p:cNvPr id="21" name="TextBox 20">
            <a:extLst>
              <a:ext uri="{FF2B5EF4-FFF2-40B4-BE49-F238E27FC236}">
                <a16:creationId xmlns:a16="http://schemas.microsoft.com/office/drawing/2014/main" id="{CDB074C9-5133-D099-A612-F6161F42FB7E}"/>
              </a:ext>
            </a:extLst>
          </p:cNvPr>
          <p:cNvSpPr txBox="1"/>
          <p:nvPr/>
        </p:nvSpPr>
        <p:spPr>
          <a:xfrm>
            <a:off x="186635" y="861726"/>
            <a:ext cx="2895160" cy="1231106"/>
          </a:xfrm>
          <a:prstGeom prst="rect">
            <a:avLst/>
          </a:prstGeom>
          <a:noFill/>
        </p:spPr>
        <p:txBody>
          <a:bodyPr wrap="square" rtlCol="0">
            <a:spAutoFit/>
          </a:bodyPr>
          <a:lstStyle/>
          <a:p>
            <a:r>
              <a:rPr lang="en-US" sz="1400" b="1" u="sng" dirty="0">
                <a:solidFill>
                  <a:schemeClr val="bg1"/>
                </a:solidFill>
              </a:rPr>
              <a:t>Caso 1, slide 7:</a:t>
            </a:r>
          </a:p>
          <a:p>
            <a:r>
              <a:rPr lang="en-US" sz="1400" dirty="0">
                <a:solidFill>
                  <a:srgbClr val="00B050"/>
                </a:solidFill>
              </a:rPr>
              <a:t>“Mas del 50% de </a:t>
            </a:r>
            <a:r>
              <a:rPr lang="en-US" sz="1400" dirty="0" err="1">
                <a:solidFill>
                  <a:srgbClr val="00B050"/>
                </a:solidFill>
              </a:rPr>
              <a:t>los</a:t>
            </a:r>
            <a:r>
              <a:rPr lang="en-US" sz="1400" dirty="0">
                <a:solidFill>
                  <a:srgbClr val="00B050"/>
                </a:solidFill>
              </a:rPr>
              <a:t> </a:t>
            </a:r>
            <a:r>
              <a:rPr lang="en-US" sz="1400" dirty="0" err="1">
                <a:solidFill>
                  <a:srgbClr val="00B050"/>
                </a:solidFill>
              </a:rPr>
              <a:t>empleados</a:t>
            </a:r>
            <a:r>
              <a:rPr lang="en-US" sz="1400" dirty="0">
                <a:solidFill>
                  <a:srgbClr val="00B050"/>
                </a:solidFill>
              </a:rPr>
              <a:t> </a:t>
            </a:r>
            <a:r>
              <a:rPr lang="en-US" sz="1400" dirty="0" err="1">
                <a:solidFill>
                  <a:srgbClr val="00B050"/>
                </a:solidFill>
              </a:rPr>
              <a:t>consiguieron</a:t>
            </a:r>
            <a:r>
              <a:rPr lang="en-US" sz="1400" dirty="0">
                <a:solidFill>
                  <a:srgbClr val="00B050"/>
                </a:solidFill>
              </a:rPr>
              <a:t> </a:t>
            </a:r>
            <a:r>
              <a:rPr lang="en-US" sz="1400" dirty="0" err="1">
                <a:solidFill>
                  <a:srgbClr val="00B050"/>
                </a:solidFill>
              </a:rPr>
              <a:t>empleo</a:t>
            </a:r>
            <a:r>
              <a:rPr lang="en-US" sz="1400" dirty="0">
                <a:solidFill>
                  <a:srgbClr val="00B050"/>
                </a:solidFill>
              </a:rPr>
              <a:t> </a:t>
            </a:r>
            <a:r>
              <a:rPr lang="en-US" sz="1400" dirty="0" err="1">
                <a:solidFill>
                  <a:srgbClr val="00B050"/>
                </a:solidFill>
              </a:rPr>
              <a:t>por</a:t>
            </a:r>
            <a:r>
              <a:rPr lang="en-US" sz="1400" dirty="0">
                <a:solidFill>
                  <a:srgbClr val="00B050"/>
                </a:solidFill>
              </a:rPr>
              <a:t> </a:t>
            </a:r>
            <a:r>
              <a:rPr lang="en-US" sz="1400" dirty="0" err="1">
                <a:solidFill>
                  <a:srgbClr val="00B050"/>
                </a:solidFill>
              </a:rPr>
              <a:t>una</a:t>
            </a:r>
            <a:r>
              <a:rPr lang="en-US" sz="1400" dirty="0">
                <a:solidFill>
                  <a:srgbClr val="00B050"/>
                </a:solidFill>
              </a:rPr>
              <a:t> red de </a:t>
            </a:r>
            <a:r>
              <a:rPr lang="en-US" sz="1400" dirty="0" err="1">
                <a:solidFill>
                  <a:srgbClr val="00B050"/>
                </a:solidFill>
              </a:rPr>
              <a:t>contactos</a:t>
            </a:r>
            <a:r>
              <a:rPr lang="en-US" sz="1400" dirty="0">
                <a:solidFill>
                  <a:srgbClr val="00B050"/>
                </a:solidFill>
              </a:rPr>
              <a:t>”</a:t>
            </a:r>
          </a:p>
          <a:p>
            <a:endParaRPr lang="en-US" dirty="0">
              <a:solidFill>
                <a:srgbClr val="FF0000"/>
              </a:solidFill>
            </a:endParaRPr>
          </a:p>
        </p:txBody>
      </p:sp>
      <p:sp>
        <p:nvSpPr>
          <p:cNvPr id="23" name="TextBox 22">
            <a:extLst>
              <a:ext uri="{FF2B5EF4-FFF2-40B4-BE49-F238E27FC236}">
                <a16:creationId xmlns:a16="http://schemas.microsoft.com/office/drawing/2014/main" id="{8E24C501-DAB2-A309-B462-E4CAE43EA0F5}"/>
              </a:ext>
            </a:extLst>
          </p:cNvPr>
          <p:cNvSpPr txBox="1"/>
          <p:nvPr/>
        </p:nvSpPr>
        <p:spPr>
          <a:xfrm>
            <a:off x="5591985" y="6053251"/>
            <a:ext cx="6096000" cy="646331"/>
          </a:xfrm>
          <a:prstGeom prst="rect">
            <a:avLst/>
          </a:prstGeom>
          <a:noFill/>
        </p:spPr>
        <p:txBody>
          <a:bodyPr wrap="square" rtlCol="0">
            <a:spAutoFit/>
          </a:bodyPr>
          <a:lstStyle>
            <a:defPPr>
              <a:defRPr lang="es-MX"/>
            </a:defPPr>
            <a:lvl1pPr>
              <a:defRPr sz="1200">
                <a:solidFill>
                  <a:sysClr val="windowText" lastClr="000000"/>
                </a:solidFill>
              </a:defRPr>
            </a:lvl1pPr>
          </a:lstStyle>
          <a:p>
            <a:r>
              <a:rPr lang="en-US" dirty="0">
                <a:highlight>
                  <a:srgbClr val="FFFF00"/>
                </a:highlight>
              </a:rPr>
              <a:t>Podemos </a:t>
            </a:r>
            <a:r>
              <a:rPr lang="en-US" b="1" dirty="0" err="1">
                <a:highlight>
                  <a:srgbClr val="FFFF00"/>
                </a:highlight>
              </a:rPr>
              <a:t>concluir</a:t>
            </a:r>
            <a:r>
              <a:rPr lang="en-US" dirty="0">
                <a:highlight>
                  <a:srgbClr val="FFFF00"/>
                </a:highlight>
              </a:rPr>
              <a:t> que </a:t>
            </a:r>
            <a:r>
              <a:rPr lang="en-US" dirty="0" err="1">
                <a:highlight>
                  <a:srgbClr val="FFFF00"/>
                </a:highlight>
              </a:rPr>
              <a:t>existe</a:t>
            </a:r>
            <a:r>
              <a:rPr lang="en-US" dirty="0">
                <a:highlight>
                  <a:srgbClr val="FFFF00"/>
                </a:highlight>
              </a:rPr>
              <a:t> </a:t>
            </a:r>
            <a:r>
              <a:rPr lang="en-US" dirty="0" err="1">
                <a:highlight>
                  <a:srgbClr val="FFFF00"/>
                </a:highlight>
              </a:rPr>
              <a:t>suficiente</a:t>
            </a:r>
            <a:r>
              <a:rPr lang="en-US" dirty="0">
                <a:highlight>
                  <a:srgbClr val="FFFF00"/>
                </a:highlight>
              </a:rPr>
              <a:t> </a:t>
            </a:r>
            <a:r>
              <a:rPr lang="en-US" dirty="0" err="1">
                <a:highlight>
                  <a:srgbClr val="FFFF00"/>
                </a:highlight>
              </a:rPr>
              <a:t>evidencia</a:t>
            </a:r>
            <a:r>
              <a:rPr lang="en-US" dirty="0">
                <a:highlight>
                  <a:srgbClr val="FFFF00"/>
                </a:highlight>
              </a:rPr>
              <a:t> </a:t>
            </a:r>
            <a:r>
              <a:rPr lang="en-US" dirty="0" err="1">
                <a:highlight>
                  <a:srgbClr val="FFFF00"/>
                </a:highlight>
              </a:rPr>
              <a:t>estadistica</a:t>
            </a:r>
            <a:r>
              <a:rPr lang="en-US" dirty="0">
                <a:highlight>
                  <a:srgbClr val="FFFF00"/>
                </a:highlight>
              </a:rPr>
              <a:t> para </a:t>
            </a:r>
            <a:r>
              <a:rPr lang="en-US" dirty="0" err="1">
                <a:highlight>
                  <a:srgbClr val="FFFF00"/>
                </a:highlight>
              </a:rPr>
              <a:t>sustentar</a:t>
            </a:r>
            <a:r>
              <a:rPr lang="en-US" dirty="0">
                <a:highlight>
                  <a:srgbClr val="FFFF00"/>
                </a:highlight>
              </a:rPr>
              <a:t> la </a:t>
            </a:r>
            <a:r>
              <a:rPr lang="en-US" dirty="0" err="1">
                <a:highlight>
                  <a:srgbClr val="FFFF00"/>
                </a:highlight>
              </a:rPr>
              <a:t>aseveracion</a:t>
            </a:r>
            <a:r>
              <a:rPr lang="en-US" dirty="0">
                <a:highlight>
                  <a:srgbClr val="FFFF00"/>
                </a:highlight>
              </a:rPr>
              <a:t> de que la </a:t>
            </a:r>
            <a:r>
              <a:rPr lang="en-US" dirty="0" err="1">
                <a:highlight>
                  <a:srgbClr val="FFFF00"/>
                </a:highlight>
              </a:rPr>
              <a:t>proporcion</a:t>
            </a:r>
            <a:r>
              <a:rPr lang="en-US" dirty="0">
                <a:highlight>
                  <a:srgbClr val="FFFF00"/>
                </a:highlight>
              </a:rPr>
              <a:t> de </a:t>
            </a:r>
            <a:r>
              <a:rPr lang="en-US" dirty="0" err="1">
                <a:highlight>
                  <a:srgbClr val="FFFF00"/>
                </a:highlight>
              </a:rPr>
              <a:t>los</a:t>
            </a:r>
            <a:r>
              <a:rPr lang="en-US" dirty="0">
                <a:highlight>
                  <a:srgbClr val="FFFF00"/>
                </a:highlight>
              </a:rPr>
              <a:t> </a:t>
            </a:r>
            <a:r>
              <a:rPr lang="en-US" dirty="0" err="1">
                <a:highlight>
                  <a:srgbClr val="FFFF00"/>
                </a:highlight>
              </a:rPr>
              <a:t>empleados</a:t>
            </a:r>
            <a:r>
              <a:rPr lang="en-US" dirty="0">
                <a:highlight>
                  <a:srgbClr val="FFFF00"/>
                </a:highlight>
              </a:rPr>
              <a:t> que </a:t>
            </a:r>
            <a:r>
              <a:rPr lang="en-US" dirty="0" err="1">
                <a:highlight>
                  <a:srgbClr val="FFFF00"/>
                </a:highlight>
              </a:rPr>
              <a:t>consiguieron</a:t>
            </a:r>
            <a:r>
              <a:rPr lang="en-US" dirty="0">
                <a:highlight>
                  <a:srgbClr val="FFFF00"/>
                </a:highlight>
              </a:rPr>
              <a:t> </a:t>
            </a:r>
            <a:r>
              <a:rPr lang="en-US" dirty="0" err="1">
                <a:highlight>
                  <a:srgbClr val="FFFF00"/>
                </a:highlight>
              </a:rPr>
              <a:t>trabajo</a:t>
            </a:r>
            <a:r>
              <a:rPr lang="en-US" dirty="0">
                <a:highlight>
                  <a:srgbClr val="FFFF00"/>
                </a:highlight>
              </a:rPr>
              <a:t> </a:t>
            </a:r>
            <a:r>
              <a:rPr lang="en-US" dirty="0" err="1">
                <a:highlight>
                  <a:srgbClr val="FFFF00"/>
                </a:highlight>
              </a:rPr>
              <a:t>por</a:t>
            </a:r>
            <a:r>
              <a:rPr lang="en-US" dirty="0">
                <a:highlight>
                  <a:srgbClr val="FFFF00"/>
                </a:highlight>
              </a:rPr>
              <a:t> medio de </a:t>
            </a:r>
            <a:r>
              <a:rPr lang="en-US" dirty="0" err="1">
                <a:highlight>
                  <a:srgbClr val="FFFF00"/>
                </a:highlight>
              </a:rPr>
              <a:t>una</a:t>
            </a:r>
            <a:r>
              <a:rPr lang="en-US" dirty="0">
                <a:highlight>
                  <a:srgbClr val="FFFF00"/>
                </a:highlight>
              </a:rPr>
              <a:t> red de </a:t>
            </a:r>
            <a:r>
              <a:rPr lang="en-US" dirty="0" err="1">
                <a:highlight>
                  <a:srgbClr val="FFFF00"/>
                </a:highlight>
              </a:rPr>
              <a:t>trabajo</a:t>
            </a:r>
            <a:r>
              <a:rPr lang="en-US" dirty="0">
                <a:highlight>
                  <a:srgbClr val="FFFF00"/>
                </a:highlight>
              </a:rPr>
              <a:t> es mayor al 50% con un </a:t>
            </a:r>
            <a:r>
              <a:rPr lang="en-US" dirty="0" err="1">
                <a:highlight>
                  <a:srgbClr val="FFFF00"/>
                </a:highlight>
              </a:rPr>
              <a:t>nivel</a:t>
            </a:r>
            <a:r>
              <a:rPr lang="en-US" dirty="0">
                <a:highlight>
                  <a:srgbClr val="FFFF00"/>
                </a:highlight>
              </a:rPr>
              <a:t> de </a:t>
            </a:r>
            <a:r>
              <a:rPr lang="en-US" dirty="0" err="1">
                <a:highlight>
                  <a:srgbClr val="FFFF00"/>
                </a:highlight>
              </a:rPr>
              <a:t>significancia</a:t>
            </a:r>
            <a:r>
              <a:rPr lang="en-US" dirty="0">
                <a:highlight>
                  <a:srgbClr val="FFFF00"/>
                </a:highlight>
              </a:rPr>
              <a:t> al 5% o un </a:t>
            </a:r>
            <a:r>
              <a:rPr lang="en-US" dirty="0" err="1">
                <a:highlight>
                  <a:srgbClr val="FFFF00"/>
                </a:highlight>
              </a:rPr>
              <a:t>nivel</a:t>
            </a:r>
            <a:r>
              <a:rPr lang="en-US" dirty="0">
                <a:highlight>
                  <a:srgbClr val="FFFF00"/>
                </a:highlight>
              </a:rPr>
              <a:t> de </a:t>
            </a:r>
            <a:r>
              <a:rPr lang="en-US" dirty="0" err="1">
                <a:highlight>
                  <a:srgbClr val="FFFF00"/>
                </a:highlight>
              </a:rPr>
              <a:t>confianza</a:t>
            </a:r>
            <a:r>
              <a:rPr lang="en-US" dirty="0">
                <a:highlight>
                  <a:srgbClr val="FFFF00"/>
                </a:highlight>
              </a:rPr>
              <a:t> al 95%</a:t>
            </a:r>
          </a:p>
        </p:txBody>
      </p:sp>
      <p:cxnSp>
        <p:nvCxnSpPr>
          <p:cNvPr id="25" name="Straight Arrow Connector 24">
            <a:extLst>
              <a:ext uri="{FF2B5EF4-FFF2-40B4-BE49-F238E27FC236}">
                <a16:creationId xmlns:a16="http://schemas.microsoft.com/office/drawing/2014/main" id="{AE274CA3-EB5C-3F7C-C8D2-F265039B8F30}"/>
              </a:ext>
            </a:extLst>
          </p:cNvPr>
          <p:cNvCxnSpPr>
            <a:stCxn id="20" idx="2"/>
          </p:cNvCxnSpPr>
          <p:nvPr/>
        </p:nvCxnSpPr>
        <p:spPr>
          <a:xfrm flipH="1">
            <a:off x="6807936" y="5610373"/>
            <a:ext cx="1" cy="41650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FFC46BE4-BEDD-F084-B2FF-12F5FF66AA29}"/>
              </a:ext>
            </a:extLst>
          </p:cNvPr>
          <p:cNvCxnSpPr>
            <a:stCxn id="13" idx="1"/>
            <a:endCxn id="19" idx="3"/>
          </p:cNvCxnSpPr>
          <p:nvPr/>
        </p:nvCxnSpPr>
        <p:spPr>
          <a:xfrm flipH="1">
            <a:off x="5058585" y="3874956"/>
            <a:ext cx="2981609" cy="694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1" name="Arrow: Right 30">
            <a:extLst>
              <a:ext uri="{FF2B5EF4-FFF2-40B4-BE49-F238E27FC236}">
                <a16:creationId xmlns:a16="http://schemas.microsoft.com/office/drawing/2014/main" id="{2D7BC11F-772E-9286-2D98-2B988353B41A}"/>
              </a:ext>
            </a:extLst>
          </p:cNvPr>
          <p:cNvSpPr/>
          <p:nvPr/>
        </p:nvSpPr>
        <p:spPr>
          <a:xfrm>
            <a:off x="7755819" y="911850"/>
            <a:ext cx="211754" cy="438330"/>
          </a:xfrm>
          <a:prstGeom prst="rightArrow">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7905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in)">
                                      <p:cBhvr>
                                        <p:cTn id="7"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C2979-A11F-25D3-8D6D-F81CF7DD6E5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8CB32A7-706F-9C22-D42A-3777A0420F8C}"/>
              </a:ext>
            </a:extLst>
          </p:cNvPr>
          <p:cNvSpPr>
            <a:spLocks noGrp="1"/>
          </p:cNvSpPr>
          <p:nvPr>
            <p:ph type="title"/>
          </p:nvPr>
        </p:nvSpPr>
        <p:spPr>
          <a:xfrm>
            <a:off x="332926" y="211460"/>
            <a:ext cx="8558801" cy="610863"/>
          </a:xfrm>
        </p:spPr>
        <p:txBody>
          <a:bodyPr rtlCol="0">
            <a:noAutofit/>
          </a:bodyPr>
          <a:lstStyle/>
          <a:p>
            <a:pPr algn="just"/>
            <a:r>
              <a:rPr lang="es-MX" sz="2400" dirty="0">
                <a:latin typeface="Times New Roman" panose="02020603050405020304" pitchFamily="18" charset="0"/>
                <a:cs typeface="Times New Roman" panose="02020603050405020304" pitchFamily="18" charset="0"/>
              </a:rPr>
              <a:t>Tipos de Errores</a:t>
            </a:r>
            <a:endParaRPr lang="es-ES" sz="2600" dirty="0">
              <a:latin typeface="Times New Roman" panose="02020603050405020304" pitchFamily="18" charset="0"/>
              <a:cs typeface="Times New Roman" panose="02020603050405020304" pitchFamily="18" charset="0"/>
            </a:endParaRPr>
          </a:p>
        </p:txBody>
      </p:sp>
      <p:pic>
        <p:nvPicPr>
          <p:cNvPr id="4" name="Imagen 3" descr="Tabla&#10;&#10;El contenido generado por IA puede ser incorrecto.">
            <a:extLst>
              <a:ext uri="{FF2B5EF4-FFF2-40B4-BE49-F238E27FC236}">
                <a16:creationId xmlns:a16="http://schemas.microsoft.com/office/drawing/2014/main" id="{7209599B-23EB-E4BF-0211-18BB3C1C7C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393" y="989563"/>
            <a:ext cx="6514952" cy="1890033"/>
          </a:xfrm>
          <a:prstGeom prst="rect">
            <a:avLst/>
          </a:prstGeom>
        </p:spPr>
      </p:pic>
      <p:sp>
        <p:nvSpPr>
          <p:cNvPr id="5" name="CuadroTexto 4">
            <a:extLst>
              <a:ext uri="{FF2B5EF4-FFF2-40B4-BE49-F238E27FC236}">
                <a16:creationId xmlns:a16="http://schemas.microsoft.com/office/drawing/2014/main" id="{08619493-D1A5-207F-3172-482381AB7EA2}"/>
              </a:ext>
            </a:extLst>
          </p:cNvPr>
          <p:cNvSpPr txBox="1"/>
          <p:nvPr/>
        </p:nvSpPr>
        <p:spPr>
          <a:xfrm>
            <a:off x="307289" y="3136921"/>
            <a:ext cx="7041778" cy="869725"/>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sz="16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Ejemplo: </a:t>
            </a:r>
            <a:r>
              <a:rPr lang="es-MX" sz="16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Un determinado fármaco experimental afirma tener una tasa de curación de </a:t>
            </a:r>
            <a:r>
              <a:rPr lang="es-MX" sz="160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al menos </a:t>
            </a:r>
            <a:r>
              <a:rPr lang="es-MX" sz="16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el 75% para los hombres con cáncer de próstata. Describa los errores tipo I y tipo II en este contexto. ¿Cuál es el error más grave?</a:t>
            </a:r>
            <a:endParaRPr lang="es-MX" sz="14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6" name="CuadroTexto 5">
                <a:extLst>
                  <a:ext uri="{FF2B5EF4-FFF2-40B4-BE49-F238E27FC236}">
                    <a16:creationId xmlns:a16="http://schemas.microsoft.com/office/drawing/2014/main" id="{A2571F2E-D6FF-15B5-642E-BFF8ADBB378B}"/>
                  </a:ext>
                </a:extLst>
              </p:cNvPr>
              <p:cNvSpPr txBox="1"/>
              <p:nvPr/>
            </p:nvSpPr>
            <p:spPr>
              <a:xfrm>
                <a:off x="2092562" y="4211015"/>
                <a:ext cx="3471232" cy="369332"/>
              </a:xfrm>
              <a:prstGeom prst="rect">
                <a:avLst/>
              </a:prstGeom>
              <a:noFill/>
            </p:spPr>
            <p:txBody>
              <a:bodyPr wrap="square">
                <a:spAutoFit/>
              </a:bodyPr>
              <a:lstStyle/>
              <a:p>
                <a14:m>
                  <m:oMath xmlns:m="http://schemas.openxmlformats.org/officeDocument/2006/math">
                    <m:sSub>
                      <m:sSubPr>
                        <m:ctrlPr>
                          <a:rPr lang="es-MX" b="1" i="1" smtClean="0">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s-MX" b="1"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𝑯</m:t>
                        </m:r>
                      </m:e>
                      <m:sub>
                        <m:r>
                          <a:rPr lang="es-MX" b="1"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𝟎</m:t>
                        </m:r>
                      </m:sub>
                    </m:sSub>
                    <m:r>
                      <a:rPr lang="es-MX" b="1"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m:t>
                    </m:r>
                    <m:r>
                      <a:rPr lang="es-MX" b="1"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𝒑</m:t>
                    </m:r>
                    <m:r>
                      <a:rPr lang="es-MX"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a:rPr lang="es-MX" b="1"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𝟎</m:t>
                    </m:r>
                    <m:r>
                      <a:rPr lang="es-MX" b="1"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r>
                      <a:rPr lang="es-MX" b="1"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𝟕𝟓</m:t>
                    </m:r>
                  </m:oMath>
                </a14:m>
                <a:r>
                  <a:rPr lang="es-MX" b="1" dirty="0">
                    <a:solidFill>
                      <a:schemeClr val="bg1"/>
                    </a:solidFill>
                  </a:rPr>
                  <a:t>   </a:t>
                </a:r>
                <a:r>
                  <a:rPr lang="es-MX" dirty="0">
                    <a:solidFill>
                      <a:schemeClr val="bg1"/>
                    </a:solidFill>
                  </a:rPr>
                  <a:t>vs </a:t>
                </a:r>
                <a14:m>
                  <m:oMath xmlns:m="http://schemas.openxmlformats.org/officeDocument/2006/math">
                    <m:sSub>
                      <m:sSubPr>
                        <m:ctrlP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s-MX" b="0" i="1" smtClean="0">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  </m:t>
                        </m:r>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𝐻</m:t>
                        </m:r>
                      </m:e>
                      <m:sub>
                        <m:r>
                          <a:rPr lang="es-MX" b="0" i="1" smtClean="0">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1</m:t>
                        </m:r>
                      </m:sub>
                    </m:sSub>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m:t>
                    </m:r>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𝑝</m:t>
                    </m:r>
                    <m:r>
                      <a:rPr lang="es-MX" b="0" i="1" smtClean="0">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&lt;</m:t>
                    </m:r>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0.</m:t>
                    </m:r>
                    <m:r>
                      <a:rPr lang="es-MX" b="0" i="1" smtClean="0">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7</m:t>
                    </m:r>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5</m:t>
                    </m:r>
                  </m:oMath>
                </a14:m>
                <a:endParaRPr lang="es-MX" dirty="0">
                  <a:solidFill>
                    <a:schemeClr val="bg1"/>
                  </a:solidFill>
                </a:endParaRPr>
              </a:p>
            </p:txBody>
          </p:sp>
        </mc:Choice>
        <mc:Fallback>
          <p:sp>
            <p:nvSpPr>
              <p:cNvPr id="6" name="CuadroTexto 5">
                <a:extLst>
                  <a:ext uri="{FF2B5EF4-FFF2-40B4-BE49-F238E27FC236}">
                    <a16:creationId xmlns:a16="http://schemas.microsoft.com/office/drawing/2014/main" id="{A2571F2E-D6FF-15B5-642E-BFF8ADBB378B}"/>
                  </a:ext>
                </a:extLst>
              </p:cNvPr>
              <p:cNvSpPr txBox="1">
                <a:spLocks noRot="1" noChangeAspect="1" noMove="1" noResize="1" noEditPoints="1" noAdjustHandles="1" noChangeArrowheads="1" noChangeShapeType="1" noTextEdit="1"/>
              </p:cNvSpPr>
              <p:nvPr/>
            </p:nvSpPr>
            <p:spPr>
              <a:xfrm>
                <a:off x="2092562" y="4211015"/>
                <a:ext cx="3471232" cy="369332"/>
              </a:xfrm>
              <a:prstGeom prst="rect">
                <a:avLst/>
              </a:prstGeom>
              <a:blipFill>
                <a:blip r:embed="rId4"/>
                <a:stretch>
                  <a:fillRect t="-10000" b="-26667"/>
                </a:stretch>
              </a:blipFill>
            </p:spPr>
            <p:txBody>
              <a:bodyPr/>
              <a:lstStyle/>
              <a:p>
                <a:r>
                  <a:rPr lang="en-US">
                    <a:noFill/>
                  </a:rPr>
                  <a:t> </a:t>
                </a:r>
              </a:p>
            </p:txBody>
          </p:sp>
        </mc:Fallback>
      </mc:AlternateContent>
      <p:sp>
        <p:nvSpPr>
          <p:cNvPr id="7" name="CuadroTexto 6">
            <a:extLst>
              <a:ext uri="{FF2B5EF4-FFF2-40B4-BE49-F238E27FC236}">
                <a16:creationId xmlns:a16="http://schemas.microsoft.com/office/drawing/2014/main" id="{DD319FA7-8CCE-F0E1-365F-4A1CD24B905D}"/>
              </a:ext>
            </a:extLst>
          </p:cNvPr>
          <p:cNvSpPr txBox="1"/>
          <p:nvPr/>
        </p:nvSpPr>
        <p:spPr>
          <a:xfrm>
            <a:off x="307289" y="4784716"/>
            <a:ext cx="7041778" cy="606256"/>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sz="16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Error Tipo I: </a:t>
            </a:r>
            <a:r>
              <a:rPr lang="es-MX" sz="16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Un paciente con cáncer cree que la tasa de curación del fármaco es inferior al 75% (rechaza H</a:t>
            </a:r>
            <a:r>
              <a:rPr lang="es-MX" sz="105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0</a:t>
            </a:r>
            <a:r>
              <a:rPr lang="es-MX" sz="16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cuando en realidad es de al menos el 75%.</a:t>
            </a:r>
            <a:endParaRPr lang="es-MX" sz="14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CuadroTexto 8">
            <a:extLst>
              <a:ext uri="{FF2B5EF4-FFF2-40B4-BE49-F238E27FC236}">
                <a16:creationId xmlns:a16="http://schemas.microsoft.com/office/drawing/2014/main" id="{D3D0D44C-FD75-CB58-8518-30D65E08C387}"/>
              </a:ext>
            </a:extLst>
          </p:cNvPr>
          <p:cNvSpPr txBox="1"/>
          <p:nvPr/>
        </p:nvSpPr>
        <p:spPr>
          <a:xfrm>
            <a:off x="307289" y="5858809"/>
            <a:ext cx="7041778" cy="869725"/>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sz="16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Error Tipo II: </a:t>
            </a:r>
            <a:r>
              <a:rPr lang="es-MX" sz="16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Un paciente con cáncer de próstata cree que el fármaco experimental tiene un índice de curación de al menos el 75% (acepta H</a:t>
            </a:r>
            <a:r>
              <a:rPr lang="es-MX" sz="11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0</a:t>
            </a:r>
            <a:r>
              <a:rPr lang="es-MX" sz="16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cuando en realidad es falsa, es decir es inferior al 75%.</a:t>
            </a:r>
            <a:endParaRPr lang="es-MX" sz="14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CuadroTexto 9">
            <a:extLst>
              <a:ext uri="{FF2B5EF4-FFF2-40B4-BE49-F238E27FC236}">
                <a16:creationId xmlns:a16="http://schemas.microsoft.com/office/drawing/2014/main" id="{7EC1AD6E-2103-CE48-B654-506DD4A970AD}"/>
              </a:ext>
            </a:extLst>
          </p:cNvPr>
          <p:cNvSpPr txBox="1"/>
          <p:nvPr/>
        </p:nvSpPr>
        <p:spPr>
          <a:xfrm>
            <a:off x="7628466" y="5087844"/>
            <a:ext cx="4357844" cy="1660134"/>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sz="16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El error Tipo II es la consecuencia más grave. Si un paciente cree que el fármaco funciona, al menos en un 75% de las veces, lo más probable es que esto influya en la elección del paciente (y el médico) sobre la conveniencia de utilizar el fármaco como opción de tratamiento.</a:t>
            </a:r>
            <a:endParaRPr lang="es-MX" sz="14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7DB51768-04ED-6C45-7F81-92D0AA7E26AF}"/>
              </a:ext>
            </a:extLst>
          </p:cNvPr>
          <p:cNvSpPr txBox="1"/>
          <p:nvPr/>
        </p:nvSpPr>
        <p:spPr>
          <a:xfrm>
            <a:off x="6867280" y="1334620"/>
            <a:ext cx="3295190" cy="738664"/>
          </a:xfrm>
          <a:prstGeom prst="rect">
            <a:avLst/>
          </a:prstGeom>
          <a:solidFill>
            <a:schemeClr val="tx1"/>
          </a:solid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Si </a:t>
            </a:r>
            <a:r>
              <a:rPr lang="en-US" sz="1400" dirty="0" err="1">
                <a:solidFill>
                  <a:schemeClr val="bg1"/>
                </a:solidFill>
                <a:latin typeface="Times New Roman" panose="02020603050405020304" pitchFamily="18" charset="0"/>
                <a:cs typeface="Times New Roman" panose="02020603050405020304" pitchFamily="18" charset="0"/>
              </a:rPr>
              <a:t>disminuimos</a:t>
            </a:r>
            <a:r>
              <a:rPr lang="en-US" sz="1400" dirty="0">
                <a:solidFill>
                  <a:schemeClr val="bg1"/>
                </a:solidFill>
                <a:latin typeface="Times New Roman" panose="02020603050405020304" pitchFamily="18" charset="0"/>
                <a:cs typeface="Times New Roman" panose="02020603050405020304" pitchFamily="18" charset="0"/>
              </a:rPr>
              <a:t> </a:t>
            </a:r>
            <a:r>
              <a:rPr lang="en-US" sz="1400" b="1" dirty="0">
                <a:solidFill>
                  <a:schemeClr val="bg1"/>
                </a:solidFill>
                <a:latin typeface="Times New Roman" panose="02020603050405020304" pitchFamily="18" charset="0"/>
                <a:cs typeface="Times New Roman" panose="02020603050405020304" pitchFamily="18" charset="0"/>
              </a:rPr>
              <a:t>alpha</a:t>
            </a:r>
            <a:r>
              <a:rPr lang="en-US" sz="1400" dirty="0">
                <a:solidFill>
                  <a:schemeClr val="bg1"/>
                </a:solidFill>
                <a:latin typeface="Times New Roman" panose="02020603050405020304" pitchFamily="18" charset="0"/>
                <a:cs typeface="Times New Roman" panose="02020603050405020304" pitchFamily="18" charset="0"/>
              </a:rPr>
              <a:t> </a:t>
            </a:r>
            <a:r>
              <a:rPr lang="en-US" sz="1400" dirty="0" err="1">
                <a:solidFill>
                  <a:schemeClr val="bg1"/>
                </a:solidFill>
                <a:latin typeface="Times New Roman" panose="02020603050405020304" pitchFamily="18" charset="0"/>
                <a:cs typeface="Times New Roman" panose="02020603050405020304" pitchFamily="18" charset="0"/>
              </a:rPr>
              <a:t>aumentamos</a:t>
            </a:r>
            <a:r>
              <a:rPr lang="en-US" sz="1400" dirty="0">
                <a:solidFill>
                  <a:schemeClr val="bg1"/>
                </a:solidFill>
                <a:latin typeface="Times New Roman" panose="02020603050405020304" pitchFamily="18" charset="0"/>
                <a:cs typeface="Times New Roman" panose="02020603050405020304" pitchFamily="18" charset="0"/>
              </a:rPr>
              <a:t> </a:t>
            </a:r>
            <a:r>
              <a:rPr lang="en-US" sz="1400" b="1" dirty="0">
                <a:solidFill>
                  <a:schemeClr val="bg1"/>
                </a:solidFill>
                <a:latin typeface="Times New Roman" panose="02020603050405020304" pitchFamily="18" charset="0"/>
                <a:cs typeface="Times New Roman" panose="02020603050405020304" pitchFamily="18" charset="0"/>
              </a:rPr>
              <a:t>beta</a:t>
            </a:r>
            <a:r>
              <a:rPr lang="en-US" sz="1400" dirty="0">
                <a:solidFill>
                  <a:schemeClr val="bg1"/>
                </a:solidFill>
                <a:latin typeface="Times New Roman" panose="02020603050405020304" pitchFamily="18" charset="0"/>
                <a:cs typeface="Times New Roman" panose="02020603050405020304" pitchFamily="18" charset="0"/>
              </a:rPr>
              <a:t>, no es bueno </a:t>
            </a:r>
            <a:r>
              <a:rPr lang="en-US" sz="1400" dirty="0" err="1">
                <a:solidFill>
                  <a:schemeClr val="bg1"/>
                </a:solidFill>
                <a:latin typeface="Times New Roman" panose="02020603050405020304" pitchFamily="18" charset="0"/>
                <a:cs typeface="Times New Roman" panose="02020603050405020304" pitchFamily="18" charset="0"/>
              </a:rPr>
              <a:t>disminuir</a:t>
            </a:r>
            <a:r>
              <a:rPr lang="en-US" sz="1400" dirty="0">
                <a:solidFill>
                  <a:schemeClr val="bg1"/>
                </a:solidFill>
                <a:latin typeface="Times New Roman" panose="02020603050405020304" pitchFamily="18" charset="0"/>
                <a:cs typeface="Times New Roman" panose="02020603050405020304" pitchFamily="18" charset="0"/>
              </a:rPr>
              <a:t> tanto alpha. </a:t>
            </a:r>
            <a:r>
              <a:rPr lang="en-US" sz="1400" b="1" dirty="0">
                <a:solidFill>
                  <a:schemeClr val="bg1"/>
                </a:solidFill>
                <a:latin typeface="Times New Roman" panose="02020603050405020304" pitchFamily="18" charset="0"/>
                <a:cs typeface="Times New Roman" panose="02020603050405020304" pitchFamily="18" charset="0"/>
              </a:rPr>
              <a:t>5% alpha </a:t>
            </a:r>
            <a:r>
              <a:rPr lang="en-US" sz="1400" b="1" dirty="0" err="1">
                <a:solidFill>
                  <a:schemeClr val="bg1"/>
                </a:solidFill>
                <a:latin typeface="Times New Roman" panose="02020603050405020304" pitchFamily="18" charset="0"/>
                <a:cs typeface="Times New Roman" panose="02020603050405020304" pitchFamily="18" charset="0"/>
              </a:rPr>
              <a:t>esta</a:t>
            </a:r>
            <a:r>
              <a:rPr lang="en-US" sz="1400" b="1" dirty="0">
                <a:solidFill>
                  <a:schemeClr val="bg1"/>
                </a:solidFill>
                <a:latin typeface="Times New Roman" panose="02020603050405020304" pitchFamily="18" charset="0"/>
                <a:cs typeface="Times New Roman" panose="02020603050405020304" pitchFamily="18" charset="0"/>
              </a:rPr>
              <a:t> bien</a:t>
            </a:r>
          </a:p>
        </p:txBody>
      </p:sp>
      <p:sp>
        <p:nvSpPr>
          <p:cNvPr id="8" name="TextBox 7">
            <a:extLst>
              <a:ext uri="{FF2B5EF4-FFF2-40B4-BE49-F238E27FC236}">
                <a16:creationId xmlns:a16="http://schemas.microsoft.com/office/drawing/2014/main" id="{FCDB7C18-C79A-BF82-92A0-9014971D7C32}"/>
              </a:ext>
            </a:extLst>
          </p:cNvPr>
          <p:cNvSpPr txBox="1"/>
          <p:nvPr/>
        </p:nvSpPr>
        <p:spPr>
          <a:xfrm>
            <a:off x="3052102" y="531945"/>
            <a:ext cx="2959231" cy="307777"/>
          </a:xfrm>
          <a:prstGeom prst="rect">
            <a:avLst/>
          </a:prstGeom>
          <a:noFill/>
        </p:spPr>
        <p:txBody>
          <a:bodyPr wrap="square" rtlCol="0">
            <a:spAutoFit/>
          </a:bodyPr>
          <a:lstStyle/>
          <a:p>
            <a:r>
              <a:rPr lang="en-US" sz="1400" dirty="0">
                <a:solidFill>
                  <a:schemeClr val="bg1"/>
                </a:solidFill>
              </a:rPr>
              <a:t>(Similar a la Confusion Matrix.)</a:t>
            </a:r>
          </a:p>
        </p:txBody>
      </p:sp>
    </p:spTree>
    <p:extLst>
      <p:ext uri="{BB962C8B-B14F-4D97-AF65-F5344CB8AC3E}">
        <p14:creationId xmlns:p14="http://schemas.microsoft.com/office/powerpoint/2010/main" val="4087330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22" presetClass="entr" presetSubtype="4"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00"/>
                                        <p:tgtEl>
                                          <p:spTgt spid="7"/>
                                        </p:tgtEl>
                                      </p:cBhvr>
                                    </p:animEffect>
                                    <p:anim calcmode="lin" valueType="num">
                                      <p:cBhvr>
                                        <p:cTn id="18" dur="1000" fill="hold"/>
                                        <p:tgtEl>
                                          <p:spTgt spid="7"/>
                                        </p:tgtEl>
                                        <p:attrNameLst>
                                          <p:attrName>ppt_x</p:attrName>
                                        </p:attrNameLst>
                                      </p:cBhvr>
                                      <p:tavLst>
                                        <p:tav tm="0">
                                          <p:val>
                                            <p:strVal val="#ppt_x"/>
                                          </p:val>
                                        </p:tav>
                                        <p:tav tm="100000">
                                          <p:val>
                                            <p:strVal val="#ppt_x"/>
                                          </p:val>
                                        </p:tav>
                                      </p:tavLst>
                                    </p:anim>
                                    <p:anim calcmode="lin" valueType="num">
                                      <p:cBhvr>
                                        <p:cTn id="1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1000"/>
                                        <p:tgtEl>
                                          <p:spTgt spid="9"/>
                                        </p:tgtEl>
                                      </p:cBhvr>
                                    </p:animEffect>
                                    <p:anim calcmode="lin" valueType="num">
                                      <p:cBhvr>
                                        <p:cTn id="25" dur="1000" fill="hold"/>
                                        <p:tgtEl>
                                          <p:spTgt spid="9"/>
                                        </p:tgtEl>
                                        <p:attrNameLst>
                                          <p:attrName>ppt_x</p:attrName>
                                        </p:attrNameLst>
                                      </p:cBhvr>
                                      <p:tavLst>
                                        <p:tav tm="0">
                                          <p:val>
                                            <p:strVal val="#ppt_x"/>
                                          </p:val>
                                        </p:tav>
                                        <p:tav tm="100000">
                                          <p:val>
                                            <p:strVal val="#ppt_x"/>
                                          </p:val>
                                        </p:tav>
                                      </p:tavLst>
                                    </p:anim>
                                    <p:anim calcmode="lin" valueType="num">
                                      <p:cBhvr>
                                        <p:cTn id="2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1000"/>
                                        <p:tgtEl>
                                          <p:spTgt spid="10"/>
                                        </p:tgtEl>
                                      </p:cBhvr>
                                    </p:animEffect>
                                    <p:anim calcmode="lin" valueType="num">
                                      <p:cBhvr>
                                        <p:cTn id="32" dur="1000" fill="hold"/>
                                        <p:tgtEl>
                                          <p:spTgt spid="10"/>
                                        </p:tgtEl>
                                        <p:attrNameLst>
                                          <p:attrName>ppt_x</p:attrName>
                                        </p:attrNameLst>
                                      </p:cBhvr>
                                      <p:tavLst>
                                        <p:tav tm="0">
                                          <p:val>
                                            <p:strVal val="#ppt_x"/>
                                          </p:val>
                                        </p:tav>
                                        <p:tav tm="100000">
                                          <p:val>
                                            <p:strVal val="#ppt_x"/>
                                          </p:val>
                                        </p:tav>
                                      </p:tavLst>
                                    </p:anim>
                                    <p:anim calcmode="lin" valueType="num">
                                      <p:cBhvr>
                                        <p:cTn id="33"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animBg="1"/>
      <p:bldP spid="9" grpId="0" animBg="1"/>
      <p:bldP spid="1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 name="Picture 56">
            <a:extLst>
              <a:ext uri="{FF2B5EF4-FFF2-40B4-BE49-F238E27FC236}">
                <a16:creationId xmlns:a16="http://schemas.microsoft.com/office/drawing/2014/main" id="{51851260-3945-9A5E-C3D5-2BF0DF5244B9}"/>
              </a:ext>
            </a:extLst>
          </p:cNvPr>
          <p:cNvPicPr>
            <a:picLocks noChangeAspect="1"/>
          </p:cNvPicPr>
          <p:nvPr/>
        </p:nvPicPr>
        <p:blipFill>
          <a:blip r:embed="rId3"/>
          <a:stretch>
            <a:fillRect/>
          </a:stretch>
        </p:blipFill>
        <p:spPr>
          <a:xfrm>
            <a:off x="9349920" y="59622"/>
            <a:ext cx="2588996" cy="2235356"/>
          </a:xfrm>
          <a:prstGeom prst="rect">
            <a:avLst/>
          </a:prstGeom>
        </p:spPr>
      </p:pic>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0" y="-1797"/>
            <a:ext cx="3843572" cy="679928"/>
          </a:xfrm>
        </p:spPr>
        <p:txBody>
          <a:bodyPr rtlCol="0" anchor="ctr">
            <a:noAutofit/>
          </a:bodyPr>
          <a:lstStyle/>
          <a:p>
            <a:pPr algn="just"/>
            <a:r>
              <a:rPr lang="es-MX" sz="2400" dirty="0">
                <a:latin typeface="Times New Roman" panose="02020603050405020304" pitchFamily="18" charset="0"/>
                <a:cs typeface="Times New Roman" panose="02020603050405020304" pitchFamily="18" charset="0"/>
              </a:rPr>
              <a:t>   Cálculo del valor crítico</a:t>
            </a:r>
            <a:endParaRPr lang="es-ES" sz="26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1" name="CuadroTexto 10">
                <a:extLst>
                  <a:ext uri="{FF2B5EF4-FFF2-40B4-BE49-F238E27FC236}">
                    <a16:creationId xmlns:a16="http://schemas.microsoft.com/office/drawing/2014/main" id="{F494AF8A-D47C-6E15-F0A8-B546B382BBB9}"/>
                  </a:ext>
                </a:extLst>
              </p:cNvPr>
              <p:cNvSpPr txBox="1"/>
              <p:nvPr/>
            </p:nvSpPr>
            <p:spPr>
              <a:xfrm>
                <a:off x="4883779" y="893334"/>
                <a:ext cx="3510941" cy="675506"/>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sz="12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Actividad: </a:t>
                </a:r>
                <a:r>
                  <a:rPr lang="es-MX" sz="12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Con un nivel de significancia de </a:t>
                </a:r>
                <a14:m>
                  <m:oMath xmlns:m="http://schemas.openxmlformats.org/officeDocument/2006/math">
                    <m:r>
                      <a:rPr lang="es-MX" sz="1200"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𝛼</m:t>
                    </m:r>
                    <m:r>
                      <a:rPr lang="es-MX" sz="1200"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=0.05</m:t>
                    </m:r>
                  </m:oMath>
                </a14:m>
                <a:r>
                  <a:rPr lang="es-MX" sz="12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calcule los valores </a:t>
                </a:r>
                <a14:m>
                  <m:oMath xmlns:m="http://schemas.openxmlformats.org/officeDocument/2006/math">
                    <m:r>
                      <a:rPr lang="es-MX" sz="1200"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𝑧</m:t>
                    </m:r>
                  </m:oMath>
                </a14:m>
                <a:r>
                  <a:rPr lang="es-MX" sz="12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críticos para cada una de las siguientes hipótesis alternativas.</a:t>
                </a:r>
                <a:endParaRPr lang="es-MX" sz="1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p:sp>
            <p:nvSpPr>
              <p:cNvPr id="11" name="CuadroTexto 10">
                <a:extLst>
                  <a:ext uri="{FF2B5EF4-FFF2-40B4-BE49-F238E27FC236}">
                    <a16:creationId xmlns:a16="http://schemas.microsoft.com/office/drawing/2014/main" id="{F494AF8A-D47C-6E15-F0A8-B546B382BBB9}"/>
                  </a:ext>
                </a:extLst>
              </p:cNvPr>
              <p:cNvSpPr txBox="1">
                <a:spLocks noRot="1" noChangeAspect="1" noMove="1" noResize="1" noEditPoints="1" noAdjustHandles="1" noChangeArrowheads="1" noChangeShapeType="1" noTextEdit="1"/>
              </p:cNvSpPr>
              <p:nvPr/>
            </p:nvSpPr>
            <p:spPr>
              <a:xfrm>
                <a:off x="4883779" y="893334"/>
                <a:ext cx="3510941" cy="675506"/>
              </a:xfrm>
              <a:prstGeom prst="rect">
                <a:avLst/>
              </a:prstGeom>
              <a:blipFill>
                <a:blip r:embed="rId4"/>
                <a:stretch>
                  <a:fillRect b="-5357"/>
                </a:stretch>
              </a:blipFill>
              <a:ln>
                <a:solidFill>
                  <a:schemeClr val="tx1">
                    <a:lumMod val="85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7" name="Tabla 16"/>
              <p:cNvGraphicFramePr>
                <a:graphicFrameLocks noGrp="1"/>
              </p:cNvGraphicFramePr>
              <p:nvPr>
                <p:extLst>
                  <p:ext uri="{D42A27DB-BD31-4B8C-83A1-F6EECF244321}">
                    <p14:modId xmlns:p14="http://schemas.microsoft.com/office/powerpoint/2010/main" val="394164248"/>
                  </p:ext>
                </p:extLst>
              </p:nvPr>
            </p:nvGraphicFramePr>
            <p:xfrm>
              <a:off x="964022" y="2130454"/>
              <a:ext cx="3555727" cy="4389120"/>
            </p:xfrm>
            <a:graphic>
              <a:graphicData uri="http://schemas.openxmlformats.org/drawingml/2006/table">
                <a:tbl>
                  <a:tblPr firstRow="1" bandRow="1">
                    <a:tableStyleId>{C083E6E3-FA7D-4D7B-A595-EF9225AFEA82}</a:tableStyleId>
                  </a:tblPr>
                  <a:tblGrid>
                    <a:gridCol w="3555727">
                      <a:extLst>
                        <a:ext uri="{9D8B030D-6E8A-4147-A177-3AD203B41FA5}">
                          <a16:colId xmlns:a16="http://schemas.microsoft.com/office/drawing/2014/main" val="566748248"/>
                        </a:ext>
                      </a:extLst>
                    </a:gridCol>
                  </a:tblGrid>
                  <a:tr h="370840">
                    <a:tc>
                      <a:txBody>
                        <a:bodyPr/>
                        <a:lstStyle/>
                        <a:p>
                          <a:pPr algn="just"/>
                          <a:endParaRPr lang="es-MX" sz="1800" b="0" i="1" dirty="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endParaRPr>
                        </a:p>
                        <a:p>
                          <a:pPr algn="just"/>
                          <a14:m>
                            <m:oMath xmlns:m="http://schemas.openxmlformats.org/officeDocument/2006/math">
                              <m:r>
                                <a:rPr lang="es-MX" sz="1800" b="0" i="1"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𝑝</m:t>
                              </m:r>
                              <m:r>
                                <a:rPr lang="es-MX" sz="1800" b="0" i="1"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≠0.5</m:t>
                              </m:r>
                            </m:oMath>
                          </a14:m>
                          <a:r>
                            <a:rPr lang="es-MX" sz="1800" b="0" dirty="0">
                              <a:solidFill>
                                <a:schemeClr val="bg1"/>
                              </a:solidFill>
                              <a:effectLst/>
                              <a:latin typeface="Times New Roman" panose="02020603050405020304" pitchFamily="18" charset="0"/>
                              <a:ea typeface="Times New Roman" panose="02020603050405020304" pitchFamily="18" charset="0"/>
                            </a:rPr>
                            <a:t> (de manera que la región crítica está en ambas colas de la distribución normal)</a:t>
                          </a:r>
                        </a:p>
                        <a:p>
                          <a:pPr algn="just"/>
                          <a:endParaRPr lang="es-MX" b="0" dirty="0">
                            <a:solidFill>
                              <a:schemeClr val="bg1"/>
                            </a:solidFill>
                          </a:endParaRPr>
                        </a:p>
                      </a:txBody>
                      <a:tcPr/>
                    </a:tc>
                    <a:extLst>
                      <a:ext uri="{0D108BD9-81ED-4DB2-BD59-A6C34878D82A}">
                        <a16:rowId xmlns:a16="http://schemas.microsoft.com/office/drawing/2014/main" val="3341491101"/>
                      </a:ext>
                    </a:extLst>
                  </a:tr>
                  <a:tr h="370840">
                    <a:tc>
                      <a:txBody>
                        <a:bodyPr/>
                        <a:lstStyle/>
                        <a:p>
                          <a:pPr algn="just"/>
                          <a:endParaRPr lang="es-MX" sz="1800" b="0" i="1" dirty="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endParaRPr>
                        </a:p>
                        <a:p>
                          <a:pPr algn="just"/>
                          <a14:m>
                            <m:oMath xmlns:m="http://schemas.openxmlformats.org/officeDocument/2006/math">
                              <m:r>
                                <a:rPr lang="es-MX" sz="1800" b="0" i="1"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𝑝</m:t>
                              </m:r>
                              <m:r>
                                <a:rPr lang="es-MX" sz="1800" b="0" i="1"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&lt;0.5</m:t>
                              </m:r>
                            </m:oMath>
                          </a14:m>
                          <a:r>
                            <a:rPr lang="es-MX" sz="1800" b="0" dirty="0">
                              <a:solidFill>
                                <a:schemeClr val="bg1"/>
                              </a:solidFill>
                              <a:effectLst/>
                              <a:latin typeface="Times New Roman" panose="02020603050405020304" pitchFamily="18" charset="0"/>
                              <a:ea typeface="Times New Roman" panose="02020603050405020304" pitchFamily="18" charset="0"/>
                            </a:rPr>
                            <a:t> (de manera que la región crítica está en la cola izquierda de la distribución normal)</a:t>
                          </a:r>
                        </a:p>
                        <a:p>
                          <a:pPr algn="just"/>
                          <a:endParaRPr lang="es-MX" b="0" dirty="0">
                            <a:solidFill>
                              <a:schemeClr val="bg1"/>
                            </a:solidFill>
                          </a:endParaRPr>
                        </a:p>
                      </a:txBody>
                      <a:tcPr/>
                    </a:tc>
                    <a:extLst>
                      <a:ext uri="{0D108BD9-81ED-4DB2-BD59-A6C34878D82A}">
                        <a16:rowId xmlns:a16="http://schemas.microsoft.com/office/drawing/2014/main" val="3302177774"/>
                      </a:ext>
                    </a:extLst>
                  </a:tr>
                  <a:tr h="370840">
                    <a:tc>
                      <a:txBody>
                        <a:bodyPr/>
                        <a:lstStyle/>
                        <a:p>
                          <a:pPr algn="just"/>
                          <a:endParaRPr lang="es-MX" sz="1800" b="0" i="1" dirty="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endParaRPr>
                        </a:p>
                        <a:p>
                          <a:pPr algn="just"/>
                          <a14:m>
                            <m:oMath xmlns:m="http://schemas.openxmlformats.org/officeDocument/2006/math">
                              <m:r>
                                <a:rPr lang="es-MX" sz="1800" b="0" i="1"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𝑝</m:t>
                              </m:r>
                              <m:r>
                                <a:rPr lang="es-MX" sz="1800" b="0" i="1"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&gt;0.5</m:t>
                              </m:r>
                            </m:oMath>
                          </a14:m>
                          <a:r>
                            <a:rPr lang="es-MX" sz="1800" b="0" dirty="0">
                              <a:solidFill>
                                <a:schemeClr val="bg1"/>
                              </a:solidFill>
                              <a:effectLst/>
                              <a:latin typeface="Times New Roman" panose="02020603050405020304" pitchFamily="18" charset="0"/>
                              <a:ea typeface="Times New Roman" panose="02020603050405020304" pitchFamily="18" charset="0"/>
                            </a:rPr>
                            <a:t> (de manera que la región crítica está en la cola derecha de la distribución normal)</a:t>
                          </a:r>
                        </a:p>
                        <a:p>
                          <a:pPr algn="just"/>
                          <a:endParaRPr lang="es-MX" b="0" dirty="0">
                            <a:solidFill>
                              <a:schemeClr val="bg1"/>
                            </a:solidFill>
                          </a:endParaRPr>
                        </a:p>
                      </a:txBody>
                      <a:tcPr/>
                    </a:tc>
                    <a:extLst>
                      <a:ext uri="{0D108BD9-81ED-4DB2-BD59-A6C34878D82A}">
                        <a16:rowId xmlns:a16="http://schemas.microsoft.com/office/drawing/2014/main" val="2390943885"/>
                      </a:ext>
                    </a:extLst>
                  </a:tr>
                </a:tbl>
              </a:graphicData>
            </a:graphic>
          </p:graphicFrame>
        </mc:Choice>
        <mc:Fallback xmlns="">
          <p:graphicFrame>
            <p:nvGraphicFramePr>
              <p:cNvPr id="17" name="Tabla 16"/>
              <p:cNvGraphicFramePr>
                <a:graphicFrameLocks noGrp="1"/>
              </p:cNvGraphicFramePr>
              <p:nvPr>
                <p:extLst>
                  <p:ext uri="{D42A27DB-BD31-4B8C-83A1-F6EECF244321}">
                    <p14:modId xmlns:p14="http://schemas.microsoft.com/office/powerpoint/2010/main" val="394164248"/>
                  </p:ext>
                </p:extLst>
              </p:nvPr>
            </p:nvGraphicFramePr>
            <p:xfrm>
              <a:off x="964022" y="2130454"/>
              <a:ext cx="3555727" cy="4389120"/>
            </p:xfrm>
            <a:graphic>
              <a:graphicData uri="http://schemas.openxmlformats.org/drawingml/2006/table">
                <a:tbl>
                  <a:tblPr firstRow="1" bandRow="1">
                    <a:tableStyleId>{C083E6E3-FA7D-4D7B-A595-EF9225AFEA82}</a:tableStyleId>
                  </a:tblPr>
                  <a:tblGrid>
                    <a:gridCol w="3555727">
                      <a:extLst>
                        <a:ext uri="{9D8B030D-6E8A-4147-A177-3AD203B41FA5}">
                          <a16:colId xmlns:a16="http://schemas.microsoft.com/office/drawing/2014/main" val="566748248"/>
                        </a:ext>
                      </a:extLst>
                    </a:gridCol>
                  </a:tblGrid>
                  <a:tr h="1463040">
                    <a:tc>
                      <a:txBody>
                        <a:bodyPr/>
                        <a:lstStyle/>
                        <a:p>
                          <a:endParaRPr lang="es-MX"/>
                        </a:p>
                      </a:txBody>
                      <a:tcPr>
                        <a:blipFill>
                          <a:blip r:embed="rId5"/>
                          <a:stretch>
                            <a:fillRect t="-417" r="-171" b="-200833"/>
                          </a:stretch>
                        </a:blipFill>
                      </a:tcPr>
                    </a:tc>
                    <a:extLst>
                      <a:ext uri="{0D108BD9-81ED-4DB2-BD59-A6C34878D82A}">
                        <a16:rowId xmlns:a16="http://schemas.microsoft.com/office/drawing/2014/main" val="3341491101"/>
                      </a:ext>
                    </a:extLst>
                  </a:tr>
                  <a:tr h="1463040">
                    <a:tc>
                      <a:txBody>
                        <a:bodyPr/>
                        <a:lstStyle/>
                        <a:p>
                          <a:endParaRPr lang="es-MX"/>
                        </a:p>
                      </a:txBody>
                      <a:tcPr>
                        <a:blipFill>
                          <a:blip r:embed="rId5"/>
                          <a:stretch>
                            <a:fillRect t="-100000" r="-171" b="-100000"/>
                          </a:stretch>
                        </a:blipFill>
                      </a:tcPr>
                    </a:tc>
                    <a:extLst>
                      <a:ext uri="{0D108BD9-81ED-4DB2-BD59-A6C34878D82A}">
                        <a16:rowId xmlns:a16="http://schemas.microsoft.com/office/drawing/2014/main" val="3302177774"/>
                      </a:ext>
                    </a:extLst>
                  </a:tr>
                  <a:tr h="1463040">
                    <a:tc>
                      <a:txBody>
                        <a:bodyPr/>
                        <a:lstStyle/>
                        <a:p>
                          <a:endParaRPr lang="es-MX"/>
                        </a:p>
                      </a:txBody>
                      <a:tcPr>
                        <a:blipFill>
                          <a:blip r:embed="rId5"/>
                          <a:stretch>
                            <a:fillRect t="-200833" r="-171" b="-417"/>
                          </a:stretch>
                        </a:blipFill>
                      </a:tcPr>
                    </a:tc>
                    <a:extLst>
                      <a:ext uri="{0D108BD9-81ED-4DB2-BD59-A6C34878D82A}">
                        <a16:rowId xmlns:a16="http://schemas.microsoft.com/office/drawing/2014/main" val="2390943885"/>
                      </a:ext>
                    </a:extLst>
                  </a:tr>
                </a:tbl>
              </a:graphicData>
            </a:graphic>
          </p:graphicFrame>
        </mc:Fallback>
      </mc:AlternateContent>
      <p:pic>
        <p:nvPicPr>
          <p:cNvPr id="18" name="Imagen 17"/>
          <p:cNvPicPr>
            <a:picLocks noChangeAspect="1"/>
          </p:cNvPicPr>
          <p:nvPr/>
        </p:nvPicPr>
        <p:blipFill>
          <a:blip r:embed="rId6"/>
          <a:stretch>
            <a:fillRect/>
          </a:stretch>
        </p:blipFill>
        <p:spPr>
          <a:xfrm>
            <a:off x="5026295" y="1971568"/>
            <a:ext cx="3552825" cy="1838325"/>
          </a:xfrm>
          <a:prstGeom prst="rect">
            <a:avLst/>
          </a:prstGeom>
        </p:spPr>
      </p:pic>
      <p:pic>
        <p:nvPicPr>
          <p:cNvPr id="19" name="Imagen 18"/>
          <p:cNvPicPr>
            <a:picLocks noChangeAspect="1"/>
          </p:cNvPicPr>
          <p:nvPr/>
        </p:nvPicPr>
        <p:blipFill>
          <a:blip r:embed="rId7"/>
          <a:stretch>
            <a:fillRect/>
          </a:stretch>
        </p:blipFill>
        <p:spPr>
          <a:xfrm>
            <a:off x="7125083" y="3809893"/>
            <a:ext cx="3590925" cy="1314450"/>
          </a:xfrm>
          <a:prstGeom prst="rect">
            <a:avLst/>
          </a:prstGeom>
        </p:spPr>
      </p:pic>
      <p:pic>
        <p:nvPicPr>
          <p:cNvPr id="20" name="Imagen 19"/>
          <p:cNvPicPr>
            <a:picLocks noChangeAspect="1"/>
          </p:cNvPicPr>
          <p:nvPr/>
        </p:nvPicPr>
        <p:blipFill>
          <a:blip r:embed="rId8"/>
          <a:stretch>
            <a:fillRect/>
          </a:stretch>
        </p:blipFill>
        <p:spPr>
          <a:xfrm>
            <a:off x="8350023" y="5268563"/>
            <a:ext cx="3590925" cy="1333500"/>
          </a:xfrm>
          <a:prstGeom prst="rect">
            <a:avLst/>
          </a:prstGeom>
        </p:spPr>
      </p:pic>
      <p:cxnSp>
        <p:nvCxnSpPr>
          <p:cNvPr id="22" name="Conector recto de flecha 21"/>
          <p:cNvCxnSpPr>
            <a:endCxn id="18" idx="1"/>
          </p:cNvCxnSpPr>
          <p:nvPr/>
        </p:nvCxnSpPr>
        <p:spPr>
          <a:xfrm>
            <a:off x="4519749" y="2890730"/>
            <a:ext cx="506546"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5" name="Conector recto de flecha 24"/>
          <p:cNvCxnSpPr>
            <a:endCxn id="20" idx="1"/>
          </p:cNvCxnSpPr>
          <p:nvPr/>
        </p:nvCxnSpPr>
        <p:spPr>
          <a:xfrm flipV="1">
            <a:off x="4591784" y="5935313"/>
            <a:ext cx="3758239" cy="1975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9" name="Conector recto de flecha 28"/>
          <p:cNvCxnSpPr/>
          <p:nvPr/>
        </p:nvCxnSpPr>
        <p:spPr>
          <a:xfrm>
            <a:off x="4591784" y="4325014"/>
            <a:ext cx="2533299"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3" name="Picture 4" descr="Personas con un icono de computadora: vector de stock (libre de regalías)  2008763171 | Shutterstock">
            <a:extLst>
              <a:ext uri="{FF2B5EF4-FFF2-40B4-BE49-F238E27FC236}">
                <a16:creationId xmlns:a16="http://schemas.microsoft.com/office/drawing/2014/main" id="{778FE607-7D45-7F92-18FF-8F62DF02EB4B}"/>
              </a:ext>
            </a:extLst>
          </p:cNvPr>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b="17260"/>
          <a:stretch/>
        </p:blipFill>
        <p:spPr bwMode="auto">
          <a:xfrm>
            <a:off x="0" y="2430233"/>
            <a:ext cx="1033608" cy="92099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Personas con un icono de computadora: vector de stock (libre de regalías)  2008763171 | Shutterstock">
            <a:extLst>
              <a:ext uri="{FF2B5EF4-FFF2-40B4-BE49-F238E27FC236}">
                <a16:creationId xmlns:a16="http://schemas.microsoft.com/office/drawing/2014/main" id="{47AC4813-983A-6D89-AE66-E1E4473FCB6A}"/>
              </a:ext>
            </a:extLst>
          </p:cNvPr>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b="17260"/>
          <a:stretch/>
        </p:blipFill>
        <p:spPr bwMode="auto">
          <a:xfrm>
            <a:off x="0" y="3809893"/>
            <a:ext cx="1033608" cy="92099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Personas con un icono de computadora: vector de stock (libre de regalías)  2008763171 | Shutterstock">
            <a:extLst>
              <a:ext uri="{FF2B5EF4-FFF2-40B4-BE49-F238E27FC236}">
                <a16:creationId xmlns:a16="http://schemas.microsoft.com/office/drawing/2014/main" id="{457429FA-C582-3A6F-0FCB-B33236956125}"/>
              </a:ext>
            </a:extLst>
          </p:cNvPr>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b="17260"/>
          <a:stretch/>
        </p:blipFill>
        <p:spPr bwMode="auto">
          <a:xfrm>
            <a:off x="0" y="5268563"/>
            <a:ext cx="1033608" cy="92099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461CF26-89B4-B0EC-650D-AD756845DAA6}"/>
              </a:ext>
            </a:extLst>
          </p:cNvPr>
          <p:cNvSpPr txBox="1"/>
          <p:nvPr/>
        </p:nvSpPr>
        <p:spPr>
          <a:xfrm>
            <a:off x="5431563" y="5065096"/>
            <a:ext cx="1636738" cy="461665"/>
          </a:xfrm>
          <a:prstGeom prst="rect">
            <a:avLst/>
          </a:prstGeom>
          <a:noFill/>
          <a:ln>
            <a:solidFill>
              <a:schemeClr val="tx1"/>
            </a:solidFill>
          </a:ln>
        </p:spPr>
        <p:txBody>
          <a:bodyPr wrap="square" rtlCol="0">
            <a:spAutoFit/>
          </a:bodyPr>
          <a:lstStyle/>
          <a:p>
            <a:pPr algn="ctr"/>
            <a:r>
              <a:rPr lang="en-US" sz="1200" b="1" dirty="0">
                <a:solidFill>
                  <a:schemeClr val="bg1"/>
                </a:solidFill>
              </a:rPr>
              <a:t>Z</a:t>
            </a:r>
            <a:r>
              <a:rPr lang="en-US" sz="1200" dirty="0">
                <a:solidFill>
                  <a:schemeClr val="bg1"/>
                </a:solidFill>
              </a:rPr>
              <a:t> de las </a:t>
            </a:r>
            <a:r>
              <a:rPr lang="en-US" sz="1200" b="1" dirty="0" err="1">
                <a:solidFill>
                  <a:schemeClr val="bg1"/>
                </a:solidFill>
                <a:highlight>
                  <a:srgbClr val="FFFF00"/>
                </a:highlight>
              </a:rPr>
              <a:t>tablas</a:t>
            </a:r>
            <a:r>
              <a:rPr lang="en-US" sz="1200" dirty="0">
                <a:solidFill>
                  <a:schemeClr val="bg1"/>
                </a:solidFill>
              </a:rPr>
              <a:t> para</a:t>
            </a:r>
          </a:p>
          <a:p>
            <a:pPr algn="ctr"/>
            <a:r>
              <a:rPr lang="en-US" sz="1200" dirty="0">
                <a:solidFill>
                  <a:schemeClr val="bg1"/>
                </a:solidFill>
              </a:rPr>
              <a:t>El </a:t>
            </a:r>
            <a:r>
              <a:rPr lang="en-US" sz="1200" b="1" dirty="0">
                <a:solidFill>
                  <a:schemeClr val="bg1"/>
                </a:solidFill>
              </a:rPr>
              <a:t>valor </a:t>
            </a:r>
            <a:r>
              <a:rPr lang="en-US" sz="1200" b="1" dirty="0" err="1">
                <a:solidFill>
                  <a:schemeClr val="bg1"/>
                </a:solidFill>
              </a:rPr>
              <a:t>critico</a:t>
            </a:r>
            <a:r>
              <a:rPr lang="en-US" sz="1200" b="1" dirty="0">
                <a:solidFill>
                  <a:schemeClr val="bg1"/>
                </a:solidFill>
              </a:rPr>
              <a:t> </a:t>
            </a:r>
            <a:r>
              <a:rPr lang="en-US" sz="1200" dirty="0" err="1">
                <a:solidFill>
                  <a:schemeClr val="bg1"/>
                </a:solidFill>
              </a:rPr>
              <a:t>aqui</a:t>
            </a:r>
            <a:endParaRPr lang="en-US" sz="1200" dirty="0">
              <a:solidFill>
                <a:schemeClr val="bg1"/>
              </a:solidFill>
            </a:endParaRPr>
          </a:p>
        </p:txBody>
      </p:sp>
      <p:cxnSp>
        <p:nvCxnSpPr>
          <p:cNvPr id="8" name="Straight Arrow Connector 7">
            <a:extLst>
              <a:ext uri="{FF2B5EF4-FFF2-40B4-BE49-F238E27FC236}">
                <a16:creationId xmlns:a16="http://schemas.microsoft.com/office/drawing/2014/main" id="{8AF0CD34-4580-493C-35CE-E7842381070F}"/>
              </a:ext>
            </a:extLst>
          </p:cNvPr>
          <p:cNvCxnSpPr>
            <a:cxnSpLocks/>
            <a:stCxn id="6" idx="0"/>
            <a:endCxn id="18" idx="2"/>
          </p:cNvCxnSpPr>
          <p:nvPr/>
        </p:nvCxnSpPr>
        <p:spPr>
          <a:xfrm flipV="1">
            <a:off x="6249932" y="3809893"/>
            <a:ext cx="552776" cy="12552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52D0C7D7-DB2F-5787-5136-829255DBA003}"/>
              </a:ext>
            </a:extLst>
          </p:cNvPr>
          <p:cNvCxnSpPr>
            <a:cxnSpLocks/>
            <a:stCxn id="6" idx="0"/>
          </p:cNvCxnSpPr>
          <p:nvPr/>
        </p:nvCxnSpPr>
        <p:spPr>
          <a:xfrm flipH="1" flipV="1">
            <a:off x="5512360" y="3804673"/>
            <a:ext cx="737572" cy="12604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D1523BBB-B656-8E93-B231-054B300441C3}"/>
              </a:ext>
            </a:extLst>
          </p:cNvPr>
          <p:cNvCxnSpPr>
            <a:cxnSpLocks/>
            <a:stCxn id="6" idx="3"/>
          </p:cNvCxnSpPr>
          <p:nvPr/>
        </p:nvCxnSpPr>
        <p:spPr>
          <a:xfrm flipV="1">
            <a:off x="7068301" y="5065096"/>
            <a:ext cx="464809" cy="2308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905E42D4-385D-4E2E-8FE2-E3A47272EB4A}"/>
              </a:ext>
            </a:extLst>
          </p:cNvPr>
          <p:cNvCxnSpPr>
            <a:cxnSpLocks/>
            <a:stCxn id="6" idx="3"/>
          </p:cNvCxnSpPr>
          <p:nvPr/>
        </p:nvCxnSpPr>
        <p:spPr>
          <a:xfrm>
            <a:off x="7068301" y="5295929"/>
            <a:ext cx="2657676" cy="11335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CuadroTexto 9">
            <a:extLst>
              <a:ext uri="{FF2B5EF4-FFF2-40B4-BE49-F238E27FC236}">
                <a16:creationId xmlns:a16="http://schemas.microsoft.com/office/drawing/2014/main" id="{8AF9ED7B-93B5-117C-D0BE-199A0D163CCC}"/>
              </a:ext>
            </a:extLst>
          </p:cNvPr>
          <p:cNvSpPr txBox="1"/>
          <p:nvPr/>
        </p:nvSpPr>
        <p:spPr>
          <a:xfrm>
            <a:off x="185716" y="1752970"/>
            <a:ext cx="4587306" cy="542008"/>
          </a:xfrm>
          <a:prstGeom prst="rect">
            <a:avLst/>
          </a:prstGeom>
          <a:solidFill>
            <a:schemeClr val="tx1"/>
          </a:solidFill>
          <a:ln>
            <a:solidFill>
              <a:schemeClr val="tx1"/>
            </a:solidFill>
          </a:ln>
        </p:spPr>
        <p:txBody>
          <a:bodyPr wrap="square" rtlCol="0">
            <a:spAutoFit/>
          </a:bodyPr>
          <a:lstStyle/>
          <a:p>
            <a:pPr>
              <a:lnSpc>
                <a:spcPct val="107000"/>
              </a:lnSpc>
              <a:spcAft>
                <a:spcPts val="800"/>
              </a:spcAft>
            </a:pPr>
            <a:r>
              <a:rPr lang="es-MX" sz="1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Primero identificar con que tipo de </a:t>
            </a:r>
            <a:r>
              <a:rPr lang="es-MX" sz="14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cola</a:t>
            </a:r>
            <a:r>
              <a:rPr lang="es-MX" sz="1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estamos trabajando. El </a:t>
            </a:r>
            <a:r>
              <a:rPr lang="es-MX" sz="14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tipo de cola lo da la Hipótesis Alternativa</a:t>
            </a:r>
            <a:r>
              <a:rPr lang="es-MX" sz="1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a:t>
            </a:r>
            <a:endParaRPr lang="es-MX" sz="1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0" name="CuadroTexto 9">
            <a:extLst>
              <a:ext uri="{FF2B5EF4-FFF2-40B4-BE49-F238E27FC236}">
                <a16:creationId xmlns:a16="http://schemas.microsoft.com/office/drawing/2014/main" id="{DCD496FC-5186-3CE9-6BDA-08FE1876368A}"/>
              </a:ext>
            </a:extLst>
          </p:cNvPr>
          <p:cNvSpPr txBox="1"/>
          <p:nvPr/>
        </p:nvSpPr>
        <p:spPr>
          <a:xfrm>
            <a:off x="8973517" y="2337422"/>
            <a:ext cx="2725334" cy="537904"/>
          </a:xfrm>
          <a:prstGeom prst="rect">
            <a:avLst/>
          </a:prstGeom>
          <a:solidFill>
            <a:schemeClr val="tx1"/>
          </a:solidFill>
          <a:ln>
            <a:solidFill>
              <a:schemeClr val="tx1"/>
            </a:solidFill>
          </a:ln>
        </p:spPr>
        <p:txBody>
          <a:bodyPr wrap="square" rtlCol="0">
            <a:spAutoFit/>
          </a:bodyPr>
          <a:lstStyle/>
          <a:p>
            <a:pPr algn="just">
              <a:lnSpc>
                <a:spcPct val="107000"/>
              </a:lnSpc>
              <a:spcAft>
                <a:spcPts val="800"/>
              </a:spcAft>
            </a:pPr>
            <a:r>
              <a:rPr lang="en-US" sz="14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alpha (</a:t>
            </a:r>
            <a:r>
              <a:rPr lang="en-US" sz="1400" b="1" dirty="0" err="1">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significancia</a:t>
            </a:r>
            <a:r>
              <a:rPr lang="en-US" sz="14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a:t>
            </a:r>
            <a:r>
              <a:rPr lang="es-MX" sz="1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Error tipo I, rechazar H0 cuando es verdadera.</a:t>
            </a:r>
          </a:p>
        </p:txBody>
      </p:sp>
      <p:sp>
        <p:nvSpPr>
          <p:cNvPr id="31" name="TextBox 30">
            <a:extLst>
              <a:ext uri="{FF2B5EF4-FFF2-40B4-BE49-F238E27FC236}">
                <a16:creationId xmlns:a16="http://schemas.microsoft.com/office/drawing/2014/main" id="{AEDEB2C6-18E8-3BC3-C6FE-F86168691CC1}"/>
              </a:ext>
            </a:extLst>
          </p:cNvPr>
          <p:cNvSpPr txBox="1"/>
          <p:nvPr/>
        </p:nvSpPr>
        <p:spPr>
          <a:xfrm>
            <a:off x="5160069" y="2884780"/>
            <a:ext cx="459983" cy="253916"/>
          </a:xfrm>
          <a:prstGeom prst="rect">
            <a:avLst/>
          </a:prstGeom>
          <a:noFill/>
        </p:spPr>
        <p:txBody>
          <a:bodyPr wrap="square" rtlCol="0">
            <a:spAutoFit/>
          </a:bodyPr>
          <a:lstStyle/>
          <a:p>
            <a:r>
              <a:rPr lang="en-US" sz="1050" dirty="0">
                <a:solidFill>
                  <a:schemeClr val="bg1"/>
                </a:solidFill>
              </a:rPr>
              <a:t>area</a:t>
            </a:r>
          </a:p>
        </p:txBody>
      </p:sp>
      <p:sp>
        <p:nvSpPr>
          <p:cNvPr id="32" name="TextBox 31">
            <a:extLst>
              <a:ext uri="{FF2B5EF4-FFF2-40B4-BE49-F238E27FC236}">
                <a16:creationId xmlns:a16="http://schemas.microsoft.com/office/drawing/2014/main" id="{E0D66AC2-A8FE-6FC4-35C9-3B1D2AECE1A0}"/>
              </a:ext>
            </a:extLst>
          </p:cNvPr>
          <p:cNvSpPr txBox="1"/>
          <p:nvPr/>
        </p:nvSpPr>
        <p:spPr>
          <a:xfrm>
            <a:off x="6608318" y="2869834"/>
            <a:ext cx="459983" cy="253916"/>
          </a:xfrm>
          <a:prstGeom prst="rect">
            <a:avLst/>
          </a:prstGeom>
          <a:noFill/>
        </p:spPr>
        <p:txBody>
          <a:bodyPr wrap="square" rtlCol="0">
            <a:spAutoFit/>
          </a:bodyPr>
          <a:lstStyle/>
          <a:p>
            <a:r>
              <a:rPr lang="en-US" sz="1050" dirty="0">
                <a:solidFill>
                  <a:schemeClr val="bg1"/>
                </a:solidFill>
              </a:rPr>
              <a:t>area</a:t>
            </a:r>
          </a:p>
        </p:txBody>
      </p:sp>
      <p:sp>
        <p:nvSpPr>
          <p:cNvPr id="33" name="TextBox 32">
            <a:extLst>
              <a:ext uri="{FF2B5EF4-FFF2-40B4-BE49-F238E27FC236}">
                <a16:creationId xmlns:a16="http://schemas.microsoft.com/office/drawing/2014/main" id="{372270CD-5E6C-D0B9-ABEF-E317B2E29106}"/>
              </a:ext>
            </a:extLst>
          </p:cNvPr>
          <p:cNvSpPr txBox="1"/>
          <p:nvPr/>
        </p:nvSpPr>
        <p:spPr>
          <a:xfrm>
            <a:off x="7259203" y="4190141"/>
            <a:ext cx="459983" cy="253916"/>
          </a:xfrm>
          <a:prstGeom prst="rect">
            <a:avLst/>
          </a:prstGeom>
          <a:noFill/>
        </p:spPr>
        <p:txBody>
          <a:bodyPr wrap="square" rtlCol="0">
            <a:spAutoFit/>
          </a:bodyPr>
          <a:lstStyle/>
          <a:p>
            <a:r>
              <a:rPr lang="en-US" sz="1050" dirty="0">
                <a:solidFill>
                  <a:schemeClr val="bg1"/>
                </a:solidFill>
              </a:rPr>
              <a:t>area</a:t>
            </a:r>
          </a:p>
        </p:txBody>
      </p:sp>
      <p:sp>
        <p:nvSpPr>
          <p:cNvPr id="34" name="TextBox 33">
            <a:extLst>
              <a:ext uri="{FF2B5EF4-FFF2-40B4-BE49-F238E27FC236}">
                <a16:creationId xmlns:a16="http://schemas.microsoft.com/office/drawing/2014/main" id="{104072EB-7134-F3A2-F6BB-A87283936ADD}"/>
              </a:ext>
            </a:extLst>
          </p:cNvPr>
          <p:cNvSpPr txBox="1"/>
          <p:nvPr/>
        </p:nvSpPr>
        <p:spPr>
          <a:xfrm>
            <a:off x="9821046" y="5695295"/>
            <a:ext cx="459983" cy="253916"/>
          </a:xfrm>
          <a:prstGeom prst="rect">
            <a:avLst/>
          </a:prstGeom>
          <a:noFill/>
        </p:spPr>
        <p:txBody>
          <a:bodyPr wrap="square" rtlCol="0">
            <a:spAutoFit/>
          </a:bodyPr>
          <a:lstStyle/>
          <a:p>
            <a:r>
              <a:rPr lang="en-US" sz="1050" dirty="0">
                <a:solidFill>
                  <a:schemeClr val="bg1"/>
                </a:solidFill>
              </a:rPr>
              <a:t>area</a:t>
            </a:r>
          </a:p>
        </p:txBody>
      </p:sp>
      <p:sp>
        <p:nvSpPr>
          <p:cNvPr id="43" name="CuadroTexto 9">
            <a:extLst>
              <a:ext uri="{FF2B5EF4-FFF2-40B4-BE49-F238E27FC236}">
                <a16:creationId xmlns:a16="http://schemas.microsoft.com/office/drawing/2014/main" id="{51173445-2578-7A15-0651-24A022568D38}"/>
              </a:ext>
            </a:extLst>
          </p:cNvPr>
          <p:cNvSpPr txBox="1"/>
          <p:nvPr/>
        </p:nvSpPr>
        <p:spPr>
          <a:xfrm>
            <a:off x="8973517" y="2998281"/>
            <a:ext cx="2725334" cy="537904"/>
          </a:xfrm>
          <a:prstGeom prst="rect">
            <a:avLst/>
          </a:prstGeom>
          <a:solidFill>
            <a:schemeClr val="tx1"/>
          </a:solidFill>
          <a:ln>
            <a:solidFill>
              <a:schemeClr val="tx1"/>
            </a:solidFill>
          </a:ln>
        </p:spPr>
        <p:txBody>
          <a:bodyPr wrap="square" rtlCol="0">
            <a:spAutoFit/>
          </a:bodyPr>
          <a:lstStyle/>
          <a:p>
            <a:pPr algn="just">
              <a:lnSpc>
                <a:spcPct val="107000"/>
              </a:lnSpc>
              <a:spcAft>
                <a:spcPts val="800"/>
              </a:spcAft>
            </a:pPr>
            <a:r>
              <a:rPr lang="en-US" sz="14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Area de </a:t>
            </a:r>
            <a:r>
              <a:rPr lang="en-US" sz="1400" b="1" dirty="0" err="1">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Rechazo</a:t>
            </a:r>
            <a:r>
              <a:rPr lang="en-US" sz="14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1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a:t>
            </a:r>
            <a:r>
              <a:rPr lang="el-GR" sz="1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α</a:t>
            </a:r>
            <a:r>
              <a:rPr lang="en-US" sz="1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/2 = 0.05/2 = 0.025</a:t>
            </a:r>
            <a:r>
              <a:rPr lang="es-MX" sz="1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ya que la prueba es bilateral.</a:t>
            </a:r>
          </a:p>
        </p:txBody>
      </p:sp>
      <p:sp>
        <p:nvSpPr>
          <p:cNvPr id="44" name="TextBox 43">
            <a:extLst>
              <a:ext uri="{FF2B5EF4-FFF2-40B4-BE49-F238E27FC236}">
                <a16:creationId xmlns:a16="http://schemas.microsoft.com/office/drawing/2014/main" id="{DE5B930A-F719-1D1A-0CAD-A7368AEEA5D7}"/>
              </a:ext>
            </a:extLst>
          </p:cNvPr>
          <p:cNvSpPr txBox="1"/>
          <p:nvPr/>
        </p:nvSpPr>
        <p:spPr>
          <a:xfrm>
            <a:off x="5620052" y="3182309"/>
            <a:ext cx="572165" cy="415498"/>
          </a:xfrm>
          <a:prstGeom prst="rect">
            <a:avLst/>
          </a:prstGeom>
          <a:noFill/>
        </p:spPr>
        <p:txBody>
          <a:bodyPr wrap="square" rtlCol="0">
            <a:spAutoFit/>
          </a:bodyPr>
          <a:lstStyle/>
          <a:p>
            <a:r>
              <a:rPr lang="en-US" sz="1050" dirty="0">
                <a:solidFill>
                  <a:schemeClr val="bg1"/>
                </a:solidFill>
              </a:rPr>
              <a:t>Area=0.475</a:t>
            </a:r>
          </a:p>
        </p:txBody>
      </p:sp>
      <p:sp>
        <p:nvSpPr>
          <p:cNvPr id="45" name="TextBox 44">
            <a:extLst>
              <a:ext uri="{FF2B5EF4-FFF2-40B4-BE49-F238E27FC236}">
                <a16:creationId xmlns:a16="http://schemas.microsoft.com/office/drawing/2014/main" id="{846B7F25-899C-FF4E-0794-C8AB61B0A6AB}"/>
              </a:ext>
            </a:extLst>
          </p:cNvPr>
          <p:cNvSpPr txBox="1"/>
          <p:nvPr/>
        </p:nvSpPr>
        <p:spPr>
          <a:xfrm>
            <a:off x="5516570" y="2733367"/>
            <a:ext cx="1314475" cy="253916"/>
          </a:xfrm>
          <a:prstGeom prst="rect">
            <a:avLst/>
          </a:prstGeom>
          <a:noFill/>
        </p:spPr>
        <p:txBody>
          <a:bodyPr wrap="square" rtlCol="0">
            <a:spAutoFit/>
          </a:bodyPr>
          <a:lstStyle/>
          <a:p>
            <a:r>
              <a:rPr lang="en-US" sz="1050" dirty="0">
                <a:solidFill>
                  <a:schemeClr val="bg1"/>
                </a:solidFill>
              </a:rPr>
              <a:t>Total area = 100%</a:t>
            </a:r>
          </a:p>
        </p:txBody>
      </p:sp>
      <p:sp>
        <p:nvSpPr>
          <p:cNvPr id="46" name="TextBox 45">
            <a:extLst>
              <a:ext uri="{FF2B5EF4-FFF2-40B4-BE49-F238E27FC236}">
                <a16:creationId xmlns:a16="http://schemas.microsoft.com/office/drawing/2014/main" id="{50ADF46F-3031-4958-BF06-3A7CED91920E}"/>
              </a:ext>
            </a:extLst>
          </p:cNvPr>
          <p:cNvSpPr txBox="1"/>
          <p:nvPr/>
        </p:nvSpPr>
        <p:spPr>
          <a:xfrm>
            <a:off x="7789408" y="4473049"/>
            <a:ext cx="572165" cy="415498"/>
          </a:xfrm>
          <a:prstGeom prst="rect">
            <a:avLst/>
          </a:prstGeom>
          <a:noFill/>
        </p:spPr>
        <p:txBody>
          <a:bodyPr wrap="square" rtlCol="0">
            <a:spAutoFit/>
          </a:bodyPr>
          <a:lstStyle/>
          <a:p>
            <a:r>
              <a:rPr lang="en-US" sz="1050" dirty="0">
                <a:solidFill>
                  <a:schemeClr val="bg1"/>
                </a:solidFill>
              </a:rPr>
              <a:t>Area=0.45</a:t>
            </a:r>
          </a:p>
        </p:txBody>
      </p:sp>
      <p:sp>
        <p:nvSpPr>
          <p:cNvPr id="47" name="TextBox 46">
            <a:extLst>
              <a:ext uri="{FF2B5EF4-FFF2-40B4-BE49-F238E27FC236}">
                <a16:creationId xmlns:a16="http://schemas.microsoft.com/office/drawing/2014/main" id="{1C9C8861-83DE-7644-6848-C979F120B77F}"/>
              </a:ext>
            </a:extLst>
          </p:cNvPr>
          <p:cNvSpPr txBox="1"/>
          <p:nvPr/>
        </p:nvSpPr>
        <p:spPr>
          <a:xfrm>
            <a:off x="8195808" y="4473049"/>
            <a:ext cx="572165" cy="415498"/>
          </a:xfrm>
          <a:prstGeom prst="rect">
            <a:avLst/>
          </a:prstGeom>
          <a:noFill/>
        </p:spPr>
        <p:txBody>
          <a:bodyPr wrap="square" rtlCol="0">
            <a:spAutoFit/>
          </a:bodyPr>
          <a:lstStyle/>
          <a:p>
            <a:r>
              <a:rPr lang="en-US" sz="1050" dirty="0">
                <a:solidFill>
                  <a:schemeClr val="bg1"/>
                </a:solidFill>
              </a:rPr>
              <a:t>Area=0.50</a:t>
            </a:r>
          </a:p>
        </p:txBody>
      </p:sp>
      <p:sp>
        <p:nvSpPr>
          <p:cNvPr id="48" name="TextBox 47">
            <a:extLst>
              <a:ext uri="{FF2B5EF4-FFF2-40B4-BE49-F238E27FC236}">
                <a16:creationId xmlns:a16="http://schemas.microsoft.com/office/drawing/2014/main" id="{57554493-373B-BEE7-5FFB-6C96E8FDBB86}"/>
              </a:ext>
            </a:extLst>
          </p:cNvPr>
          <p:cNvSpPr txBox="1"/>
          <p:nvPr/>
        </p:nvSpPr>
        <p:spPr>
          <a:xfrm>
            <a:off x="8915264" y="5981807"/>
            <a:ext cx="572165" cy="415498"/>
          </a:xfrm>
          <a:prstGeom prst="rect">
            <a:avLst/>
          </a:prstGeom>
          <a:noFill/>
        </p:spPr>
        <p:txBody>
          <a:bodyPr wrap="square" rtlCol="0">
            <a:spAutoFit/>
          </a:bodyPr>
          <a:lstStyle/>
          <a:p>
            <a:r>
              <a:rPr lang="en-US" sz="1050" dirty="0">
                <a:solidFill>
                  <a:schemeClr val="bg1"/>
                </a:solidFill>
              </a:rPr>
              <a:t>Area=0.50</a:t>
            </a:r>
          </a:p>
        </p:txBody>
      </p:sp>
      <p:sp>
        <p:nvSpPr>
          <p:cNvPr id="49" name="TextBox 48">
            <a:extLst>
              <a:ext uri="{FF2B5EF4-FFF2-40B4-BE49-F238E27FC236}">
                <a16:creationId xmlns:a16="http://schemas.microsoft.com/office/drawing/2014/main" id="{7DE5BAE3-717E-5382-CC7D-E152D6A5F475}"/>
              </a:ext>
            </a:extLst>
          </p:cNvPr>
          <p:cNvSpPr txBox="1"/>
          <p:nvPr/>
        </p:nvSpPr>
        <p:spPr>
          <a:xfrm>
            <a:off x="9320621" y="5972295"/>
            <a:ext cx="572165" cy="415498"/>
          </a:xfrm>
          <a:prstGeom prst="rect">
            <a:avLst/>
          </a:prstGeom>
          <a:noFill/>
        </p:spPr>
        <p:txBody>
          <a:bodyPr wrap="square" rtlCol="0">
            <a:spAutoFit/>
          </a:bodyPr>
          <a:lstStyle/>
          <a:p>
            <a:r>
              <a:rPr lang="en-US" sz="1050" dirty="0">
                <a:solidFill>
                  <a:schemeClr val="bg1"/>
                </a:solidFill>
              </a:rPr>
              <a:t>Area=0.45</a:t>
            </a:r>
          </a:p>
        </p:txBody>
      </p:sp>
      <p:sp>
        <p:nvSpPr>
          <p:cNvPr id="50" name="TextBox 49">
            <a:extLst>
              <a:ext uri="{FF2B5EF4-FFF2-40B4-BE49-F238E27FC236}">
                <a16:creationId xmlns:a16="http://schemas.microsoft.com/office/drawing/2014/main" id="{AF944358-AF8D-D756-384E-4877AE7809A3}"/>
              </a:ext>
            </a:extLst>
          </p:cNvPr>
          <p:cNvSpPr txBox="1"/>
          <p:nvPr/>
        </p:nvSpPr>
        <p:spPr>
          <a:xfrm>
            <a:off x="6126598" y="3182309"/>
            <a:ext cx="572165" cy="415498"/>
          </a:xfrm>
          <a:prstGeom prst="rect">
            <a:avLst/>
          </a:prstGeom>
          <a:noFill/>
        </p:spPr>
        <p:txBody>
          <a:bodyPr wrap="square" rtlCol="0">
            <a:spAutoFit/>
          </a:bodyPr>
          <a:lstStyle/>
          <a:p>
            <a:r>
              <a:rPr lang="en-US" sz="1050" dirty="0">
                <a:solidFill>
                  <a:schemeClr val="bg1"/>
                </a:solidFill>
              </a:rPr>
              <a:t>Area=0.475</a:t>
            </a:r>
          </a:p>
        </p:txBody>
      </p:sp>
      <p:sp>
        <p:nvSpPr>
          <p:cNvPr id="53" name="Rectangle 52">
            <a:extLst>
              <a:ext uri="{FF2B5EF4-FFF2-40B4-BE49-F238E27FC236}">
                <a16:creationId xmlns:a16="http://schemas.microsoft.com/office/drawing/2014/main" id="{7E5D9C8D-28C5-7196-BA6B-177BFCFE8AFC}"/>
              </a:ext>
            </a:extLst>
          </p:cNvPr>
          <p:cNvSpPr/>
          <p:nvPr/>
        </p:nvSpPr>
        <p:spPr>
          <a:xfrm>
            <a:off x="11012877" y="890998"/>
            <a:ext cx="120650" cy="1016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2B74C4CE-08FC-87E6-2F0E-0D078C8E1287}"/>
              </a:ext>
            </a:extLst>
          </p:cNvPr>
          <p:cNvSpPr/>
          <p:nvPr/>
        </p:nvSpPr>
        <p:spPr>
          <a:xfrm>
            <a:off x="9362812" y="2112867"/>
            <a:ext cx="171508" cy="9002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ADA4BDC4-EB98-E070-D27F-9B679B6E5633}"/>
              </a:ext>
            </a:extLst>
          </p:cNvPr>
          <p:cNvSpPr/>
          <p:nvPr/>
        </p:nvSpPr>
        <p:spPr>
          <a:xfrm>
            <a:off x="10978289" y="2130454"/>
            <a:ext cx="168275" cy="7243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CuadroTexto 9">
            <a:extLst>
              <a:ext uri="{FF2B5EF4-FFF2-40B4-BE49-F238E27FC236}">
                <a16:creationId xmlns:a16="http://schemas.microsoft.com/office/drawing/2014/main" id="{467BB90B-94E5-DFC3-07DF-075D38DC38FA}"/>
              </a:ext>
            </a:extLst>
          </p:cNvPr>
          <p:cNvSpPr txBox="1"/>
          <p:nvPr/>
        </p:nvSpPr>
        <p:spPr>
          <a:xfrm>
            <a:off x="10207489" y="197483"/>
            <a:ext cx="1491361" cy="545727"/>
          </a:xfrm>
          <a:prstGeom prst="rect">
            <a:avLst/>
          </a:prstGeom>
          <a:noFill/>
          <a:ln>
            <a:solidFill>
              <a:schemeClr val="tx1"/>
            </a:solidFill>
          </a:ln>
        </p:spPr>
        <p:txBody>
          <a:bodyPr wrap="square" rtlCol="0">
            <a:spAutoFit/>
          </a:bodyPr>
          <a:lstStyle/>
          <a:p>
            <a:pPr>
              <a:lnSpc>
                <a:spcPct val="107000"/>
              </a:lnSpc>
              <a:spcAft>
                <a:spcPts val="800"/>
              </a:spcAft>
            </a:pPr>
            <a:r>
              <a:rPr lang="en-US" sz="7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Input Area to the Left of z: 0.025</a:t>
            </a:r>
            <a:br>
              <a:rPr lang="en-US" sz="7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br>
            <a:r>
              <a:rPr lang="en-US" sz="7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Outcome Critical Value:</a:t>
            </a:r>
            <a:br>
              <a:rPr lang="en-US" sz="7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br>
            <a:r>
              <a:rPr lang="en-US" sz="7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 Z = -1.9 - 0.06</a:t>
            </a:r>
            <a:br>
              <a:rPr lang="en-US" sz="7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br>
            <a:r>
              <a:rPr lang="en-US" sz="7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Z =  -1.96</a:t>
            </a:r>
            <a:endParaRPr lang="es-MX" sz="70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endParaRPr>
          </a:p>
        </p:txBody>
      </p:sp>
      <p:cxnSp>
        <p:nvCxnSpPr>
          <p:cNvPr id="60" name="Straight Arrow Connector 59">
            <a:extLst>
              <a:ext uri="{FF2B5EF4-FFF2-40B4-BE49-F238E27FC236}">
                <a16:creationId xmlns:a16="http://schemas.microsoft.com/office/drawing/2014/main" id="{A7267CE2-2585-8CEE-8F55-A1029E3F1CE9}"/>
              </a:ext>
            </a:extLst>
          </p:cNvPr>
          <p:cNvCxnSpPr>
            <a:cxnSpLocks/>
            <a:stCxn id="58" idx="1"/>
          </p:cNvCxnSpPr>
          <p:nvPr/>
        </p:nvCxnSpPr>
        <p:spPr>
          <a:xfrm flipH="1">
            <a:off x="7006167" y="470347"/>
            <a:ext cx="3201322" cy="309753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7113473F-DEB7-4162-E447-F4B6CCE3F4A0}"/>
              </a:ext>
            </a:extLst>
          </p:cNvPr>
          <p:cNvSpPr txBox="1"/>
          <p:nvPr/>
        </p:nvSpPr>
        <p:spPr>
          <a:xfrm>
            <a:off x="335803" y="991466"/>
            <a:ext cx="2569946" cy="369332"/>
          </a:xfrm>
          <a:prstGeom prst="rect">
            <a:avLst/>
          </a:prstGeom>
          <a:noFill/>
        </p:spPr>
        <p:txBody>
          <a:bodyPr wrap="square" rtlCol="0">
            <a:spAutoFit/>
          </a:bodyPr>
          <a:lstStyle/>
          <a:p>
            <a:r>
              <a:rPr lang="en-US" dirty="0">
                <a:solidFill>
                  <a:srgbClr val="00B0F0"/>
                </a:solidFill>
                <a:hlinkClick r:id="rId10">
                  <a:extLst>
                    <a:ext uri="{A12FA001-AC4F-418D-AE19-62706E023703}">
                      <ahyp:hlinkClr xmlns:ahyp="http://schemas.microsoft.com/office/drawing/2018/hyperlinkcolor" val="tx"/>
                    </a:ext>
                  </a:extLst>
                </a:hlinkClick>
              </a:rPr>
              <a:t>Ver video</a:t>
            </a:r>
            <a:endParaRPr lang="en-US" dirty="0">
              <a:solidFill>
                <a:srgbClr val="00B0F0"/>
              </a:solidFill>
            </a:endParaRPr>
          </a:p>
        </p:txBody>
      </p:sp>
      <p:sp>
        <p:nvSpPr>
          <p:cNvPr id="66" name="TextBox 65">
            <a:extLst>
              <a:ext uri="{FF2B5EF4-FFF2-40B4-BE49-F238E27FC236}">
                <a16:creationId xmlns:a16="http://schemas.microsoft.com/office/drawing/2014/main" id="{1FF22448-E9E4-B7A2-53CD-0514B7F105D9}"/>
              </a:ext>
            </a:extLst>
          </p:cNvPr>
          <p:cNvSpPr txBox="1"/>
          <p:nvPr/>
        </p:nvSpPr>
        <p:spPr>
          <a:xfrm>
            <a:off x="1907868" y="915511"/>
            <a:ext cx="2865154" cy="553998"/>
          </a:xfrm>
          <a:prstGeom prst="rect">
            <a:avLst/>
          </a:prstGeom>
          <a:noFill/>
        </p:spPr>
        <p:txBody>
          <a:bodyPr wrap="square" rtlCol="0">
            <a:spAutoFit/>
          </a:bodyPr>
          <a:lstStyle/>
          <a:p>
            <a:r>
              <a:rPr lang="en-US" dirty="0">
                <a:solidFill>
                  <a:srgbClr val="00B0F0"/>
                </a:solidFill>
              </a:rPr>
              <a:t>Ver código “Actividad 5”</a:t>
            </a:r>
          </a:p>
          <a:p>
            <a:r>
              <a:rPr lang="en-US" sz="1200" dirty="0">
                <a:solidFill>
                  <a:srgbClr val="00B0F0"/>
                </a:solidFill>
              </a:rPr>
              <a:t>9 - Hipótesis Estadísticas Resuelta.rmd</a:t>
            </a:r>
          </a:p>
        </p:txBody>
      </p:sp>
      <p:pic>
        <p:nvPicPr>
          <p:cNvPr id="67" name="Picture 66">
            <a:hlinkClick r:id="rId11"/>
            <a:extLst>
              <a:ext uri="{FF2B5EF4-FFF2-40B4-BE49-F238E27FC236}">
                <a16:creationId xmlns:a16="http://schemas.microsoft.com/office/drawing/2014/main" id="{4950D2D0-276E-6259-6D12-9316E7D166C9}"/>
              </a:ext>
            </a:extLst>
          </p:cNvPr>
          <p:cNvPicPr>
            <a:picLocks noChangeAspect="1"/>
          </p:cNvPicPr>
          <p:nvPr/>
        </p:nvPicPr>
        <p:blipFill>
          <a:blip r:embed="rId12"/>
          <a:stretch>
            <a:fillRect/>
          </a:stretch>
        </p:blipFill>
        <p:spPr>
          <a:xfrm>
            <a:off x="8440402" y="50031"/>
            <a:ext cx="870183" cy="813267"/>
          </a:xfrm>
          <a:prstGeom prst="rect">
            <a:avLst/>
          </a:prstGeom>
          <a:ln w="28575">
            <a:solidFill>
              <a:srgbClr val="0070C0"/>
            </a:solidFill>
          </a:ln>
        </p:spPr>
      </p:pic>
      <p:sp>
        <p:nvSpPr>
          <p:cNvPr id="68" name="Arrow: Right 67">
            <a:extLst>
              <a:ext uri="{FF2B5EF4-FFF2-40B4-BE49-F238E27FC236}">
                <a16:creationId xmlns:a16="http://schemas.microsoft.com/office/drawing/2014/main" id="{8BA4109D-5E5D-299B-2892-505D5A30FAB9}"/>
              </a:ext>
            </a:extLst>
          </p:cNvPr>
          <p:cNvSpPr/>
          <p:nvPr/>
        </p:nvSpPr>
        <p:spPr>
          <a:xfrm>
            <a:off x="8228648" y="228331"/>
            <a:ext cx="211754" cy="438330"/>
          </a:xfrm>
          <a:prstGeom prst="rightArrow">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44675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fill="hold"/>
                                        <p:tgtEl>
                                          <p:spTgt spid="17"/>
                                        </p:tgtEl>
                                        <p:attrNameLst>
                                          <p:attrName>ppt_x</p:attrName>
                                        </p:attrNameLst>
                                      </p:cBhvr>
                                      <p:tavLst>
                                        <p:tav tm="0">
                                          <p:val>
                                            <p:strVal val="#ppt_x"/>
                                          </p:val>
                                        </p:tav>
                                        <p:tav tm="100000">
                                          <p:val>
                                            <p:strVal val="#ppt_x"/>
                                          </p:val>
                                        </p:tav>
                                      </p:tavLst>
                                    </p:anim>
                                    <p:anim calcmode="lin" valueType="num">
                                      <p:cBhvr additive="base">
                                        <p:cTn id="15"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barn(inVertical)">
                                      <p:cBhvr>
                                        <p:cTn id="20" dur="500"/>
                                        <p:tgtEl>
                                          <p:spTgt spid="22"/>
                                        </p:tgtEl>
                                      </p:cBhvr>
                                    </p:animEffect>
                                  </p:childTnLst>
                                </p:cTn>
                              </p:par>
                            </p:childTnLst>
                          </p:cTn>
                        </p:par>
                      </p:childTnLst>
                    </p:cTn>
                  </p:par>
                  <p:par>
                    <p:cTn id="21" fill="hold">
                      <p:stCondLst>
                        <p:cond delay="indefinite"/>
                      </p:stCondLst>
                      <p:childTnLst>
                        <p:par>
                          <p:cTn id="22" fill="hold">
                            <p:stCondLst>
                              <p:cond delay="0"/>
                            </p:stCondLst>
                            <p:childTnLst>
                              <p:par>
                                <p:cTn id="23" presetID="6" presetClass="entr" presetSubtype="16"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circle(in)">
                                      <p:cBhvr>
                                        <p:cTn id="25" dur="2000"/>
                                        <p:tgtEl>
                                          <p:spTgt spid="18"/>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21" fill="hold" nodeType="clickEffect">
                                  <p:stCondLst>
                                    <p:cond delay="0"/>
                                  </p:stCondLst>
                                  <p:childTnLst>
                                    <p:set>
                                      <p:cBhvr>
                                        <p:cTn id="29" dur="1" fill="hold">
                                          <p:stCondLst>
                                            <p:cond delay="0"/>
                                          </p:stCondLst>
                                        </p:cTn>
                                        <p:tgtEl>
                                          <p:spTgt spid="29"/>
                                        </p:tgtEl>
                                        <p:attrNameLst>
                                          <p:attrName>style.visibility</p:attrName>
                                        </p:attrNameLst>
                                      </p:cBhvr>
                                      <p:to>
                                        <p:strVal val="visible"/>
                                      </p:to>
                                    </p:set>
                                    <p:animEffect transition="in" filter="barn(inVertical)">
                                      <p:cBhvr>
                                        <p:cTn id="30" dur="5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3" presetID="6" presetClass="entr" presetSubtype="16" fill="hold" nodeType="click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circle(in)">
                                      <p:cBhvr>
                                        <p:cTn id="35" dur="200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6" presetClass="entr" presetSubtype="21" fill="hold" nodeType="click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barn(inVertical)">
                                      <p:cBhvr>
                                        <p:cTn id="40" dur="500"/>
                                        <p:tgtEl>
                                          <p:spTgt spid="25"/>
                                        </p:tgtEl>
                                      </p:cBhvr>
                                    </p:animEffect>
                                  </p:childTnLst>
                                </p:cTn>
                              </p:par>
                            </p:childTnLst>
                          </p:cTn>
                        </p:par>
                      </p:childTnLst>
                    </p:cTn>
                  </p:par>
                  <p:par>
                    <p:cTn id="41" fill="hold">
                      <p:stCondLst>
                        <p:cond delay="indefinite"/>
                      </p:stCondLst>
                      <p:childTnLst>
                        <p:par>
                          <p:cTn id="42" fill="hold">
                            <p:stCondLst>
                              <p:cond delay="0"/>
                            </p:stCondLst>
                            <p:childTnLst>
                              <p:par>
                                <p:cTn id="43" presetID="6" presetClass="entr" presetSubtype="16" fill="hold" nodeType="click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circle(in)">
                                      <p:cBhvr>
                                        <p:cTn id="45" dur="2000"/>
                                        <p:tgtEl>
                                          <p:spTgt spid="20"/>
                                        </p:tgtEl>
                                      </p:cBhvr>
                                    </p:animEffect>
                                  </p:childTnLst>
                                </p:cTn>
                              </p:par>
                              <p:par>
                                <p:cTn id="46" presetID="42" presetClass="entr" presetSubtype="0" fill="hold" nodeType="withEffect">
                                  <p:stCondLst>
                                    <p:cond delay="0"/>
                                  </p:stCondLst>
                                  <p:childTnLst>
                                    <p:set>
                                      <p:cBhvr>
                                        <p:cTn id="47" dur="1" fill="hold">
                                          <p:stCondLst>
                                            <p:cond delay="0"/>
                                          </p:stCondLst>
                                        </p:cTn>
                                        <p:tgtEl>
                                          <p:spTgt spid="3"/>
                                        </p:tgtEl>
                                        <p:attrNameLst>
                                          <p:attrName>style.visibility</p:attrName>
                                        </p:attrNameLst>
                                      </p:cBhvr>
                                      <p:to>
                                        <p:strVal val="visible"/>
                                      </p:to>
                                    </p:set>
                                    <p:animEffect transition="in" filter="fade">
                                      <p:cBhvr>
                                        <p:cTn id="48" dur="1000"/>
                                        <p:tgtEl>
                                          <p:spTgt spid="3"/>
                                        </p:tgtEl>
                                      </p:cBhvr>
                                    </p:animEffect>
                                    <p:anim calcmode="lin" valueType="num">
                                      <p:cBhvr>
                                        <p:cTn id="49" dur="1000" fill="hold"/>
                                        <p:tgtEl>
                                          <p:spTgt spid="3"/>
                                        </p:tgtEl>
                                        <p:attrNameLst>
                                          <p:attrName>ppt_x</p:attrName>
                                        </p:attrNameLst>
                                      </p:cBhvr>
                                      <p:tavLst>
                                        <p:tav tm="0">
                                          <p:val>
                                            <p:strVal val="#ppt_x"/>
                                          </p:val>
                                        </p:tav>
                                        <p:tav tm="100000">
                                          <p:val>
                                            <p:strVal val="#ppt_x"/>
                                          </p:val>
                                        </p:tav>
                                      </p:tavLst>
                                    </p:anim>
                                    <p:anim calcmode="lin" valueType="num">
                                      <p:cBhvr>
                                        <p:cTn id="50" dur="1000" fill="hold"/>
                                        <p:tgtEl>
                                          <p:spTgt spid="3"/>
                                        </p:tgtEl>
                                        <p:attrNameLst>
                                          <p:attrName>ppt_y</p:attrName>
                                        </p:attrNameLst>
                                      </p:cBhvr>
                                      <p:tavLst>
                                        <p:tav tm="0">
                                          <p:val>
                                            <p:strVal val="#ppt_y+.1"/>
                                          </p:val>
                                        </p:tav>
                                        <p:tav tm="100000">
                                          <p:val>
                                            <p:strVal val="#ppt_y"/>
                                          </p:val>
                                        </p:tav>
                                      </p:tavLst>
                                    </p:anim>
                                  </p:childTnLst>
                                </p:cTn>
                              </p:par>
                              <p:par>
                                <p:cTn id="51" presetID="42" presetClass="entr" presetSubtype="0" fill="hold" nodeType="withEffect">
                                  <p:stCondLst>
                                    <p:cond delay="0"/>
                                  </p:stCondLst>
                                  <p:childTnLst>
                                    <p:set>
                                      <p:cBhvr>
                                        <p:cTn id="52" dur="1" fill="hold">
                                          <p:stCondLst>
                                            <p:cond delay="0"/>
                                          </p:stCondLst>
                                        </p:cTn>
                                        <p:tgtEl>
                                          <p:spTgt spid="4"/>
                                        </p:tgtEl>
                                        <p:attrNameLst>
                                          <p:attrName>style.visibility</p:attrName>
                                        </p:attrNameLst>
                                      </p:cBhvr>
                                      <p:to>
                                        <p:strVal val="visible"/>
                                      </p:to>
                                    </p:set>
                                    <p:animEffect transition="in" filter="fade">
                                      <p:cBhvr>
                                        <p:cTn id="53" dur="1000"/>
                                        <p:tgtEl>
                                          <p:spTgt spid="4"/>
                                        </p:tgtEl>
                                      </p:cBhvr>
                                    </p:animEffect>
                                    <p:anim calcmode="lin" valueType="num">
                                      <p:cBhvr>
                                        <p:cTn id="54" dur="1000" fill="hold"/>
                                        <p:tgtEl>
                                          <p:spTgt spid="4"/>
                                        </p:tgtEl>
                                        <p:attrNameLst>
                                          <p:attrName>ppt_x</p:attrName>
                                        </p:attrNameLst>
                                      </p:cBhvr>
                                      <p:tavLst>
                                        <p:tav tm="0">
                                          <p:val>
                                            <p:strVal val="#ppt_x"/>
                                          </p:val>
                                        </p:tav>
                                        <p:tav tm="100000">
                                          <p:val>
                                            <p:strVal val="#ppt_x"/>
                                          </p:val>
                                        </p:tav>
                                      </p:tavLst>
                                    </p:anim>
                                    <p:anim calcmode="lin" valueType="num">
                                      <p:cBhvr>
                                        <p:cTn id="55" dur="1000" fill="hold"/>
                                        <p:tgtEl>
                                          <p:spTgt spid="4"/>
                                        </p:tgtEl>
                                        <p:attrNameLst>
                                          <p:attrName>ppt_y</p:attrName>
                                        </p:attrNameLst>
                                      </p:cBhvr>
                                      <p:tavLst>
                                        <p:tav tm="0">
                                          <p:val>
                                            <p:strVal val="#ppt_y+.1"/>
                                          </p:val>
                                        </p:tav>
                                        <p:tav tm="100000">
                                          <p:val>
                                            <p:strVal val="#ppt_y"/>
                                          </p:val>
                                        </p:tav>
                                      </p:tavLst>
                                    </p:anim>
                                  </p:childTnLst>
                                </p:cTn>
                              </p:par>
                              <p:par>
                                <p:cTn id="56" presetID="42" presetClass="entr" presetSubtype="0" fill="hold" nodeType="withEffect">
                                  <p:stCondLst>
                                    <p:cond delay="0"/>
                                  </p:stCondLst>
                                  <p:childTnLst>
                                    <p:set>
                                      <p:cBhvr>
                                        <p:cTn id="57" dur="1" fill="hold">
                                          <p:stCondLst>
                                            <p:cond delay="0"/>
                                          </p:stCondLst>
                                        </p:cTn>
                                        <p:tgtEl>
                                          <p:spTgt spid="5"/>
                                        </p:tgtEl>
                                        <p:attrNameLst>
                                          <p:attrName>style.visibility</p:attrName>
                                        </p:attrNameLst>
                                      </p:cBhvr>
                                      <p:to>
                                        <p:strVal val="visible"/>
                                      </p:to>
                                    </p:set>
                                    <p:animEffect transition="in" filter="fade">
                                      <p:cBhvr>
                                        <p:cTn id="58" dur="1000"/>
                                        <p:tgtEl>
                                          <p:spTgt spid="5"/>
                                        </p:tgtEl>
                                      </p:cBhvr>
                                    </p:animEffect>
                                    <p:anim calcmode="lin" valueType="num">
                                      <p:cBhvr>
                                        <p:cTn id="59" dur="1000" fill="hold"/>
                                        <p:tgtEl>
                                          <p:spTgt spid="5"/>
                                        </p:tgtEl>
                                        <p:attrNameLst>
                                          <p:attrName>ppt_x</p:attrName>
                                        </p:attrNameLst>
                                      </p:cBhvr>
                                      <p:tavLst>
                                        <p:tav tm="0">
                                          <p:val>
                                            <p:strVal val="#ppt_x"/>
                                          </p:val>
                                        </p:tav>
                                        <p:tav tm="100000">
                                          <p:val>
                                            <p:strVal val="#ppt_x"/>
                                          </p:val>
                                        </p:tav>
                                      </p:tavLst>
                                    </p:anim>
                                    <p:anim calcmode="lin" valueType="num">
                                      <p:cBhvr>
                                        <p:cTn id="60"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42" presetClass="entr" presetSubtype="0" fill="hold" grpId="0" nodeType="clickEffect">
                                  <p:stCondLst>
                                    <p:cond delay="0"/>
                                  </p:stCondLst>
                                  <p:childTnLst>
                                    <p:set>
                                      <p:cBhvr>
                                        <p:cTn id="64" dur="1" fill="hold">
                                          <p:stCondLst>
                                            <p:cond delay="0"/>
                                          </p:stCondLst>
                                        </p:cTn>
                                        <p:tgtEl>
                                          <p:spTgt spid="7"/>
                                        </p:tgtEl>
                                        <p:attrNameLst>
                                          <p:attrName>style.visibility</p:attrName>
                                        </p:attrNameLst>
                                      </p:cBhvr>
                                      <p:to>
                                        <p:strVal val="visible"/>
                                      </p:to>
                                    </p:set>
                                    <p:animEffect transition="in" filter="fade">
                                      <p:cBhvr>
                                        <p:cTn id="65" dur="1000"/>
                                        <p:tgtEl>
                                          <p:spTgt spid="7"/>
                                        </p:tgtEl>
                                      </p:cBhvr>
                                    </p:animEffect>
                                    <p:anim calcmode="lin" valueType="num">
                                      <p:cBhvr>
                                        <p:cTn id="66" dur="1000" fill="hold"/>
                                        <p:tgtEl>
                                          <p:spTgt spid="7"/>
                                        </p:tgtEl>
                                        <p:attrNameLst>
                                          <p:attrName>ppt_x</p:attrName>
                                        </p:attrNameLst>
                                      </p:cBhvr>
                                      <p:tavLst>
                                        <p:tav tm="0">
                                          <p:val>
                                            <p:strVal val="#ppt_x"/>
                                          </p:val>
                                        </p:tav>
                                        <p:tav tm="100000">
                                          <p:val>
                                            <p:strVal val="#ppt_x"/>
                                          </p:val>
                                        </p:tav>
                                      </p:tavLst>
                                    </p:anim>
                                    <p:anim calcmode="lin" valueType="num">
                                      <p:cBhvr>
                                        <p:cTn id="67"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42" presetClass="entr" presetSubtype="0" fill="hold" grpId="0" nodeType="clickEffect">
                                  <p:stCondLst>
                                    <p:cond delay="0"/>
                                  </p:stCondLst>
                                  <p:childTnLst>
                                    <p:set>
                                      <p:cBhvr>
                                        <p:cTn id="71" dur="1" fill="hold">
                                          <p:stCondLst>
                                            <p:cond delay="0"/>
                                          </p:stCondLst>
                                        </p:cTn>
                                        <p:tgtEl>
                                          <p:spTgt spid="30"/>
                                        </p:tgtEl>
                                        <p:attrNameLst>
                                          <p:attrName>style.visibility</p:attrName>
                                        </p:attrNameLst>
                                      </p:cBhvr>
                                      <p:to>
                                        <p:strVal val="visible"/>
                                      </p:to>
                                    </p:set>
                                    <p:animEffect transition="in" filter="fade">
                                      <p:cBhvr>
                                        <p:cTn id="72" dur="1000"/>
                                        <p:tgtEl>
                                          <p:spTgt spid="30"/>
                                        </p:tgtEl>
                                      </p:cBhvr>
                                    </p:animEffect>
                                    <p:anim calcmode="lin" valueType="num">
                                      <p:cBhvr>
                                        <p:cTn id="73" dur="1000" fill="hold"/>
                                        <p:tgtEl>
                                          <p:spTgt spid="30"/>
                                        </p:tgtEl>
                                        <p:attrNameLst>
                                          <p:attrName>ppt_x</p:attrName>
                                        </p:attrNameLst>
                                      </p:cBhvr>
                                      <p:tavLst>
                                        <p:tav tm="0">
                                          <p:val>
                                            <p:strVal val="#ppt_x"/>
                                          </p:val>
                                        </p:tav>
                                        <p:tav tm="100000">
                                          <p:val>
                                            <p:strVal val="#ppt_x"/>
                                          </p:val>
                                        </p:tav>
                                      </p:tavLst>
                                    </p:anim>
                                    <p:anim calcmode="lin" valueType="num">
                                      <p:cBhvr>
                                        <p:cTn id="74"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42" presetClass="entr" presetSubtype="0" fill="hold" grpId="0" nodeType="clickEffect">
                                  <p:stCondLst>
                                    <p:cond delay="0"/>
                                  </p:stCondLst>
                                  <p:childTnLst>
                                    <p:set>
                                      <p:cBhvr>
                                        <p:cTn id="78" dur="1" fill="hold">
                                          <p:stCondLst>
                                            <p:cond delay="0"/>
                                          </p:stCondLst>
                                        </p:cTn>
                                        <p:tgtEl>
                                          <p:spTgt spid="43"/>
                                        </p:tgtEl>
                                        <p:attrNameLst>
                                          <p:attrName>style.visibility</p:attrName>
                                        </p:attrNameLst>
                                      </p:cBhvr>
                                      <p:to>
                                        <p:strVal val="visible"/>
                                      </p:to>
                                    </p:set>
                                    <p:animEffect transition="in" filter="fade">
                                      <p:cBhvr>
                                        <p:cTn id="79" dur="1000"/>
                                        <p:tgtEl>
                                          <p:spTgt spid="43"/>
                                        </p:tgtEl>
                                      </p:cBhvr>
                                    </p:animEffect>
                                    <p:anim calcmode="lin" valueType="num">
                                      <p:cBhvr>
                                        <p:cTn id="80" dur="1000" fill="hold"/>
                                        <p:tgtEl>
                                          <p:spTgt spid="43"/>
                                        </p:tgtEl>
                                        <p:attrNameLst>
                                          <p:attrName>ppt_x</p:attrName>
                                        </p:attrNameLst>
                                      </p:cBhvr>
                                      <p:tavLst>
                                        <p:tav tm="0">
                                          <p:val>
                                            <p:strVal val="#ppt_x"/>
                                          </p:val>
                                        </p:tav>
                                        <p:tav tm="100000">
                                          <p:val>
                                            <p:strVal val="#ppt_x"/>
                                          </p:val>
                                        </p:tav>
                                      </p:tavLst>
                                    </p:anim>
                                    <p:anim calcmode="lin" valueType="num">
                                      <p:cBhvr>
                                        <p:cTn id="81"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par>
                    <p:cTn id="82" fill="hold">
                      <p:stCondLst>
                        <p:cond delay="indefinite"/>
                      </p:stCondLst>
                      <p:childTnLst>
                        <p:par>
                          <p:cTn id="83" fill="hold">
                            <p:stCondLst>
                              <p:cond delay="0"/>
                            </p:stCondLst>
                            <p:childTnLst>
                              <p:par>
                                <p:cTn id="84" presetID="42" presetClass="entr" presetSubtype="0" fill="hold" grpId="0" nodeType="clickEffect">
                                  <p:stCondLst>
                                    <p:cond delay="0"/>
                                  </p:stCondLst>
                                  <p:childTnLst>
                                    <p:set>
                                      <p:cBhvr>
                                        <p:cTn id="85" dur="1" fill="hold">
                                          <p:stCondLst>
                                            <p:cond delay="0"/>
                                          </p:stCondLst>
                                        </p:cTn>
                                        <p:tgtEl>
                                          <p:spTgt spid="58"/>
                                        </p:tgtEl>
                                        <p:attrNameLst>
                                          <p:attrName>style.visibility</p:attrName>
                                        </p:attrNameLst>
                                      </p:cBhvr>
                                      <p:to>
                                        <p:strVal val="visible"/>
                                      </p:to>
                                    </p:set>
                                    <p:animEffect transition="in" filter="fade">
                                      <p:cBhvr>
                                        <p:cTn id="86" dur="1000"/>
                                        <p:tgtEl>
                                          <p:spTgt spid="58"/>
                                        </p:tgtEl>
                                      </p:cBhvr>
                                    </p:animEffect>
                                    <p:anim calcmode="lin" valueType="num">
                                      <p:cBhvr>
                                        <p:cTn id="87" dur="1000" fill="hold"/>
                                        <p:tgtEl>
                                          <p:spTgt spid="58"/>
                                        </p:tgtEl>
                                        <p:attrNameLst>
                                          <p:attrName>ppt_x</p:attrName>
                                        </p:attrNameLst>
                                      </p:cBhvr>
                                      <p:tavLst>
                                        <p:tav tm="0">
                                          <p:val>
                                            <p:strVal val="#ppt_x"/>
                                          </p:val>
                                        </p:tav>
                                        <p:tav tm="100000">
                                          <p:val>
                                            <p:strVal val="#ppt_x"/>
                                          </p:val>
                                        </p:tav>
                                      </p:tavLst>
                                    </p:anim>
                                    <p:anim calcmode="lin" valueType="num">
                                      <p:cBhvr>
                                        <p:cTn id="88" dur="1000" fill="hold"/>
                                        <p:tgtEl>
                                          <p:spTgt spid="5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7" grpId="0" animBg="1"/>
      <p:bldP spid="30" grpId="0" animBg="1"/>
      <p:bldP spid="43" grpId="0" animBg="1"/>
      <p:bldP spid="5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uadroTexto 10">
            <a:extLst>
              <a:ext uri="{FF2B5EF4-FFF2-40B4-BE49-F238E27FC236}">
                <a16:creationId xmlns:a16="http://schemas.microsoft.com/office/drawing/2014/main" id="{F494AF8A-D47C-6E15-F0A8-B546B382BBB9}"/>
              </a:ext>
            </a:extLst>
          </p:cNvPr>
          <p:cNvSpPr txBox="1"/>
          <p:nvPr/>
        </p:nvSpPr>
        <p:spPr>
          <a:xfrm>
            <a:off x="288758" y="2311148"/>
            <a:ext cx="4979578" cy="665118"/>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Actividad*: </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Calcula los valores críticos en cada caso, suponga que se aplica la distribución normal.</a:t>
            </a:r>
          </a:p>
        </p:txBody>
      </p:sp>
      <p:pic>
        <p:nvPicPr>
          <p:cNvPr id="2050" name="Picture 2" descr="icono de medalla de oro de recompensa, estilo de dibujos animados 14364083  Vector en Vecteezy">
            <a:extLst>
              <a:ext uri="{FF2B5EF4-FFF2-40B4-BE49-F238E27FC236}">
                <a16:creationId xmlns:a16="http://schemas.microsoft.com/office/drawing/2014/main" id="{33BBA9B6-886E-55F9-4552-BF6D4EA53B3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05208" y="3202503"/>
            <a:ext cx="876659" cy="876659"/>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3" name="CuadroTexto 2">
                <a:extLst>
                  <a:ext uri="{FF2B5EF4-FFF2-40B4-BE49-F238E27FC236}">
                    <a16:creationId xmlns:a16="http://schemas.microsoft.com/office/drawing/2014/main" id="{6BA73AF2-52E7-CF3A-3CF8-ABCE10620397}"/>
                  </a:ext>
                </a:extLst>
              </p:cNvPr>
              <p:cNvSpPr txBox="1"/>
              <p:nvPr/>
            </p:nvSpPr>
            <p:spPr>
              <a:xfrm>
                <a:off x="288758" y="3471555"/>
                <a:ext cx="4911040" cy="584775"/>
              </a:xfrm>
              <a:prstGeom prst="rect">
                <a:avLst/>
              </a:prstGeom>
              <a:noFill/>
              <a:ln w="12700">
                <a:solidFill>
                  <a:srgbClr val="0070C0"/>
                </a:solidFill>
              </a:ln>
            </p:spPr>
            <p:txBody>
              <a:bodyPr wrap="square" rtlCol="0">
                <a:spAutoFit/>
              </a:bodyPr>
              <a:lstStyle/>
              <a:p>
                <a:pPr algn="just"/>
                <a:r>
                  <a:rPr lang="es-MX" sz="1600" b="1" dirty="0">
                    <a:solidFill>
                      <a:schemeClr val="bg1"/>
                    </a:solidFill>
                    <a:latin typeface="Times New Roman" panose="02020603050405020304" pitchFamily="18" charset="0"/>
                    <a:cs typeface="Times New Roman" panose="02020603050405020304" pitchFamily="18" charset="0"/>
                  </a:rPr>
                  <a:t>Problema 1: </a:t>
                </a:r>
                <a:r>
                  <a:rPr lang="es-MX" sz="1600" dirty="0">
                    <a:solidFill>
                      <a:schemeClr val="bg1"/>
                    </a:solidFill>
                    <a:latin typeface="Times New Roman" panose="02020603050405020304" pitchFamily="18" charset="0"/>
                    <a:cs typeface="Times New Roman" panose="02020603050405020304" pitchFamily="18" charset="0"/>
                  </a:rPr>
                  <a:t>Prueba de </a:t>
                </a:r>
                <a:r>
                  <a:rPr lang="es-MX" sz="1600" b="1" dirty="0">
                    <a:solidFill>
                      <a:schemeClr val="bg1"/>
                    </a:solidFill>
                    <a:latin typeface="Times New Roman" panose="02020603050405020304" pitchFamily="18" charset="0"/>
                    <a:cs typeface="Times New Roman" panose="02020603050405020304" pitchFamily="18" charset="0"/>
                  </a:rPr>
                  <a:t>cola derecha </a:t>
                </a:r>
                <a:r>
                  <a:rPr lang="es-MX" sz="1600" dirty="0">
                    <a:solidFill>
                      <a:schemeClr val="bg1"/>
                    </a:solidFill>
                    <a:latin typeface="Times New Roman" panose="02020603050405020304" pitchFamily="18" charset="0"/>
                    <a:cs typeface="Times New Roman" panose="02020603050405020304" pitchFamily="18" charset="0"/>
                  </a:rPr>
                  <a:t>y </a:t>
                </a:r>
                <a14:m>
                  <m:oMath xmlns:m="http://schemas.openxmlformats.org/officeDocument/2006/math">
                    <m:r>
                      <a:rPr lang="es-MX" sz="1600" i="1">
                        <a:solidFill>
                          <a:schemeClr val="bg1"/>
                        </a:solidFill>
                        <a:latin typeface="Cambria Math" panose="02040503050406030204" pitchFamily="18" charset="0"/>
                      </a:rPr>
                      <m:t>𝛼</m:t>
                    </m:r>
                    <m:r>
                      <a:rPr lang="es-MX" sz="1600" i="1">
                        <a:solidFill>
                          <a:schemeClr val="bg1"/>
                        </a:solidFill>
                        <a:latin typeface="Cambria Math" panose="02040503050406030204" pitchFamily="18" charset="0"/>
                      </a:rPr>
                      <m:t>=0.01</m:t>
                    </m:r>
                  </m:oMath>
                </a14:m>
                <a:r>
                  <a:rPr lang="es-MX" sz="1600" dirty="0">
                    <a:solidFill>
                      <a:schemeClr val="bg1"/>
                    </a:solidFill>
                    <a:latin typeface="Times New Roman" panose="02020603050405020304" pitchFamily="18" charset="0"/>
                    <a:cs typeface="Times New Roman" panose="02020603050405020304" pitchFamily="18" charset="0"/>
                  </a:rPr>
                  <a:t> </a:t>
                </a:r>
              </a:p>
              <a:p>
                <a:pPr algn="just"/>
                <a:r>
                  <a:rPr lang="es-MX" sz="1600" dirty="0">
                    <a:solidFill>
                      <a:schemeClr val="bg1"/>
                    </a:solidFill>
                    <a:latin typeface="Times New Roman" panose="02020603050405020304" pitchFamily="18" charset="0"/>
                    <a:cs typeface="Times New Roman" panose="02020603050405020304" pitchFamily="18" charset="0"/>
                  </a:rPr>
                  <a:t>(</a:t>
                </a:r>
                <a:r>
                  <a:rPr lang="es-MX" sz="1600" b="1" dirty="0">
                    <a:solidFill>
                      <a:schemeClr val="bg1"/>
                    </a:solidFill>
                    <a:latin typeface="Times New Roman" panose="02020603050405020304" pitchFamily="18" charset="0"/>
                    <a:cs typeface="Times New Roman" panose="02020603050405020304" pitchFamily="18" charset="0"/>
                  </a:rPr>
                  <a:t>valor critico en la cola derecha</a:t>
                </a:r>
                <a:r>
                  <a:rPr lang="es-MX" sz="1600" dirty="0">
                    <a:solidFill>
                      <a:schemeClr val="bg1"/>
                    </a:solidFill>
                    <a:latin typeface="Times New Roman" panose="02020603050405020304" pitchFamily="18" charset="0"/>
                    <a:cs typeface="Times New Roman" panose="02020603050405020304" pitchFamily="18" charset="0"/>
                  </a:rPr>
                  <a:t>) </a:t>
                </a:r>
              </a:p>
            </p:txBody>
          </p:sp>
        </mc:Choice>
        <mc:Fallback>
          <p:sp>
            <p:nvSpPr>
              <p:cNvPr id="3" name="CuadroTexto 2">
                <a:extLst>
                  <a:ext uri="{FF2B5EF4-FFF2-40B4-BE49-F238E27FC236}">
                    <a16:creationId xmlns:a16="http://schemas.microsoft.com/office/drawing/2014/main" id="{6BA73AF2-52E7-CF3A-3CF8-ABCE10620397}"/>
                  </a:ext>
                </a:extLst>
              </p:cNvPr>
              <p:cNvSpPr txBox="1">
                <a:spLocks noRot="1" noChangeAspect="1" noMove="1" noResize="1" noEditPoints="1" noAdjustHandles="1" noChangeArrowheads="1" noChangeShapeType="1" noTextEdit="1"/>
              </p:cNvSpPr>
              <p:nvPr/>
            </p:nvSpPr>
            <p:spPr>
              <a:xfrm>
                <a:off x="288758" y="3471555"/>
                <a:ext cx="4911040" cy="584775"/>
              </a:xfrm>
              <a:prstGeom prst="rect">
                <a:avLst/>
              </a:prstGeom>
              <a:blipFill>
                <a:blip r:embed="rId4"/>
                <a:stretch>
                  <a:fillRect l="-495" t="-2041" b="-11224"/>
                </a:stretch>
              </a:blipFill>
              <a:ln w="12700">
                <a:solidFill>
                  <a:srgbClr val="0070C0"/>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CuadroTexto 3">
                <a:extLst>
                  <a:ext uri="{FF2B5EF4-FFF2-40B4-BE49-F238E27FC236}">
                    <a16:creationId xmlns:a16="http://schemas.microsoft.com/office/drawing/2014/main" id="{F808AE68-3FDC-29F5-A2CA-39064A3A6DD1}"/>
                  </a:ext>
                </a:extLst>
              </p:cNvPr>
              <p:cNvSpPr txBox="1"/>
              <p:nvPr/>
            </p:nvSpPr>
            <p:spPr>
              <a:xfrm>
                <a:off x="288759" y="4636850"/>
                <a:ext cx="4911040" cy="584775"/>
              </a:xfrm>
              <a:prstGeom prst="rect">
                <a:avLst/>
              </a:prstGeom>
              <a:noFill/>
              <a:ln w="12700">
                <a:solidFill>
                  <a:srgbClr val="0070C0"/>
                </a:solidFill>
              </a:ln>
            </p:spPr>
            <p:txBody>
              <a:bodyPr wrap="square" rtlCol="0">
                <a:spAutoFit/>
              </a:bodyPr>
              <a:lstStyle/>
              <a:p>
                <a:pPr algn="just"/>
                <a:r>
                  <a:rPr lang="es-MX" sz="1600" b="1" dirty="0">
                    <a:solidFill>
                      <a:schemeClr val="bg1"/>
                    </a:solidFill>
                    <a:latin typeface="Times New Roman" panose="02020603050405020304" pitchFamily="18" charset="0"/>
                    <a:cs typeface="Times New Roman" panose="02020603050405020304" pitchFamily="18" charset="0"/>
                  </a:rPr>
                  <a:t>Problema 2: </a:t>
                </a:r>
                <a14:m>
                  <m:oMath xmlns:m="http://schemas.openxmlformats.org/officeDocument/2006/math">
                    <m:r>
                      <a:rPr lang="es-MX" sz="1600" i="1">
                        <a:solidFill>
                          <a:schemeClr val="bg1"/>
                        </a:solidFill>
                        <a:latin typeface="Cambria Math" panose="02040503050406030204" pitchFamily="18" charset="0"/>
                      </a:rPr>
                      <m:t>𝛼</m:t>
                    </m:r>
                    <m:r>
                      <a:rPr lang="es-MX" sz="1600" i="1">
                        <a:solidFill>
                          <a:schemeClr val="bg1"/>
                        </a:solidFill>
                        <a:latin typeface="Cambria Math" panose="02040503050406030204" pitchFamily="18" charset="0"/>
                      </a:rPr>
                      <m:t>=0.10</m:t>
                    </m:r>
                  </m:oMath>
                </a14:m>
                <a:r>
                  <a:rPr lang="es-MX" sz="1600" dirty="0">
                    <a:solidFill>
                      <a:schemeClr val="bg1"/>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es-MX" sz="1600" i="1">
                            <a:solidFill>
                              <a:schemeClr val="bg1"/>
                            </a:solidFill>
                            <a:latin typeface="Cambria Math" panose="02040503050406030204" pitchFamily="18" charset="0"/>
                          </a:rPr>
                        </m:ctrlPr>
                      </m:sSubPr>
                      <m:e>
                        <m:r>
                          <a:rPr lang="es-MX" sz="1600" i="1">
                            <a:solidFill>
                              <a:schemeClr val="bg1"/>
                            </a:solidFill>
                            <a:latin typeface="Cambria Math" panose="02040503050406030204" pitchFamily="18" charset="0"/>
                          </a:rPr>
                          <m:t>𝐻</m:t>
                        </m:r>
                      </m:e>
                      <m:sub>
                        <m:r>
                          <a:rPr lang="es-MX" sz="1600" i="1">
                            <a:solidFill>
                              <a:schemeClr val="bg1"/>
                            </a:solidFill>
                            <a:latin typeface="Cambria Math" panose="02040503050406030204" pitchFamily="18" charset="0"/>
                          </a:rPr>
                          <m:t>1</m:t>
                        </m:r>
                      </m:sub>
                    </m:sSub>
                    <m:r>
                      <a:rPr lang="es-MX" sz="1600" i="1">
                        <a:solidFill>
                          <a:schemeClr val="bg1"/>
                        </a:solidFill>
                        <a:latin typeface="Cambria Math" panose="02040503050406030204" pitchFamily="18" charset="0"/>
                      </a:rPr>
                      <m:t>:</m:t>
                    </m:r>
                    <m:r>
                      <a:rPr lang="es-MX" sz="1600" i="1">
                        <a:solidFill>
                          <a:schemeClr val="bg1"/>
                        </a:solidFill>
                        <a:latin typeface="Cambria Math" panose="02040503050406030204" pitchFamily="18" charset="0"/>
                      </a:rPr>
                      <m:t>𝑝</m:t>
                    </m:r>
                    <m:r>
                      <a:rPr lang="es-MX" sz="1600" i="1">
                        <a:solidFill>
                          <a:schemeClr val="bg1"/>
                        </a:solidFill>
                        <a:latin typeface="Cambria Math" panose="02040503050406030204" pitchFamily="18" charset="0"/>
                      </a:rPr>
                      <m:t>≠0.17 </m:t>
                    </m:r>
                  </m:oMath>
                </a14:m>
                <a:endParaRPr lang="es-MX" sz="1600" dirty="0">
                  <a:solidFill>
                    <a:schemeClr val="bg1"/>
                  </a:solidFill>
                  <a:latin typeface="Times New Roman" panose="02020603050405020304" pitchFamily="18" charset="0"/>
                  <a:cs typeface="Times New Roman" panose="02020603050405020304" pitchFamily="18" charset="0"/>
                </a:endParaRPr>
              </a:p>
              <a:p>
                <a:pPr algn="just"/>
                <a:r>
                  <a:rPr lang="es-MX" sz="1600" dirty="0">
                    <a:solidFill>
                      <a:schemeClr val="bg1"/>
                    </a:solidFill>
                    <a:latin typeface="Times New Roman" panose="02020603050405020304" pitchFamily="18" charset="0"/>
                    <a:cs typeface="Times New Roman" panose="02020603050405020304" pitchFamily="18" charset="0"/>
                  </a:rPr>
                  <a:t>(</a:t>
                </a:r>
                <a:r>
                  <a:rPr lang="es-MX" sz="1600" b="1" dirty="0">
                    <a:solidFill>
                      <a:schemeClr val="bg1"/>
                    </a:solidFill>
                    <a:latin typeface="Times New Roman" panose="02020603050405020304" pitchFamily="18" charset="0"/>
                    <a:cs typeface="Times New Roman" panose="02020603050405020304" pitchFamily="18" charset="0"/>
                  </a:rPr>
                  <a:t>valor critico en ambas colas</a:t>
                </a:r>
                <a:r>
                  <a:rPr lang="es-MX" sz="1600" dirty="0">
                    <a:solidFill>
                      <a:schemeClr val="bg1"/>
                    </a:solidFill>
                    <a:latin typeface="Times New Roman" panose="02020603050405020304" pitchFamily="18" charset="0"/>
                    <a:cs typeface="Times New Roman" panose="02020603050405020304" pitchFamily="18" charset="0"/>
                  </a:rPr>
                  <a:t>)</a:t>
                </a:r>
              </a:p>
            </p:txBody>
          </p:sp>
        </mc:Choice>
        <mc:Fallback>
          <p:sp>
            <p:nvSpPr>
              <p:cNvPr id="4" name="CuadroTexto 3">
                <a:extLst>
                  <a:ext uri="{FF2B5EF4-FFF2-40B4-BE49-F238E27FC236}">
                    <a16:creationId xmlns:a16="http://schemas.microsoft.com/office/drawing/2014/main" id="{F808AE68-3FDC-29F5-A2CA-39064A3A6DD1}"/>
                  </a:ext>
                </a:extLst>
              </p:cNvPr>
              <p:cNvSpPr txBox="1">
                <a:spLocks noRot="1" noChangeAspect="1" noMove="1" noResize="1" noEditPoints="1" noAdjustHandles="1" noChangeArrowheads="1" noChangeShapeType="1" noTextEdit="1"/>
              </p:cNvSpPr>
              <p:nvPr/>
            </p:nvSpPr>
            <p:spPr>
              <a:xfrm>
                <a:off x="288759" y="4636850"/>
                <a:ext cx="4911040" cy="584775"/>
              </a:xfrm>
              <a:prstGeom prst="rect">
                <a:avLst/>
              </a:prstGeom>
              <a:blipFill>
                <a:blip r:embed="rId5"/>
                <a:stretch>
                  <a:fillRect l="-495" t="-2041" b="-11224"/>
                </a:stretch>
              </a:blipFill>
              <a:ln w="12700">
                <a:solidFill>
                  <a:srgbClr val="0070C0"/>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CuadroTexto 4">
                <a:extLst>
                  <a:ext uri="{FF2B5EF4-FFF2-40B4-BE49-F238E27FC236}">
                    <a16:creationId xmlns:a16="http://schemas.microsoft.com/office/drawing/2014/main" id="{77DEE139-5CD1-645B-487C-74F30759579B}"/>
                  </a:ext>
                </a:extLst>
              </p:cNvPr>
              <p:cNvSpPr txBox="1"/>
              <p:nvPr/>
            </p:nvSpPr>
            <p:spPr>
              <a:xfrm>
                <a:off x="288758" y="6097594"/>
                <a:ext cx="4911039" cy="584775"/>
              </a:xfrm>
              <a:prstGeom prst="rect">
                <a:avLst/>
              </a:prstGeom>
              <a:noFill/>
              <a:ln w="12700">
                <a:solidFill>
                  <a:srgbClr val="0070C0"/>
                </a:solidFill>
              </a:ln>
            </p:spPr>
            <p:txBody>
              <a:bodyPr wrap="square" rtlCol="0">
                <a:spAutoFit/>
              </a:bodyPr>
              <a:lstStyle/>
              <a:p>
                <a:pPr algn="just"/>
                <a:r>
                  <a:rPr lang="es-MX" sz="1600" b="1" dirty="0">
                    <a:solidFill>
                      <a:schemeClr val="bg1"/>
                    </a:solidFill>
                    <a:latin typeface="Times New Roman" panose="02020603050405020304" pitchFamily="18" charset="0"/>
                    <a:cs typeface="Times New Roman" panose="02020603050405020304" pitchFamily="18" charset="0"/>
                  </a:rPr>
                  <a:t>Problema 3: </a:t>
                </a:r>
                <a14:m>
                  <m:oMath xmlns:m="http://schemas.openxmlformats.org/officeDocument/2006/math">
                    <m:r>
                      <a:rPr lang="es-MX" sz="1600" i="1">
                        <a:solidFill>
                          <a:schemeClr val="bg1"/>
                        </a:solidFill>
                        <a:latin typeface="Cambria Math" panose="02040503050406030204" pitchFamily="18" charset="0"/>
                      </a:rPr>
                      <m:t>𝛼</m:t>
                    </m:r>
                    <m:r>
                      <a:rPr lang="es-MX" sz="1600" i="1">
                        <a:solidFill>
                          <a:schemeClr val="bg1"/>
                        </a:solidFill>
                        <a:latin typeface="Cambria Math" panose="02040503050406030204" pitchFamily="18" charset="0"/>
                      </a:rPr>
                      <m:t>=0.02</m:t>
                    </m:r>
                  </m:oMath>
                </a14:m>
                <a:r>
                  <a:rPr lang="es-MX" sz="1600" dirty="0">
                    <a:solidFill>
                      <a:schemeClr val="bg1"/>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es-MX" sz="1600" i="1">
                            <a:solidFill>
                              <a:schemeClr val="bg1"/>
                            </a:solidFill>
                            <a:latin typeface="Cambria Math" panose="02040503050406030204" pitchFamily="18" charset="0"/>
                          </a:rPr>
                        </m:ctrlPr>
                      </m:sSubPr>
                      <m:e>
                        <m:r>
                          <a:rPr lang="es-MX" sz="1600" i="1">
                            <a:solidFill>
                              <a:schemeClr val="bg1"/>
                            </a:solidFill>
                            <a:latin typeface="Cambria Math" panose="02040503050406030204" pitchFamily="18" charset="0"/>
                          </a:rPr>
                          <m:t>𝐻</m:t>
                        </m:r>
                      </m:e>
                      <m:sub>
                        <m:r>
                          <a:rPr lang="es-MX" sz="1600" i="1">
                            <a:solidFill>
                              <a:schemeClr val="bg1"/>
                            </a:solidFill>
                            <a:latin typeface="Cambria Math" panose="02040503050406030204" pitchFamily="18" charset="0"/>
                          </a:rPr>
                          <m:t>1</m:t>
                        </m:r>
                      </m:sub>
                    </m:sSub>
                    <m:r>
                      <a:rPr lang="es-MX" sz="1600" i="1">
                        <a:solidFill>
                          <a:schemeClr val="bg1"/>
                        </a:solidFill>
                        <a:latin typeface="Cambria Math" panose="02040503050406030204" pitchFamily="18" charset="0"/>
                      </a:rPr>
                      <m:t>:</m:t>
                    </m:r>
                    <m:r>
                      <a:rPr lang="es-MX" sz="1600" i="1">
                        <a:solidFill>
                          <a:schemeClr val="bg1"/>
                        </a:solidFill>
                        <a:latin typeface="Cambria Math" panose="02040503050406030204" pitchFamily="18" charset="0"/>
                      </a:rPr>
                      <m:t>𝑝</m:t>
                    </m:r>
                    <m:r>
                      <a:rPr lang="es-MX" sz="1600" i="1">
                        <a:solidFill>
                          <a:schemeClr val="bg1"/>
                        </a:solidFill>
                        <a:latin typeface="Cambria Math" panose="02040503050406030204" pitchFamily="18" charset="0"/>
                      </a:rPr>
                      <m:t>&lt;0.19</m:t>
                    </m:r>
                  </m:oMath>
                </a14:m>
                <a:r>
                  <a:rPr lang="es-MX" sz="1600" dirty="0">
                    <a:solidFill>
                      <a:schemeClr val="bg1"/>
                    </a:solidFill>
                    <a:latin typeface="Times New Roman" panose="02020603050405020304" pitchFamily="18" charset="0"/>
                    <a:cs typeface="Times New Roman" panose="02020603050405020304" pitchFamily="18" charset="0"/>
                  </a:rPr>
                  <a:t> </a:t>
                </a:r>
              </a:p>
              <a:p>
                <a:pPr algn="just"/>
                <a:r>
                  <a:rPr lang="es-MX" sz="1600" dirty="0">
                    <a:solidFill>
                      <a:schemeClr val="bg1"/>
                    </a:solidFill>
                    <a:latin typeface="Times New Roman" panose="02020603050405020304" pitchFamily="18" charset="0"/>
                    <a:cs typeface="Times New Roman" panose="02020603050405020304" pitchFamily="18" charset="0"/>
                  </a:rPr>
                  <a:t>(</a:t>
                </a:r>
                <a:r>
                  <a:rPr lang="es-MX" sz="1600" b="1" dirty="0">
                    <a:solidFill>
                      <a:schemeClr val="bg1"/>
                    </a:solidFill>
                    <a:latin typeface="Times New Roman" panose="02020603050405020304" pitchFamily="18" charset="0"/>
                    <a:cs typeface="Times New Roman" panose="02020603050405020304" pitchFamily="18" charset="0"/>
                  </a:rPr>
                  <a:t>Valor critico en la cola Izquierda</a:t>
                </a:r>
                <a:r>
                  <a:rPr lang="es-MX" sz="1600" dirty="0">
                    <a:solidFill>
                      <a:schemeClr val="bg1"/>
                    </a:solidFill>
                    <a:latin typeface="Times New Roman" panose="02020603050405020304" pitchFamily="18" charset="0"/>
                    <a:cs typeface="Times New Roman" panose="02020603050405020304" pitchFamily="18" charset="0"/>
                  </a:rPr>
                  <a:t>)</a:t>
                </a:r>
              </a:p>
            </p:txBody>
          </p:sp>
        </mc:Choice>
        <mc:Fallback>
          <p:sp>
            <p:nvSpPr>
              <p:cNvPr id="5" name="CuadroTexto 4">
                <a:extLst>
                  <a:ext uri="{FF2B5EF4-FFF2-40B4-BE49-F238E27FC236}">
                    <a16:creationId xmlns:a16="http://schemas.microsoft.com/office/drawing/2014/main" id="{77DEE139-5CD1-645B-487C-74F30759579B}"/>
                  </a:ext>
                </a:extLst>
              </p:cNvPr>
              <p:cNvSpPr txBox="1">
                <a:spLocks noRot="1" noChangeAspect="1" noMove="1" noResize="1" noEditPoints="1" noAdjustHandles="1" noChangeArrowheads="1" noChangeShapeType="1" noTextEdit="1"/>
              </p:cNvSpPr>
              <p:nvPr/>
            </p:nvSpPr>
            <p:spPr>
              <a:xfrm>
                <a:off x="288758" y="6097594"/>
                <a:ext cx="4911039" cy="584775"/>
              </a:xfrm>
              <a:prstGeom prst="rect">
                <a:avLst/>
              </a:prstGeom>
              <a:blipFill>
                <a:blip r:embed="rId6"/>
                <a:stretch>
                  <a:fillRect l="-495" t="-2041" b="-11224"/>
                </a:stretch>
              </a:blipFill>
              <a:ln w="12700">
                <a:solidFill>
                  <a:srgbClr val="0070C0"/>
                </a:solidFill>
              </a:ln>
            </p:spPr>
            <p:txBody>
              <a:bodyPr/>
              <a:lstStyle/>
              <a:p>
                <a:r>
                  <a:rPr lang="en-US">
                    <a:noFill/>
                  </a:rPr>
                  <a:t> </a:t>
                </a:r>
              </a:p>
            </p:txBody>
          </p:sp>
        </mc:Fallback>
      </mc:AlternateContent>
      <p:pic>
        <p:nvPicPr>
          <p:cNvPr id="6" name="Picture 2" descr="icono de medalla de oro de recompensa, estilo de dibujos animados 14364083  Vector en Vecteezy">
            <a:extLst>
              <a:ext uri="{FF2B5EF4-FFF2-40B4-BE49-F238E27FC236}">
                <a16:creationId xmlns:a16="http://schemas.microsoft.com/office/drawing/2014/main" id="{B78DDC2F-BE34-8F5C-F95F-226EEE8AD5C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14425" y="4515044"/>
            <a:ext cx="876659" cy="87665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icono de medalla de oro de recompensa, estilo de dibujos animados 14364083  Vector en Vecteezy">
            <a:extLst>
              <a:ext uri="{FF2B5EF4-FFF2-40B4-BE49-F238E27FC236}">
                <a16:creationId xmlns:a16="http://schemas.microsoft.com/office/drawing/2014/main" id="{811DB295-BC1E-E808-D096-2C759D3F6FD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05210" y="5828541"/>
            <a:ext cx="876659" cy="876659"/>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5393378A-3660-A6E8-0C26-574212B180BF}"/>
              </a:ext>
            </a:extLst>
          </p:cNvPr>
          <p:cNvSpPr txBox="1"/>
          <p:nvPr/>
        </p:nvSpPr>
        <p:spPr>
          <a:xfrm>
            <a:off x="6305710" y="3340057"/>
            <a:ext cx="3983695" cy="954107"/>
          </a:xfrm>
          <a:prstGeom prst="rect">
            <a:avLst/>
          </a:prstGeom>
          <a:noFill/>
        </p:spPr>
        <p:txBody>
          <a:bodyPr wrap="square" rtlCol="0">
            <a:spAutoFit/>
          </a:bodyPr>
          <a:lstStyle/>
          <a:p>
            <a:r>
              <a:rPr lang="en-US" sz="1400" dirty="0">
                <a:solidFill>
                  <a:schemeClr val="bg1"/>
                </a:solidFill>
              </a:rPr>
              <a:t>Area a la </a:t>
            </a:r>
            <a:r>
              <a:rPr lang="en-US" sz="1400" dirty="0" err="1">
                <a:solidFill>
                  <a:schemeClr val="bg1"/>
                </a:solidFill>
              </a:rPr>
              <a:t>izquierda</a:t>
            </a:r>
            <a:r>
              <a:rPr lang="en-US" sz="1400" dirty="0">
                <a:solidFill>
                  <a:schemeClr val="bg1"/>
                </a:solidFill>
              </a:rPr>
              <a:t> de z es: 1 - 0.01 = 0.99</a:t>
            </a:r>
          </a:p>
          <a:p>
            <a:r>
              <a:rPr lang="en-US" sz="1400" dirty="0" err="1">
                <a:solidFill>
                  <a:schemeClr val="bg1"/>
                </a:solidFill>
              </a:rPr>
              <a:t>Buscar</a:t>
            </a:r>
            <a:r>
              <a:rPr lang="en-US" sz="1400" dirty="0">
                <a:solidFill>
                  <a:schemeClr val="bg1"/>
                </a:solidFill>
              </a:rPr>
              <a:t> 0.99 </a:t>
            </a:r>
            <a:r>
              <a:rPr lang="en-US" sz="1400" dirty="0" err="1">
                <a:solidFill>
                  <a:schemeClr val="bg1"/>
                </a:solidFill>
              </a:rPr>
              <a:t>en</a:t>
            </a:r>
            <a:r>
              <a:rPr lang="en-US" sz="1400" dirty="0">
                <a:solidFill>
                  <a:schemeClr val="bg1"/>
                </a:solidFill>
              </a:rPr>
              <a:t> la </a:t>
            </a:r>
            <a:r>
              <a:rPr lang="en-US" sz="1400" dirty="0" err="1">
                <a:solidFill>
                  <a:schemeClr val="bg1"/>
                </a:solidFill>
              </a:rPr>
              <a:t>Tabla</a:t>
            </a:r>
            <a:r>
              <a:rPr lang="en-US" sz="1400" dirty="0">
                <a:solidFill>
                  <a:schemeClr val="bg1"/>
                </a:solidFill>
              </a:rPr>
              <a:t> y </a:t>
            </a:r>
            <a:r>
              <a:rPr lang="en-US" sz="1400" dirty="0" err="1">
                <a:solidFill>
                  <a:schemeClr val="bg1"/>
                </a:solidFill>
              </a:rPr>
              <a:t>obtener</a:t>
            </a:r>
            <a:r>
              <a:rPr lang="en-US" sz="1400" dirty="0">
                <a:solidFill>
                  <a:schemeClr val="bg1"/>
                </a:solidFill>
              </a:rPr>
              <a:t> Z</a:t>
            </a:r>
          </a:p>
          <a:p>
            <a:r>
              <a:rPr lang="en-US" sz="1400" dirty="0">
                <a:solidFill>
                  <a:schemeClr val="bg1"/>
                </a:solidFill>
              </a:rPr>
              <a:t>Z = 2.3 + 0.025</a:t>
            </a:r>
          </a:p>
          <a:p>
            <a:r>
              <a:rPr lang="en-US" sz="1400" dirty="0">
                <a:solidFill>
                  <a:schemeClr val="bg1"/>
                </a:solidFill>
              </a:rPr>
              <a:t>Z = 2.325</a:t>
            </a:r>
          </a:p>
        </p:txBody>
      </p:sp>
      <p:sp>
        <p:nvSpPr>
          <p:cNvPr id="13" name="TextBox 12">
            <a:extLst>
              <a:ext uri="{FF2B5EF4-FFF2-40B4-BE49-F238E27FC236}">
                <a16:creationId xmlns:a16="http://schemas.microsoft.com/office/drawing/2014/main" id="{AD773A79-52A5-F203-B8A7-887CD02AFC34}"/>
              </a:ext>
            </a:extLst>
          </p:cNvPr>
          <p:cNvSpPr txBox="1"/>
          <p:nvPr/>
        </p:nvSpPr>
        <p:spPr>
          <a:xfrm>
            <a:off x="6305711" y="4426347"/>
            <a:ext cx="5886289" cy="1384995"/>
          </a:xfrm>
          <a:prstGeom prst="rect">
            <a:avLst/>
          </a:prstGeom>
          <a:noFill/>
        </p:spPr>
        <p:txBody>
          <a:bodyPr wrap="square" rtlCol="0">
            <a:spAutoFit/>
          </a:bodyPr>
          <a:lstStyle/>
          <a:p>
            <a:r>
              <a:rPr lang="en-US" sz="1400" dirty="0">
                <a:solidFill>
                  <a:schemeClr val="bg1"/>
                </a:solidFill>
              </a:rPr>
              <a:t>Area a la </a:t>
            </a:r>
            <a:r>
              <a:rPr lang="en-US" sz="1400" dirty="0" err="1">
                <a:solidFill>
                  <a:schemeClr val="bg1"/>
                </a:solidFill>
              </a:rPr>
              <a:t>izquierda</a:t>
            </a:r>
            <a:r>
              <a:rPr lang="en-US" sz="1400" dirty="0">
                <a:solidFill>
                  <a:schemeClr val="bg1"/>
                </a:solidFill>
              </a:rPr>
              <a:t> de z </a:t>
            </a:r>
            <a:r>
              <a:rPr lang="en-US" sz="1400" dirty="0" err="1">
                <a:solidFill>
                  <a:schemeClr val="bg1"/>
                </a:solidFill>
              </a:rPr>
              <a:t>por</a:t>
            </a:r>
            <a:r>
              <a:rPr lang="en-US" sz="1400" dirty="0">
                <a:solidFill>
                  <a:schemeClr val="bg1"/>
                </a:solidFill>
              </a:rPr>
              <a:t> la cola </a:t>
            </a:r>
            <a:r>
              <a:rPr lang="en-US" sz="1400" dirty="0" err="1">
                <a:solidFill>
                  <a:schemeClr val="bg1"/>
                </a:solidFill>
              </a:rPr>
              <a:t>izquierda</a:t>
            </a:r>
            <a:r>
              <a:rPr lang="en-US" sz="1400" dirty="0">
                <a:solidFill>
                  <a:schemeClr val="bg1"/>
                </a:solidFill>
              </a:rPr>
              <a:t> es: 0.10/2 = 0.05</a:t>
            </a:r>
          </a:p>
          <a:p>
            <a:r>
              <a:rPr lang="en-US" sz="1400" dirty="0" err="1">
                <a:solidFill>
                  <a:schemeClr val="bg1"/>
                </a:solidFill>
              </a:rPr>
              <a:t>Buscar</a:t>
            </a:r>
            <a:r>
              <a:rPr lang="en-US" sz="1400" dirty="0">
                <a:solidFill>
                  <a:schemeClr val="bg1"/>
                </a:solidFill>
              </a:rPr>
              <a:t> 0.05 </a:t>
            </a:r>
            <a:r>
              <a:rPr lang="en-US" sz="1400" dirty="0" err="1">
                <a:solidFill>
                  <a:schemeClr val="bg1"/>
                </a:solidFill>
              </a:rPr>
              <a:t>en</a:t>
            </a:r>
            <a:r>
              <a:rPr lang="en-US" sz="1400" dirty="0">
                <a:solidFill>
                  <a:schemeClr val="bg1"/>
                </a:solidFill>
              </a:rPr>
              <a:t> la </a:t>
            </a:r>
            <a:r>
              <a:rPr lang="en-US" sz="1400" dirty="0" err="1">
                <a:solidFill>
                  <a:schemeClr val="bg1"/>
                </a:solidFill>
              </a:rPr>
              <a:t>Tabla</a:t>
            </a:r>
            <a:r>
              <a:rPr lang="en-US" sz="1400" dirty="0">
                <a:solidFill>
                  <a:schemeClr val="bg1"/>
                </a:solidFill>
              </a:rPr>
              <a:t> y </a:t>
            </a:r>
            <a:r>
              <a:rPr lang="en-US" sz="1400" dirty="0" err="1">
                <a:solidFill>
                  <a:schemeClr val="bg1"/>
                </a:solidFill>
              </a:rPr>
              <a:t>obtener</a:t>
            </a:r>
            <a:r>
              <a:rPr lang="en-US" sz="1400" dirty="0">
                <a:solidFill>
                  <a:schemeClr val="bg1"/>
                </a:solidFill>
              </a:rPr>
              <a:t> Z</a:t>
            </a:r>
          </a:p>
          <a:p>
            <a:r>
              <a:rPr lang="en-US" sz="1400" dirty="0">
                <a:solidFill>
                  <a:schemeClr val="bg1"/>
                </a:solidFill>
              </a:rPr>
              <a:t>Z = -1.6 - 0.045 = -1.645</a:t>
            </a:r>
          </a:p>
          <a:p>
            <a:r>
              <a:rPr lang="en-US" sz="1400" dirty="0">
                <a:solidFill>
                  <a:schemeClr val="bg1"/>
                </a:solidFill>
              </a:rPr>
              <a:t>Area a la </a:t>
            </a:r>
            <a:r>
              <a:rPr lang="en-US" sz="1400" dirty="0" err="1">
                <a:solidFill>
                  <a:schemeClr val="bg1"/>
                </a:solidFill>
              </a:rPr>
              <a:t>izquierda</a:t>
            </a:r>
            <a:r>
              <a:rPr lang="en-US" sz="1400" dirty="0">
                <a:solidFill>
                  <a:schemeClr val="bg1"/>
                </a:solidFill>
              </a:rPr>
              <a:t> de z </a:t>
            </a:r>
            <a:r>
              <a:rPr lang="en-US" sz="1400" dirty="0" err="1">
                <a:solidFill>
                  <a:schemeClr val="bg1"/>
                </a:solidFill>
              </a:rPr>
              <a:t>por</a:t>
            </a:r>
            <a:r>
              <a:rPr lang="en-US" sz="1400" dirty="0">
                <a:solidFill>
                  <a:schemeClr val="bg1"/>
                </a:solidFill>
              </a:rPr>
              <a:t> la cola </a:t>
            </a:r>
            <a:r>
              <a:rPr lang="en-US" sz="1400" dirty="0" err="1">
                <a:solidFill>
                  <a:schemeClr val="bg1"/>
                </a:solidFill>
              </a:rPr>
              <a:t>derecha</a:t>
            </a:r>
            <a:r>
              <a:rPr lang="en-US" sz="1400" dirty="0">
                <a:solidFill>
                  <a:schemeClr val="bg1"/>
                </a:solidFill>
              </a:rPr>
              <a:t> es: 1 – (0.10/2) = 0.95</a:t>
            </a:r>
          </a:p>
          <a:p>
            <a:r>
              <a:rPr lang="en-US" sz="1400" dirty="0" err="1">
                <a:solidFill>
                  <a:schemeClr val="bg1"/>
                </a:solidFill>
              </a:rPr>
              <a:t>Buscar</a:t>
            </a:r>
            <a:r>
              <a:rPr lang="en-US" sz="1400" dirty="0">
                <a:solidFill>
                  <a:schemeClr val="bg1"/>
                </a:solidFill>
              </a:rPr>
              <a:t> 0.95 </a:t>
            </a:r>
            <a:r>
              <a:rPr lang="en-US" sz="1400" dirty="0" err="1">
                <a:solidFill>
                  <a:schemeClr val="bg1"/>
                </a:solidFill>
              </a:rPr>
              <a:t>en</a:t>
            </a:r>
            <a:r>
              <a:rPr lang="en-US" sz="1400" dirty="0">
                <a:solidFill>
                  <a:schemeClr val="bg1"/>
                </a:solidFill>
              </a:rPr>
              <a:t> la </a:t>
            </a:r>
            <a:r>
              <a:rPr lang="en-US" sz="1400" dirty="0" err="1">
                <a:solidFill>
                  <a:schemeClr val="bg1"/>
                </a:solidFill>
              </a:rPr>
              <a:t>Tabla</a:t>
            </a:r>
            <a:r>
              <a:rPr lang="en-US" sz="1400" dirty="0">
                <a:solidFill>
                  <a:schemeClr val="bg1"/>
                </a:solidFill>
              </a:rPr>
              <a:t> y </a:t>
            </a:r>
            <a:r>
              <a:rPr lang="en-US" sz="1400" dirty="0" err="1">
                <a:solidFill>
                  <a:schemeClr val="bg1"/>
                </a:solidFill>
              </a:rPr>
              <a:t>obtener</a:t>
            </a:r>
            <a:r>
              <a:rPr lang="en-US" sz="1400" dirty="0">
                <a:solidFill>
                  <a:schemeClr val="bg1"/>
                </a:solidFill>
              </a:rPr>
              <a:t> Z</a:t>
            </a:r>
          </a:p>
          <a:p>
            <a:r>
              <a:rPr lang="en-US" sz="1400" dirty="0">
                <a:solidFill>
                  <a:schemeClr val="bg1"/>
                </a:solidFill>
              </a:rPr>
              <a:t>Z = 1.6 + 0.045 = +1.645</a:t>
            </a:r>
          </a:p>
        </p:txBody>
      </p:sp>
      <p:sp>
        <p:nvSpPr>
          <p:cNvPr id="14" name="TextBox 13">
            <a:extLst>
              <a:ext uri="{FF2B5EF4-FFF2-40B4-BE49-F238E27FC236}">
                <a16:creationId xmlns:a16="http://schemas.microsoft.com/office/drawing/2014/main" id="{F626EA04-E733-6AE1-4E32-0A30B3AD64F3}"/>
              </a:ext>
            </a:extLst>
          </p:cNvPr>
          <p:cNvSpPr txBox="1"/>
          <p:nvPr/>
        </p:nvSpPr>
        <p:spPr>
          <a:xfrm>
            <a:off x="6305710" y="6005260"/>
            <a:ext cx="4628587" cy="738664"/>
          </a:xfrm>
          <a:prstGeom prst="rect">
            <a:avLst/>
          </a:prstGeom>
          <a:noFill/>
        </p:spPr>
        <p:txBody>
          <a:bodyPr wrap="square" rtlCol="0">
            <a:spAutoFit/>
          </a:bodyPr>
          <a:lstStyle/>
          <a:p>
            <a:r>
              <a:rPr lang="en-US" sz="1400" dirty="0">
                <a:solidFill>
                  <a:schemeClr val="bg1"/>
                </a:solidFill>
              </a:rPr>
              <a:t>Area a la </a:t>
            </a:r>
            <a:r>
              <a:rPr lang="en-US" sz="1400" dirty="0" err="1">
                <a:solidFill>
                  <a:schemeClr val="bg1"/>
                </a:solidFill>
              </a:rPr>
              <a:t>izquierda</a:t>
            </a:r>
            <a:r>
              <a:rPr lang="en-US" sz="1400" dirty="0">
                <a:solidFill>
                  <a:schemeClr val="bg1"/>
                </a:solidFill>
              </a:rPr>
              <a:t> de z es 0.02</a:t>
            </a:r>
          </a:p>
          <a:p>
            <a:r>
              <a:rPr lang="en-US" sz="1400" dirty="0" err="1">
                <a:solidFill>
                  <a:schemeClr val="bg1"/>
                </a:solidFill>
              </a:rPr>
              <a:t>Buscar</a:t>
            </a:r>
            <a:r>
              <a:rPr lang="en-US" sz="1400" dirty="0">
                <a:solidFill>
                  <a:schemeClr val="bg1"/>
                </a:solidFill>
              </a:rPr>
              <a:t> 0.02 </a:t>
            </a:r>
            <a:r>
              <a:rPr lang="en-US" sz="1400" dirty="0" err="1">
                <a:solidFill>
                  <a:schemeClr val="bg1"/>
                </a:solidFill>
              </a:rPr>
              <a:t>en</a:t>
            </a:r>
            <a:r>
              <a:rPr lang="en-US" sz="1400" dirty="0">
                <a:solidFill>
                  <a:schemeClr val="bg1"/>
                </a:solidFill>
              </a:rPr>
              <a:t> la </a:t>
            </a:r>
            <a:r>
              <a:rPr lang="en-US" sz="1400" dirty="0" err="1">
                <a:solidFill>
                  <a:schemeClr val="bg1"/>
                </a:solidFill>
              </a:rPr>
              <a:t>Tabla</a:t>
            </a:r>
            <a:r>
              <a:rPr lang="en-US" sz="1400" dirty="0">
                <a:solidFill>
                  <a:schemeClr val="bg1"/>
                </a:solidFill>
              </a:rPr>
              <a:t> y </a:t>
            </a:r>
            <a:r>
              <a:rPr lang="en-US" sz="1400" dirty="0" err="1">
                <a:solidFill>
                  <a:schemeClr val="bg1"/>
                </a:solidFill>
              </a:rPr>
              <a:t>obtener</a:t>
            </a:r>
            <a:r>
              <a:rPr lang="en-US" sz="1400" dirty="0">
                <a:solidFill>
                  <a:schemeClr val="bg1"/>
                </a:solidFill>
              </a:rPr>
              <a:t> Z</a:t>
            </a:r>
          </a:p>
          <a:p>
            <a:r>
              <a:rPr lang="en-US" sz="1400" dirty="0">
                <a:solidFill>
                  <a:schemeClr val="bg1"/>
                </a:solidFill>
              </a:rPr>
              <a:t>Z = -2 – 0.055 = -2.055</a:t>
            </a:r>
          </a:p>
        </p:txBody>
      </p:sp>
      <p:pic>
        <p:nvPicPr>
          <p:cNvPr id="40" name="Picture 39">
            <a:extLst>
              <a:ext uri="{FF2B5EF4-FFF2-40B4-BE49-F238E27FC236}">
                <a16:creationId xmlns:a16="http://schemas.microsoft.com/office/drawing/2014/main" id="{ADBFD537-781C-083E-AE70-0BDC46CA6291}"/>
              </a:ext>
            </a:extLst>
          </p:cNvPr>
          <p:cNvPicPr>
            <a:picLocks noChangeAspect="1"/>
          </p:cNvPicPr>
          <p:nvPr/>
        </p:nvPicPr>
        <p:blipFill>
          <a:blip r:embed="rId7"/>
          <a:stretch>
            <a:fillRect/>
          </a:stretch>
        </p:blipFill>
        <p:spPr>
          <a:xfrm>
            <a:off x="7439558" y="0"/>
            <a:ext cx="4752442" cy="1538450"/>
          </a:xfrm>
          <a:prstGeom prst="rect">
            <a:avLst/>
          </a:prstGeom>
        </p:spPr>
      </p:pic>
      <p:pic>
        <p:nvPicPr>
          <p:cNvPr id="42" name="Picture 41">
            <a:extLst>
              <a:ext uri="{FF2B5EF4-FFF2-40B4-BE49-F238E27FC236}">
                <a16:creationId xmlns:a16="http://schemas.microsoft.com/office/drawing/2014/main" id="{C5CE11B9-5437-82AC-5966-507AEAACEF91}"/>
              </a:ext>
            </a:extLst>
          </p:cNvPr>
          <p:cNvPicPr>
            <a:picLocks noChangeAspect="1"/>
          </p:cNvPicPr>
          <p:nvPr/>
        </p:nvPicPr>
        <p:blipFill>
          <a:blip r:embed="rId8"/>
          <a:stretch>
            <a:fillRect/>
          </a:stretch>
        </p:blipFill>
        <p:spPr>
          <a:xfrm>
            <a:off x="7439558" y="1485550"/>
            <a:ext cx="4752442" cy="1457140"/>
          </a:xfrm>
          <a:prstGeom prst="rect">
            <a:avLst/>
          </a:prstGeom>
        </p:spPr>
      </p:pic>
      <p:sp>
        <p:nvSpPr>
          <p:cNvPr id="43" name="CuadroTexto 10">
            <a:extLst>
              <a:ext uri="{FF2B5EF4-FFF2-40B4-BE49-F238E27FC236}">
                <a16:creationId xmlns:a16="http://schemas.microsoft.com/office/drawing/2014/main" id="{2CFE034D-617F-3F98-EF9C-3D4A5B32F15B}"/>
              </a:ext>
            </a:extLst>
          </p:cNvPr>
          <p:cNvSpPr txBox="1"/>
          <p:nvPr/>
        </p:nvSpPr>
        <p:spPr>
          <a:xfrm>
            <a:off x="6923666" y="2841400"/>
            <a:ext cx="5136681" cy="307392"/>
          </a:xfrm>
          <a:prstGeom prst="rect">
            <a:avLst/>
          </a:prstGeom>
          <a:noFill/>
          <a:ln>
            <a:noFill/>
          </a:ln>
        </p:spPr>
        <p:txBody>
          <a:bodyPr wrap="square" rtlCol="0">
            <a:spAutoFit/>
          </a:bodyPr>
          <a:lstStyle/>
          <a:p>
            <a:pPr algn="just">
              <a:lnSpc>
                <a:spcPct val="107000"/>
              </a:lnSpc>
              <a:spcAft>
                <a:spcPts val="800"/>
              </a:spcAft>
            </a:pPr>
            <a:r>
              <a:rPr lang="es-MX" sz="14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Nota: la tabla de arriba usa áreas a la izquierda del valor critico</a:t>
            </a:r>
            <a:endParaRPr lang="es-MX" sz="140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50" name="Título 1">
            <a:extLst>
              <a:ext uri="{FF2B5EF4-FFF2-40B4-BE49-F238E27FC236}">
                <a16:creationId xmlns:a16="http://schemas.microsoft.com/office/drawing/2014/main" id="{B6FF6C71-C5E4-BA20-CF0E-1384A1C66A5B}"/>
              </a:ext>
            </a:extLst>
          </p:cNvPr>
          <p:cNvSpPr txBox="1">
            <a:spLocks/>
          </p:cNvSpPr>
          <p:nvPr/>
        </p:nvSpPr>
        <p:spPr>
          <a:xfrm>
            <a:off x="0" y="-1797"/>
            <a:ext cx="3843572" cy="679928"/>
          </a:xfrm>
          <a:prstGeom prst="rect">
            <a:avLst/>
          </a:prstGeom>
        </p:spPr>
        <p:txBody>
          <a:bodyPr vert="horz" lIns="0" tIns="0" rIns="0" bIns="0" rtlCol="0" anchor="ctr" anchorCtr="0">
            <a:noAutofit/>
          </a:bodyPr>
          <a:lstStyle>
            <a:lvl1pPr algn="l" defTabSz="914400" rtl="0" eaLnBrk="1" latinLnBrk="0" hangingPunct="1">
              <a:lnSpc>
                <a:spcPct val="9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just"/>
            <a:r>
              <a:rPr lang="es-MX" sz="2400" dirty="0">
                <a:latin typeface="Times New Roman" panose="02020603050405020304" pitchFamily="18" charset="0"/>
                <a:cs typeface="Times New Roman" panose="02020603050405020304" pitchFamily="18" charset="0"/>
              </a:rPr>
              <a:t>   Cálculo del valor crítico</a:t>
            </a:r>
            <a:endParaRPr lang="es-ES" sz="2600" dirty="0">
              <a:latin typeface="Times New Roman" panose="02020603050405020304" pitchFamily="18" charset="0"/>
              <a:cs typeface="Times New Roman" panose="02020603050405020304" pitchFamily="18" charset="0"/>
            </a:endParaRPr>
          </a:p>
        </p:txBody>
      </p:sp>
      <p:sp>
        <p:nvSpPr>
          <p:cNvPr id="51" name="TextBox 50">
            <a:extLst>
              <a:ext uri="{FF2B5EF4-FFF2-40B4-BE49-F238E27FC236}">
                <a16:creationId xmlns:a16="http://schemas.microsoft.com/office/drawing/2014/main" id="{A0CE3EED-FEDB-2AA5-99CB-696C8D443181}"/>
              </a:ext>
            </a:extLst>
          </p:cNvPr>
          <p:cNvSpPr txBox="1"/>
          <p:nvPr/>
        </p:nvSpPr>
        <p:spPr>
          <a:xfrm>
            <a:off x="9452008" y="5835983"/>
            <a:ext cx="2739992" cy="553998"/>
          </a:xfrm>
          <a:prstGeom prst="rect">
            <a:avLst/>
          </a:prstGeom>
          <a:noFill/>
        </p:spPr>
        <p:txBody>
          <a:bodyPr wrap="square" rtlCol="0">
            <a:spAutoFit/>
          </a:bodyPr>
          <a:lstStyle/>
          <a:p>
            <a:r>
              <a:rPr lang="en-US" dirty="0">
                <a:solidFill>
                  <a:srgbClr val="00B0F0"/>
                </a:solidFill>
              </a:rPr>
              <a:t>Ver código “Actividad 6”</a:t>
            </a:r>
          </a:p>
          <a:p>
            <a:r>
              <a:rPr lang="en-US" sz="1200" dirty="0">
                <a:solidFill>
                  <a:srgbClr val="00B0F0"/>
                </a:solidFill>
              </a:rPr>
              <a:t>9 - Hipótesis Estadísticas Resuelta.rmd</a:t>
            </a:r>
          </a:p>
        </p:txBody>
      </p:sp>
      <p:pic>
        <p:nvPicPr>
          <p:cNvPr id="52" name="Picture 51">
            <a:hlinkClick r:id="rId9"/>
            <a:extLst>
              <a:ext uri="{FF2B5EF4-FFF2-40B4-BE49-F238E27FC236}">
                <a16:creationId xmlns:a16="http://schemas.microsoft.com/office/drawing/2014/main" id="{6E6560DB-A734-C7E3-21E1-A4FDA6483848}"/>
              </a:ext>
            </a:extLst>
          </p:cNvPr>
          <p:cNvPicPr>
            <a:picLocks noChangeAspect="1"/>
          </p:cNvPicPr>
          <p:nvPr/>
        </p:nvPicPr>
        <p:blipFill>
          <a:blip r:embed="rId10"/>
          <a:stretch>
            <a:fillRect/>
          </a:stretch>
        </p:blipFill>
        <p:spPr>
          <a:xfrm>
            <a:off x="10934297" y="3357308"/>
            <a:ext cx="870183" cy="813267"/>
          </a:xfrm>
          <a:prstGeom prst="rect">
            <a:avLst/>
          </a:prstGeom>
          <a:ln w="28575">
            <a:solidFill>
              <a:srgbClr val="0070C0"/>
            </a:solidFill>
          </a:ln>
        </p:spPr>
      </p:pic>
      <p:sp>
        <p:nvSpPr>
          <p:cNvPr id="53" name="Arrow: Right 52">
            <a:extLst>
              <a:ext uri="{FF2B5EF4-FFF2-40B4-BE49-F238E27FC236}">
                <a16:creationId xmlns:a16="http://schemas.microsoft.com/office/drawing/2014/main" id="{F4AA921B-06EC-142F-5477-8C8923009FE7}"/>
              </a:ext>
            </a:extLst>
          </p:cNvPr>
          <p:cNvSpPr/>
          <p:nvPr/>
        </p:nvSpPr>
        <p:spPr>
          <a:xfrm>
            <a:off x="10722543" y="3568541"/>
            <a:ext cx="211754" cy="438330"/>
          </a:xfrm>
          <a:prstGeom prst="rightArrow">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02463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circle(in)">
                                      <p:cBhvr>
                                        <p:cTn id="7" dur="20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050"/>
                                        </p:tgtEl>
                                        <p:attrNameLst>
                                          <p:attrName>style.visibility</p:attrName>
                                        </p:attrNameLst>
                                      </p:cBhvr>
                                      <p:to>
                                        <p:strVal val="visible"/>
                                      </p:to>
                                    </p:set>
                                    <p:animEffect transition="in" filter="fade">
                                      <p:cBhvr>
                                        <p:cTn id="17" dur="1000"/>
                                        <p:tgtEl>
                                          <p:spTgt spid="2050"/>
                                        </p:tgtEl>
                                      </p:cBhvr>
                                    </p:animEffect>
                                    <p:anim calcmode="lin" valueType="num">
                                      <p:cBhvr>
                                        <p:cTn id="18" dur="1000" fill="hold"/>
                                        <p:tgtEl>
                                          <p:spTgt spid="2050"/>
                                        </p:tgtEl>
                                        <p:attrNameLst>
                                          <p:attrName>ppt_x</p:attrName>
                                        </p:attrNameLst>
                                      </p:cBhvr>
                                      <p:tavLst>
                                        <p:tav tm="0">
                                          <p:val>
                                            <p:strVal val="#ppt_x"/>
                                          </p:val>
                                        </p:tav>
                                        <p:tav tm="100000">
                                          <p:val>
                                            <p:strVal val="#ppt_x"/>
                                          </p:val>
                                        </p:tav>
                                      </p:tavLst>
                                    </p:anim>
                                    <p:anim calcmode="lin" valueType="num">
                                      <p:cBhvr>
                                        <p:cTn id="19" dur="1000" fill="hold"/>
                                        <p:tgtEl>
                                          <p:spTgt spid="2050"/>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fade">
                                      <p:cBhvr>
                                        <p:cTn id="24" dur="1000"/>
                                        <p:tgtEl>
                                          <p:spTgt spid="4"/>
                                        </p:tgtEl>
                                      </p:cBhvr>
                                    </p:animEffect>
                                    <p:anim calcmode="lin" valueType="num">
                                      <p:cBhvr>
                                        <p:cTn id="25" dur="1000" fill="hold"/>
                                        <p:tgtEl>
                                          <p:spTgt spid="4"/>
                                        </p:tgtEl>
                                        <p:attrNameLst>
                                          <p:attrName>ppt_x</p:attrName>
                                        </p:attrNameLst>
                                      </p:cBhvr>
                                      <p:tavLst>
                                        <p:tav tm="0">
                                          <p:val>
                                            <p:strVal val="#ppt_x"/>
                                          </p:val>
                                        </p:tav>
                                        <p:tav tm="100000">
                                          <p:val>
                                            <p:strVal val="#ppt_x"/>
                                          </p:val>
                                        </p:tav>
                                      </p:tavLst>
                                    </p:anim>
                                    <p:anim calcmode="lin" valueType="num">
                                      <p:cBhvr>
                                        <p:cTn id="26" dur="1000" fill="hold"/>
                                        <p:tgtEl>
                                          <p:spTgt spid="4"/>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1000"/>
                                        <p:tgtEl>
                                          <p:spTgt spid="6"/>
                                        </p:tgtEl>
                                      </p:cBhvr>
                                    </p:animEffect>
                                    <p:anim calcmode="lin" valueType="num">
                                      <p:cBhvr>
                                        <p:cTn id="30" dur="1000" fill="hold"/>
                                        <p:tgtEl>
                                          <p:spTgt spid="6"/>
                                        </p:tgtEl>
                                        <p:attrNameLst>
                                          <p:attrName>ppt_x</p:attrName>
                                        </p:attrNameLst>
                                      </p:cBhvr>
                                      <p:tavLst>
                                        <p:tav tm="0">
                                          <p:val>
                                            <p:strVal val="#ppt_x"/>
                                          </p:val>
                                        </p:tav>
                                        <p:tav tm="100000">
                                          <p:val>
                                            <p:strVal val="#ppt_x"/>
                                          </p:val>
                                        </p:tav>
                                      </p:tavLst>
                                    </p:anim>
                                    <p:anim calcmode="lin" valueType="num">
                                      <p:cBhvr>
                                        <p:cTn id="31"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5"/>
                                        </p:tgtEl>
                                        <p:attrNameLst>
                                          <p:attrName>style.visibility</p:attrName>
                                        </p:attrNameLst>
                                      </p:cBhvr>
                                      <p:to>
                                        <p:strVal val="visible"/>
                                      </p:to>
                                    </p:set>
                                    <p:animEffect transition="in" filter="fade">
                                      <p:cBhvr>
                                        <p:cTn id="36" dur="1000"/>
                                        <p:tgtEl>
                                          <p:spTgt spid="5"/>
                                        </p:tgtEl>
                                      </p:cBhvr>
                                    </p:animEffect>
                                    <p:anim calcmode="lin" valueType="num">
                                      <p:cBhvr>
                                        <p:cTn id="37" dur="1000" fill="hold"/>
                                        <p:tgtEl>
                                          <p:spTgt spid="5"/>
                                        </p:tgtEl>
                                        <p:attrNameLst>
                                          <p:attrName>ppt_x</p:attrName>
                                        </p:attrNameLst>
                                      </p:cBhvr>
                                      <p:tavLst>
                                        <p:tav tm="0">
                                          <p:val>
                                            <p:strVal val="#ppt_x"/>
                                          </p:val>
                                        </p:tav>
                                        <p:tav tm="100000">
                                          <p:val>
                                            <p:strVal val="#ppt_x"/>
                                          </p:val>
                                        </p:tav>
                                      </p:tavLst>
                                    </p:anim>
                                    <p:anim calcmode="lin" valueType="num">
                                      <p:cBhvr>
                                        <p:cTn id="38" dur="1000" fill="hold"/>
                                        <p:tgtEl>
                                          <p:spTgt spid="5"/>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fade">
                                      <p:cBhvr>
                                        <p:cTn id="41" dur="1000"/>
                                        <p:tgtEl>
                                          <p:spTgt spid="7"/>
                                        </p:tgtEl>
                                      </p:cBhvr>
                                    </p:animEffect>
                                    <p:anim calcmode="lin" valueType="num">
                                      <p:cBhvr>
                                        <p:cTn id="42" dur="1000" fill="hold"/>
                                        <p:tgtEl>
                                          <p:spTgt spid="7"/>
                                        </p:tgtEl>
                                        <p:attrNameLst>
                                          <p:attrName>ppt_x</p:attrName>
                                        </p:attrNameLst>
                                      </p:cBhvr>
                                      <p:tavLst>
                                        <p:tav tm="0">
                                          <p:val>
                                            <p:strVal val="#ppt_x"/>
                                          </p:val>
                                        </p:tav>
                                        <p:tav tm="100000">
                                          <p:val>
                                            <p:strVal val="#ppt_x"/>
                                          </p:val>
                                        </p:tav>
                                      </p:tavLst>
                                    </p:anim>
                                    <p:anim calcmode="lin" valueType="num">
                                      <p:cBhvr>
                                        <p:cTn id="4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6" presetClass="entr" presetSubtype="16" fill="hold" grpId="0" nodeType="clickEffect">
                                  <p:stCondLst>
                                    <p:cond delay="0"/>
                                  </p:stCondLst>
                                  <p:childTnLst>
                                    <p:set>
                                      <p:cBhvr>
                                        <p:cTn id="47" dur="1" fill="hold">
                                          <p:stCondLst>
                                            <p:cond delay="0"/>
                                          </p:stCondLst>
                                        </p:cTn>
                                        <p:tgtEl>
                                          <p:spTgt spid="43"/>
                                        </p:tgtEl>
                                        <p:attrNameLst>
                                          <p:attrName>style.visibility</p:attrName>
                                        </p:attrNameLst>
                                      </p:cBhvr>
                                      <p:to>
                                        <p:strVal val="visible"/>
                                      </p:to>
                                    </p:set>
                                    <p:animEffect transition="in" filter="circle(in)">
                                      <p:cBhvr>
                                        <p:cTn id="48" dur="20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3" grpId="0" animBg="1"/>
      <p:bldP spid="4" grpId="0" animBg="1"/>
      <p:bldP spid="5" grpId="0" animBg="1"/>
      <p:bldP spid="4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444258" y="268201"/>
            <a:ext cx="1480795" cy="665450"/>
          </a:xfrm>
        </p:spPr>
        <p:txBody>
          <a:bodyPr rtlCol="0">
            <a:noAutofit/>
          </a:bodyPr>
          <a:lstStyle/>
          <a:p>
            <a:pPr algn="just"/>
            <a:r>
              <a:rPr lang="es-MX" sz="2400" dirty="0">
                <a:latin typeface="Times New Roman" panose="02020603050405020304" pitchFamily="18" charset="0"/>
                <a:cs typeface="Times New Roman" panose="02020603050405020304" pitchFamily="18" charset="0"/>
              </a:rPr>
              <a:t>Valor P</a:t>
            </a:r>
            <a:endParaRPr lang="es-ES" sz="2600" dirty="0">
              <a:latin typeface="Times New Roman" panose="02020603050405020304" pitchFamily="18" charset="0"/>
              <a:cs typeface="Times New Roman" panose="02020603050405020304" pitchFamily="18" charset="0"/>
            </a:endParaRPr>
          </a:p>
        </p:txBody>
      </p:sp>
      <p:pic>
        <p:nvPicPr>
          <p:cNvPr id="9" name="Imagen 8"/>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3915093" y="-1"/>
            <a:ext cx="8276908" cy="5978937"/>
          </a:xfrm>
          <a:prstGeom prst="rect">
            <a:avLst/>
          </a:prstGeom>
        </p:spPr>
      </p:pic>
      <p:sp>
        <p:nvSpPr>
          <p:cNvPr id="3" name="TextBox 2">
            <a:extLst>
              <a:ext uri="{FF2B5EF4-FFF2-40B4-BE49-F238E27FC236}">
                <a16:creationId xmlns:a16="http://schemas.microsoft.com/office/drawing/2014/main" id="{C29B5AFC-8FC3-9268-47D9-E0D1DB373F2C}"/>
              </a:ext>
            </a:extLst>
          </p:cNvPr>
          <p:cNvSpPr txBox="1"/>
          <p:nvPr/>
        </p:nvSpPr>
        <p:spPr>
          <a:xfrm>
            <a:off x="254841" y="2145117"/>
            <a:ext cx="3056250" cy="923330"/>
          </a:xfrm>
          <a:prstGeom prst="rect">
            <a:avLst/>
          </a:prstGeom>
          <a:noFill/>
        </p:spPr>
        <p:txBody>
          <a:bodyPr wrap="square" rtlCol="0">
            <a:spAutoFit/>
          </a:bodyPr>
          <a:lstStyle/>
          <a:p>
            <a:r>
              <a:rPr lang="en-US" dirty="0">
                <a:solidFill>
                  <a:schemeClr val="bg1"/>
                </a:solidFill>
              </a:rPr>
              <a:t>El P-Value es </a:t>
            </a:r>
            <a:r>
              <a:rPr lang="en-US" dirty="0" err="1">
                <a:solidFill>
                  <a:schemeClr val="bg1"/>
                </a:solidFill>
              </a:rPr>
              <a:t>una</a:t>
            </a:r>
            <a:r>
              <a:rPr lang="en-US" dirty="0">
                <a:solidFill>
                  <a:schemeClr val="bg1"/>
                </a:solidFill>
              </a:rPr>
              <a:t> alternativa a </a:t>
            </a:r>
            <a:r>
              <a:rPr lang="en-US" dirty="0" err="1">
                <a:solidFill>
                  <a:schemeClr val="bg1"/>
                </a:solidFill>
              </a:rPr>
              <a:t>encontrar</a:t>
            </a:r>
            <a:r>
              <a:rPr lang="en-US" dirty="0">
                <a:solidFill>
                  <a:schemeClr val="bg1"/>
                </a:solidFill>
              </a:rPr>
              <a:t> </a:t>
            </a:r>
            <a:r>
              <a:rPr lang="en-US" dirty="0" err="1">
                <a:solidFill>
                  <a:schemeClr val="bg1"/>
                </a:solidFill>
              </a:rPr>
              <a:t>el</a:t>
            </a:r>
            <a:r>
              <a:rPr lang="en-US" dirty="0">
                <a:solidFill>
                  <a:schemeClr val="bg1"/>
                </a:solidFill>
              </a:rPr>
              <a:t> valor </a:t>
            </a:r>
            <a:r>
              <a:rPr lang="en-US" dirty="0" err="1">
                <a:solidFill>
                  <a:schemeClr val="bg1"/>
                </a:solidFill>
              </a:rPr>
              <a:t>critico</a:t>
            </a:r>
            <a:r>
              <a:rPr lang="en-US" dirty="0">
                <a:solidFill>
                  <a:schemeClr val="bg1"/>
                </a:solidFill>
              </a:rPr>
              <a:t> para </a:t>
            </a:r>
            <a:r>
              <a:rPr lang="en-US" dirty="0" err="1">
                <a:solidFill>
                  <a:schemeClr val="bg1"/>
                </a:solidFill>
              </a:rPr>
              <a:t>rechazar</a:t>
            </a:r>
            <a:r>
              <a:rPr lang="en-US" dirty="0">
                <a:solidFill>
                  <a:schemeClr val="bg1"/>
                </a:solidFill>
              </a:rPr>
              <a:t> H</a:t>
            </a:r>
            <a:r>
              <a:rPr lang="en-US" sz="1200" dirty="0">
                <a:solidFill>
                  <a:schemeClr val="bg1"/>
                </a:solidFill>
              </a:rPr>
              <a:t>0</a:t>
            </a:r>
            <a:r>
              <a:rPr lang="en-US" dirty="0">
                <a:solidFill>
                  <a:schemeClr val="bg1"/>
                </a:solidFill>
              </a:rPr>
              <a:t>,</a:t>
            </a:r>
            <a:endParaRPr lang="en-US" b="1" dirty="0">
              <a:solidFill>
                <a:schemeClr val="bg1"/>
              </a:solidFill>
            </a:endParaRP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E6ADE414-1DFC-CE42-4A1E-66355D8B443F}"/>
                  </a:ext>
                </a:extLst>
              </p:cNvPr>
              <p:cNvSpPr txBox="1"/>
              <p:nvPr/>
            </p:nvSpPr>
            <p:spPr>
              <a:xfrm>
                <a:off x="73948" y="6372142"/>
                <a:ext cx="12118052" cy="344133"/>
              </a:xfrm>
              <a:prstGeom prst="rect">
                <a:avLst/>
              </a:prstGeom>
              <a:noFill/>
            </p:spPr>
            <p:txBody>
              <a:bodyPr wrap="square" rtlCol="0">
                <a:spAutoFit/>
              </a:bodyPr>
              <a:lstStyle/>
              <a:p>
                <a:r>
                  <a:rPr lang="en-US" sz="1600" dirty="0" err="1">
                    <a:solidFill>
                      <a:schemeClr val="bg1"/>
                    </a:solidFill>
                  </a:rPr>
                  <a:t>Aqui</a:t>
                </a:r>
                <a:r>
                  <a:rPr lang="en-US" sz="1600" dirty="0">
                    <a:solidFill>
                      <a:schemeClr val="bg1"/>
                    </a:solidFill>
                  </a:rPr>
                  <a:t> no es </a:t>
                </a:r>
                <a:r>
                  <a:rPr lang="en-US" sz="1600" dirty="0" err="1">
                    <a:solidFill>
                      <a:schemeClr val="bg1"/>
                    </a:solidFill>
                  </a:rPr>
                  <a:t>el</a:t>
                </a:r>
                <a:r>
                  <a:rPr lang="en-US" sz="1600" dirty="0">
                    <a:solidFill>
                      <a:schemeClr val="bg1"/>
                    </a:solidFill>
                  </a:rPr>
                  <a:t> </a:t>
                </a:r>
                <a:r>
                  <a:rPr lang="en-US" sz="1600" b="1" dirty="0">
                    <a:solidFill>
                      <a:schemeClr val="bg1"/>
                    </a:solidFill>
                  </a:rPr>
                  <a:t>valor </a:t>
                </a:r>
                <a:r>
                  <a:rPr lang="en-US" sz="1600" b="1" dirty="0" err="1">
                    <a:solidFill>
                      <a:schemeClr val="bg1"/>
                    </a:solidFill>
                  </a:rPr>
                  <a:t>critico</a:t>
                </a:r>
                <a:r>
                  <a:rPr lang="en-US" sz="1600" b="1" dirty="0">
                    <a:solidFill>
                      <a:schemeClr val="bg1"/>
                    </a:solidFill>
                  </a:rPr>
                  <a:t> </a:t>
                </a:r>
                <a:r>
                  <a:rPr lang="en-US" sz="1600" dirty="0">
                    <a:solidFill>
                      <a:schemeClr val="bg1"/>
                    </a:solidFill>
                  </a:rPr>
                  <a:t>(de las </a:t>
                </a:r>
                <a:r>
                  <a:rPr lang="en-US" sz="1600" dirty="0" err="1">
                    <a:solidFill>
                      <a:schemeClr val="bg1"/>
                    </a:solidFill>
                  </a:rPr>
                  <a:t>tablas</a:t>
                </a:r>
                <a:r>
                  <a:rPr lang="en-US" sz="1600" dirty="0">
                    <a:solidFill>
                      <a:schemeClr val="bg1"/>
                    </a:solidFill>
                  </a:rPr>
                  <a:t>), </a:t>
                </a:r>
                <a:r>
                  <a:rPr lang="en-US" sz="1600" dirty="0" err="1">
                    <a:solidFill>
                      <a:schemeClr val="bg1"/>
                    </a:solidFill>
                  </a:rPr>
                  <a:t>aqui</a:t>
                </a:r>
                <a:r>
                  <a:rPr lang="en-US" sz="1600" dirty="0">
                    <a:solidFill>
                      <a:schemeClr val="bg1"/>
                    </a:solidFill>
                  </a:rPr>
                  <a:t> es </a:t>
                </a:r>
                <a:r>
                  <a:rPr lang="en-US" sz="1600" dirty="0" err="1">
                    <a:solidFill>
                      <a:schemeClr val="bg1"/>
                    </a:solidFill>
                  </a:rPr>
                  <a:t>el</a:t>
                </a:r>
                <a:r>
                  <a:rPr lang="en-US" sz="1600" dirty="0">
                    <a:solidFill>
                      <a:schemeClr val="bg1"/>
                    </a:solidFill>
                  </a:rPr>
                  <a:t> </a:t>
                </a:r>
                <a:r>
                  <a:rPr lang="en-US" sz="1600" b="1" dirty="0" err="1">
                    <a:solidFill>
                      <a:srgbClr val="0070C0"/>
                    </a:solidFill>
                  </a:rPr>
                  <a:t>Estadistico</a:t>
                </a:r>
                <a:r>
                  <a:rPr lang="en-US" sz="1600" b="1" dirty="0">
                    <a:solidFill>
                      <a:srgbClr val="0070C0"/>
                    </a:solidFill>
                  </a:rPr>
                  <a:t> de Prueba </a:t>
                </a:r>
                <a14:m>
                  <m:oMath xmlns:m="http://schemas.openxmlformats.org/officeDocument/2006/math">
                    <m:r>
                      <a:rPr lang="es-MX" sz="1600" b="1" i="1" smtClean="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𝒛</m:t>
                    </m:r>
                    <m:r>
                      <a:rPr lang="es-MX" sz="1600" b="1" i="1" smtClean="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 </m:t>
                    </m:r>
                    <m:r>
                      <a:rPr lang="es-MX" sz="1600" b="1" i="1" smtClean="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𝒕</m:t>
                    </m:r>
                    <m:r>
                      <a:rPr lang="es-MX" sz="1600" b="1" i="0" smtClean="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s-MX" sz="1600" b="1" i="1">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ctrlPr>
                      </m:sSupPr>
                      <m:e>
                        <m:r>
                          <a:rPr lang="es-MX" sz="1600" b="1" i="1">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𝝌</m:t>
                        </m:r>
                      </m:e>
                      <m:sup>
                        <m:r>
                          <a:rPr lang="es-MX" sz="1600" b="1" i="1">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𝟐</m:t>
                        </m:r>
                      </m:sup>
                    </m:sSup>
                  </m:oMath>
                </a14:m>
                <a:r>
                  <a:rPr lang="en-US" sz="1600" dirty="0"/>
                  <a:t> </a:t>
                </a:r>
                <a:r>
                  <a:rPr lang="en-US" sz="1600" dirty="0">
                    <a:solidFill>
                      <a:schemeClr val="bg1"/>
                    </a:solidFill>
                  </a:rPr>
                  <a:t>que se </a:t>
                </a:r>
                <a:r>
                  <a:rPr lang="en-US" sz="1600" dirty="0" err="1">
                    <a:solidFill>
                      <a:schemeClr val="bg1"/>
                    </a:solidFill>
                  </a:rPr>
                  <a:t>obtiene</a:t>
                </a:r>
                <a:r>
                  <a:rPr lang="en-US" sz="1600" dirty="0">
                    <a:solidFill>
                      <a:schemeClr val="bg1"/>
                    </a:solidFill>
                  </a:rPr>
                  <a:t> con las </a:t>
                </a:r>
                <a:r>
                  <a:rPr lang="en-US" sz="1600" b="1" dirty="0">
                    <a:solidFill>
                      <a:srgbClr val="0070C0"/>
                    </a:solidFill>
                  </a:rPr>
                  <a:t>formulas </a:t>
                </a:r>
                <a:r>
                  <a:rPr lang="en-US" sz="1600" dirty="0">
                    <a:solidFill>
                      <a:schemeClr val="bg1"/>
                    </a:solidFill>
                  </a:rPr>
                  <a:t>antes vistas </a:t>
                </a:r>
              </a:p>
            </p:txBody>
          </p:sp>
        </mc:Choice>
        <mc:Fallback>
          <p:sp>
            <p:nvSpPr>
              <p:cNvPr id="5" name="TextBox 4">
                <a:extLst>
                  <a:ext uri="{FF2B5EF4-FFF2-40B4-BE49-F238E27FC236}">
                    <a16:creationId xmlns:a16="http://schemas.microsoft.com/office/drawing/2014/main" id="{E6ADE414-1DFC-CE42-4A1E-66355D8B443F}"/>
                  </a:ext>
                </a:extLst>
              </p:cNvPr>
              <p:cNvSpPr txBox="1">
                <a:spLocks noRot="1" noChangeAspect="1" noMove="1" noResize="1" noEditPoints="1" noAdjustHandles="1" noChangeArrowheads="1" noChangeShapeType="1" noTextEdit="1"/>
              </p:cNvSpPr>
              <p:nvPr/>
            </p:nvSpPr>
            <p:spPr>
              <a:xfrm>
                <a:off x="73948" y="6372142"/>
                <a:ext cx="12118052" cy="344133"/>
              </a:xfrm>
              <a:prstGeom prst="rect">
                <a:avLst/>
              </a:prstGeom>
              <a:blipFill>
                <a:blip r:embed="rId5"/>
                <a:stretch>
                  <a:fillRect l="-252" t="-3509" b="-21053"/>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069D58FC-F551-738D-9068-C88304BA05D2}"/>
              </a:ext>
            </a:extLst>
          </p:cNvPr>
          <p:cNvSpPr txBox="1"/>
          <p:nvPr/>
        </p:nvSpPr>
        <p:spPr>
          <a:xfrm>
            <a:off x="4995511" y="211756"/>
            <a:ext cx="1944303" cy="646331"/>
          </a:xfrm>
          <a:prstGeom prst="rect">
            <a:avLst/>
          </a:prstGeom>
          <a:noFill/>
        </p:spPr>
        <p:txBody>
          <a:bodyPr wrap="square" rtlCol="0">
            <a:spAutoFit/>
          </a:bodyPr>
          <a:lstStyle/>
          <a:p>
            <a:r>
              <a:rPr lang="en-US" sz="1200" dirty="0">
                <a:solidFill>
                  <a:schemeClr val="bg1"/>
                </a:solidFill>
              </a:rPr>
              <a:t>De la hipotesis alternativa H</a:t>
            </a:r>
            <a:r>
              <a:rPr lang="en-US" sz="1050" dirty="0">
                <a:solidFill>
                  <a:schemeClr val="bg1"/>
                </a:solidFill>
              </a:rPr>
              <a:t>1</a:t>
            </a:r>
            <a:r>
              <a:rPr lang="en-US" sz="1200" dirty="0">
                <a:solidFill>
                  <a:schemeClr val="bg1"/>
                </a:solidFill>
              </a:rPr>
              <a:t> se puede identificar </a:t>
            </a:r>
            <a:r>
              <a:rPr lang="en-US" sz="1200" dirty="0" err="1">
                <a:solidFill>
                  <a:schemeClr val="bg1"/>
                </a:solidFill>
              </a:rPr>
              <a:t>el</a:t>
            </a:r>
            <a:r>
              <a:rPr lang="en-US" sz="1200" dirty="0">
                <a:solidFill>
                  <a:schemeClr val="bg1"/>
                </a:solidFill>
              </a:rPr>
              <a:t> tipo de prueba</a:t>
            </a:r>
          </a:p>
        </p:txBody>
      </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2917690B-A209-D8D6-87C2-E76C82FEADC3}"/>
                  </a:ext>
                </a:extLst>
              </p:cNvPr>
              <p:cNvSpPr txBox="1"/>
              <p:nvPr/>
            </p:nvSpPr>
            <p:spPr>
              <a:xfrm>
                <a:off x="5177497" y="5666350"/>
                <a:ext cx="790165" cy="31258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MX" sz="1400" b="1" i="1" smtClean="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𝒛</m:t>
                      </m:r>
                      <m:r>
                        <a:rPr lang="es-MX" sz="1400" b="1" i="1" smtClean="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 </m:t>
                      </m:r>
                      <m:r>
                        <a:rPr lang="es-MX" sz="1400" b="1" i="1" smtClean="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𝒕</m:t>
                      </m:r>
                      <m:r>
                        <a:rPr lang="es-MX" sz="1400" b="1" i="0" smtClean="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s-MX" sz="1400" b="1" i="1">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ctrlPr>
                        </m:sSupPr>
                        <m:e>
                          <m:r>
                            <a:rPr lang="es-MX" sz="1400" b="1" i="1">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𝝌</m:t>
                          </m:r>
                        </m:e>
                        <m:sup>
                          <m:r>
                            <a:rPr lang="es-MX" sz="1400" b="1" i="1">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𝟐</m:t>
                          </m:r>
                        </m:sup>
                      </m:sSup>
                    </m:oMath>
                  </m:oMathPara>
                </a14:m>
                <a:endParaRPr lang="en-US" sz="1400" dirty="0"/>
              </a:p>
            </p:txBody>
          </p:sp>
        </mc:Choice>
        <mc:Fallback>
          <p:sp>
            <p:nvSpPr>
              <p:cNvPr id="10" name="TextBox 9">
                <a:extLst>
                  <a:ext uri="{FF2B5EF4-FFF2-40B4-BE49-F238E27FC236}">
                    <a16:creationId xmlns:a16="http://schemas.microsoft.com/office/drawing/2014/main" id="{2917690B-A209-D8D6-87C2-E76C82FEADC3}"/>
                  </a:ext>
                </a:extLst>
              </p:cNvPr>
              <p:cNvSpPr txBox="1">
                <a:spLocks noRot="1" noChangeAspect="1" noMove="1" noResize="1" noEditPoints="1" noAdjustHandles="1" noChangeArrowheads="1" noChangeShapeType="1" noTextEdit="1"/>
              </p:cNvSpPr>
              <p:nvPr/>
            </p:nvSpPr>
            <p:spPr>
              <a:xfrm>
                <a:off x="5177497" y="5666350"/>
                <a:ext cx="790165" cy="312586"/>
              </a:xfrm>
              <a:prstGeom prst="rect">
                <a:avLst/>
              </a:prstGeom>
              <a:blipFill>
                <a:blip r:embed="rId6"/>
                <a:stretch>
                  <a:fillRect b="-392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B200BA92-25B1-0323-951A-C4E8C8E91C27}"/>
                  </a:ext>
                </a:extLst>
              </p:cNvPr>
              <p:cNvSpPr txBox="1"/>
              <p:nvPr/>
            </p:nvSpPr>
            <p:spPr>
              <a:xfrm>
                <a:off x="6939814" y="5666350"/>
                <a:ext cx="790165" cy="31258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MX" sz="1400" b="1" i="1" smtClean="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𝒛</m:t>
                      </m:r>
                      <m:r>
                        <a:rPr lang="es-MX" sz="1400" b="1" i="1" smtClean="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 </m:t>
                      </m:r>
                      <m:r>
                        <a:rPr lang="es-MX" sz="1400" b="1" i="1" smtClean="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𝒕</m:t>
                      </m:r>
                      <m:r>
                        <a:rPr lang="es-MX" sz="1400" b="1" i="0" smtClean="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s-MX" sz="1400" b="1" i="1">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ctrlPr>
                        </m:sSupPr>
                        <m:e>
                          <m:r>
                            <a:rPr lang="es-MX" sz="1400" b="1" i="1">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𝝌</m:t>
                          </m:r>
                        </m:e>
                        <m:sup>
                          <m:r>
                            <a:rPr lang="es-MX" sz="1400" b="1" i="1">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𝟐</m:t>
                          </m:r>
                        </m:sup>
                      </m:sSup>
                    </m:oMath>
                  </m:oMathPara>
                </a14:m>
                <a:endParaRPr lang="en-US" sz="1400" dirty="0"/>
              </a:p>
            </p:txBody>
          </p:sp>
        </mc:Choice>
        <mc:Fallback>
          <p:sp>
            <p:nvSpPr>
              <p:cNvPr id="11" name="TextBox 10">
                <a:extLst>
                  <a:ext uri="{FF2B5EF4-FFF2-40B4-BE49-F238E27FC236}">
                    <a16:creationId xmlns:a16="http://schemas.microsoft.com/office/drawing/2014/main" id="{B200BA92-25B1-0323-951A-C4E8C8E91C27}"/>
                  </a:ext>
                </a:extLst>
              </p:cNvPr>
              <p:cNvSpPr txBox="1">
                <a:spLocks noRot="1" noChangeAspect="1" noMove="1" noResize="1" noEditPoints="1" noAdjustHandles="1" noChangeArrowheads="1" noChangeShapeType="1" noTextEdit="1"/>
              </p:cNvSpPr>
              <p:nvPr/>
            </p:nvSpPr>
            <p:spPr>
              <a:xfrm>
                <a:off x="6939814" y="5666350"/>
                <a:ext cx="790165" cy="312586"/>
              </a:xfrm>
              <a:prstGeom prst="rect">
                <a:avLst/>
              </a:prstGeom>
              <a:blipFill>
                <a:blip r:embed="rId6"/>
                <a:stretch>
                  <a:fillRect b="-392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2604F02D-4CAF-4C91-F859-39DC9E2540E5}"/>
                  </a:ext>
                </a:extLst>
              </p:cNvPr>
              <p:cNvSpPr txBox="1"/>
              <p:nvPr/>
            </p:nvSpPr>
            <p:spPr>
              <a:xfrm>
                <a:off x="8845847" y="5666350"/>
                <a:ext cx="790165" cy="31258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MX" sz="1400" b="1" i="1" smtClean="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𝒛</m:t>
                      </m:r>
                      <m:r>
                        <a:rPr lang="es-MX" sz="1400" b="1" i="1" smtClean="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 </m:t>
                      </m:r>
                      <m:r>
                        <a:rPr lang="es-MX" sz="1400" b="1" i="1" smtClean="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𝒕</m:t>
                      </m:r>
                      <m:r>
                        <a:rPr lang="es-MX" sz="1400" b="1" i="0" smtClean="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s-MX" sz="1400" b="1" i="1">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ctrlPr>
                        </m:sSupPr>
                        <m:e>
                          <m:r>
                            <a:rPr lang="es-MX" sz="1400" b="1" i="1">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𝝌</m:t>
                          </m:r>
                        </m:e>
                        <m:sup>
                          <m:r>
                            <a:rPr lang="es-MX" sz="1400" b="1" i="1">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𝟐</m:t>
                          </m:r>
                        </m:sup>
                      </m:sSup>
                    </m:oMath>
                  </m:oMathPara>
                </a14:m>
                <a:endParaRPr lang="en-US" sz="1400" dirty="0"/>
              </a:p>
            </p:txBody>
          </p:sp>
        </mc:Choice>
        <mc:Fallback>
          <p:sp>
            <p:nvSpPr>
              <p:cNvPr id="12" name="TextBox 11">
                <a:extLst>
                  <a:ext uri="{FF2B5EF4-FFF2-40B4-BE49-F238E27FC236}">
                    <a16:creationId xmlns:a16="http://schemas.microsoft.com/office/drawing/2014/main" id="{2604F02D-4CAF-4C91-F859-39DC9E2540E5}"/>
                  </a:ext>
                </a:extLst>
              </p:cNvPr>
              <p:cNvSpPr txBox="1">
                <a:spLocks noRot="1" noChangeAspect="1" noMove="1" noResize="1" noEditPoints="1" noAdjustHandles="1" noChangeArrowheads="1" noChangeShapeType="1" noTextEdit="1"/>
              </p:cNvSpPr>
              <p:nvPr/>
            </p:nvSpPr>
            <p:spPr>
              <a:xfrm>
                <a:off x="8845847" y="5666350"/>
                <a:ext cx="790165" cy="312586"/>
              </a:xfrm>
              <a:prstGeom prst="rect">
                <a:avLst/>
              </a:prstGeom>
              <a:blipFill>
                <a:blip r:embed="rId6"/>
                <a:stretch>
                  <a:fillRect b="-392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3826A299-76FF-0443-313B-A5E82D105D7F}"/>
                  </a:ext>
                </a:extLst>
              </p:cNvPr>
              <p:cNvSpPr txBox="1"/>
              <p:nvPr/>
            </p:nvSpPr>
            <p:spPr>
              <a:xfrm>
                <a:off x="10681050" y="5665709"/>
                <a:ext cx="790165" cy="31258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MX" sz="1400" b="1" i="1" smtClean="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𝒛</m:t>
                      </m:r>
                      <m:r>
                        <a:rPr lang="es-MX" sz="1400" b="1" i="1" smtClean="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 </m:t>
                      </m:r>
                      <m:r>
                        <a:rPr lang="es-MX" sz="1400" b="1" i="1" smtClean="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𝒕</m:t>
                      </m:r>
                      <m:r>
                        <a:rPr lang="es-MX" sz="1400" b="1" i="0" smtClean="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s-MX" sz="1400" b="1" i="1">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ctrlPr>
                        </m:sSupPr>
                        <m:e>
                          <m:r>
                            <a:rPr lang="es-MX" sz="1400" b="1" i="1">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𝝌</m:t>
                          </m:r>
                        </m:e>
                        <m:sup>
                          <m:r>
                            <a:rPr lang="es-MX" sz="1400" b="1" i="1">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𝟐</m:t>
                          </m:r>
                        </m:sup>
                      </m:sSup>
                    </m:oMath>
                  </m:oMathPara>
                </a14:m>
                <a:endParaRPr lang="en-US" sz="1400" dirty="0"/>
              </a:p>
            </p:txBody>
          </p:sp>
        </mc:Choice>
        <mc:Fallback>
          <p:sp>
            <p:nvSpPr>
              <p:cNvPr id="13" name="TextBox 12">
                <a:extLst>
                  <a:ext uri="{FF2B5EF4-FFF2-40B4-BE49-F238E27FC236}">
                    <a16:creationId xmlns:a16="http://schemas.microsoft.com/office/drawing/2014/main" id="{3826A299-76FF-0443-313B-A5E82D105D7F}"/>
                  </a:ext>
                </a:extLst>
              </p:cNvPr>
              <p:cNvSpPr txBox="1">
                <a:spLocks noRot="1" noChangeAspect="1" noMove="1" noResize="1" noEditPoints="1" noAdjustHandles="1" noChangeArrowheads="1" noChangeShapeType="1" noTextEdit="1"/>
              </p:cNvSpPr>
              <p:nvPr/>
            </p:nvSpPr>
            <p:spPr>
              <a:xfrm>
                <a:off x="10681050" y="5665709"/>
                <a:ext cx="790165" cy="312586"/>
              </a:xfrm>
              <a:prstGeom prst="rect">
                <a:avLst/>
              </a:prstGeom>
              <a:blipFill>
                <a:blip r:embed="rId7"/>
                <a:stretch>
                  <a:fillRect b="-1923"/>
                </a:stretch>
              </a:blipFill>
            </p:spPr>
            <p:txBody>
              <a:bodyPr/>
              <a:lstStyle/>
              <a:p>
                <a:r>
                  <a:rPr lang="en-US">
                    <a:noFill/>
                  </a:rPr>
                  <a:t> </a:t>
                </a:r>
              </a:p>
            </p:txBody>
          </p:sp>
        </mc:Fallback>
      </mc:AlternateContent>
      <p:sp>
        <p:nvSpPr>
          <p:cNvPr id="14" name="TextBox 13">
            <a:extLst>
              <a:ext uri="{FF2B5EF4-FFF2-40B4-BE49-F238E27FC236}">
                <a16:creationId xmlns:a16="http://schemas.microsoft.com/office/drawing/2014/main" id="{2BADD903-9CBD-46B6-716F-DB0BBCE14C44}"/>
              </a:ext>
            </a:extLst>
          </p:cNvPr>
          <p:cNvSpPr txBox="1"/>
          <p:nvPr/>
        </p:nvSpPr>
        <p:spPr>
          <a:xfrm>
            <a:off x="306056" y="1152110"/>
            <a:ext cx="1859628" cy="369332"/>
          </a:xfrm>
          <a:prstGeom prst="rect">
            <a:avLst/>
          </a:prstGeom>
          <a:noFill/>
        </p:spPr>
        <p:txBody>
          <a:bodyPr wrap="square" rtlCol="0">
            <a:spAutoFit/>
          </a:bodyPr>
          <a:lstStyle/>
          <a:p>
            <a:r>
              <a:rPr lang="en-US" dirty="0" err="1">
                <a:solidFill>
                  <a:schemeClr val="bg1"/>
                </a:solidFill>
              </a:rPr>
              <a:t>probabilidad</a:t>
            </a:r>
            <a:endParaRPr lang="en-US" b="1" dirty="0">
              <a:solidFill>
                <a:schemeClr val="bg1"/>
              </a:solidFill>
            </a:endParaRPr>
          </a:p>
        </p:txBody>
      </p:sp>
      <p:sp>
        <p:nvSpPr>
          <p:cNvPr id="15" name="Flowchart: Decision 14">
            <a:extLst>
              <a:ext uri="{FF2B5EF4-FFF2-40B4-BE49-F238E27FC236}">
                <a16:creationId xmlns:a16="http://schemas.microsoft.com/office/drawing/2014/main" id="{5FC23C12-BAC0-3959-5C0F-47110D4FD5B1}"/>
              </a:ext>
            </a:extLst>
          </p:cNvPr>
          <p:cNvSpPr/>
          <p:nvPr/>
        </p:nvSpPr>
        <p:spPr>
          <a:xfrm>
            <a:off x="789272" y="3878981"/>
            <a:ext cx="2271562" cy="1155032"/>
          </a:xfrm>
          <a:prstGeom prst="flowChartDecision">
            <a:avLst/>
          </a:prstGeom>
          <a:solidFill>
            <a:schemeClr val="tx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Es P &gt; o &lt; alpha (</a:t>
            </a:r>
            <a:r>
              <a:rPr lang="en-US" sz="1200" dirty="0" err="1">
                <a:solidFill>
                  <a:schemeClr val="bg1"/>
                </a:solidFill>
              </a:rPr>
              <a:t>en</a:t>
            </a:r>
            <a:r>
              <a:rPr lang="en-US" sz="1200" dirty="0">
                <a:solidFill>
                  <a:schemeClr val="bg1"/>
                </a:solidFill>
              </a:rPr>
              <a:t> la region </a:t>
            </a:r>
            <a:r>
              <a:rPr lang="en-US" sz="1200" dirty="0" err="1">
                <a:solidFill>
                  <a:schemeClr val="bg1"/>
                </a:solidFill>
              </a:rPr>
              <a:t>critica</a:t>
            </a:r>
            <a:r>
              <a:rPr lang="en-US" sz="1200" dirty="0">
                <a:solidFill>
                  <a:schemeClr val="bg1"/>
                </a:solidFill>
              </a:rPr>
              <a:t>)?</a:t>
            </a:r>
          </a:p>
        </p:txBody>
      </p:sp>
      <p:cxnSp>
        <p:nvCxnSpPr>
          <p:cNvPr id="17" name="Connector: Elbow 16">
            <a:extLst>
              <a:ext uri="{FF2B5EF4-FFF2-40B4-BE49-F238E27FC236}">
                <a16:creationId xmlns:a16="http://schemas.microsoft.com/office/drawing/2014/main" id="{4A57FA05-F044-463B-3F62-CCAA7267F8CE}"/>
              </a:ext>
            </a:extLst>
          </p:cNvPr>
          <p:cNvCxnSpPr>
            <a:stCxn id="15" idx="3"/>
          </p:cNvCxnSpPr>
          <p:nvPr/>
        </p:nvCxnSpPr>
        <p:spPr>
          <a:xfrm>
            <a:off x="3060834" y="4456497"/>
            <a:ext cx="423511" cy="1058779"/>
          </a:xfrm>
          <a:prstGeom prst="bentConnector2">
            <a:avLst/>
          </a:prstGeom>
          <a:ln>
            <a:solidFill>
              <a:schemeClr val="bg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nector: Elbow 17">
            <a:extLst>
              <a:ext uri="{FF2B5EF4-FFF2-40B4-BE49-F238E27FC236}">
                <a16:creationId xmlns:a16="http://schemas.microsoft.com/office/drawing/2014/main" id="{C68CF20E-9A9C-F8DD-8894-1A64F968F584}"/>
              </a:ext>
            </a:extLst>
          </p:cNvPr>
          <p:cNvCxnSpPr>
            <a:cxnSpLocks/>
            <a:stCxn id="15" idx="1"/>
          </p:cNvCxnSpPr>
          <p:nvPr/>
        </p:nvCxnSpPr>
        <p:spPr>
          <a:xfrm rot="10800000" flipV="1">
            <a:off x="444258" y="4456497"/>
            <a:ext cx="345014" cy="1092576"/>
          </a:xfrm>
          <a:prstGeom prst="bentConnector2">
            <a:avLst/>
          </a:prstGeom>
          <a:ln>
            <a:solidFill>
              <a:schemeClr val="bg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AF03F846-13F8-3381-B1CC-C0CC65467D8A}"/>
              </a:ext>
            </a:extLst>
          </p:cNvPr>
          <p:cNvSpPr txBox="1"/>
          <p:nvPr/>
        </p:nvSpPr>
        <p:spPr>
          <a:xfrm>
            <a:off x="2929294" y="5524902"/>
            <a:ext cx="1203165" cy="276999"/>
          </a:xfrm>
          <a:prstGeom prst="rect">
            <a:avLst/>
          </a:prstGeom>
          <a:noFill/>
        </p:spPr>
        <p:txBody>
          <a:bodyPr wrap="square" rtlCol="0">
            <a:spAutoFit/>
          </a:bodyPr>
          <a:lstStyle/>
          <a:p>
            <a:r>
              <a:rPr lang="en-US" sz="1200" dirty="0">
                <a:solidFill>
                  <a:schemeClr val="bg1"/>
                </a:solidFill>
              </a:rPr>
              <a:t>Se </a:t>
            </a:r>
            <a:r>
              <a:rPr lang="en-US" sz="1200" dirty="0" err="1">
                <a:solidFill>
                  <a:schemeClr val="bg1"/>
                </a:solidFill>
              </a:rPr>
              <a:t>Rechaza</a:t>
            </a:r>
            <a:r>
              <a:rPr lang="en-US" sz="1200" dirty="0">
                <a:solidFill>
                  <a:schemeClr val="bg1"/>
                </a:solidFill>
              </a:rPr>
              <a:t> H</a:t>
            </a:r>
            <a:r>
              <a:rPr lang="en-US" sz="800" dirty="0">
                <a:solidFill>
                  <a:schemeClr val="bg1"/>
                </a:solidFill>
              </a:rPr>
              <a:t>0</a:t>
            </a:r>
            <a:endParaRPr lang="en-US" sz="1200" b="1" dirty="0">
              <a:solidFill>
                <a:schemeClr val="bg1"/>
              </a:solidFill>
            </a:endParaRPr>
          </a:p>
        </p:txBody>
      </p:sp>
      <p:sp>
        <p:nvSpPr>
          <p:cNvPr id="21" name="TextBox 20">
            <a:extLst>
              <a:ext uri="{FF2B5EF4-FFF2-40B4-BE49-F238E27FC236}">
                <a16:creationId xmlns:a16="http://schemas.microsoft.com/office/drawing/2014/main" id="{FD211D36-D559-F720-7183-5ECB807BD59E}"/>
              </a:ext>
            </a:extLst>
          </p:cNvPr>
          <p:cNvSpPr txBox="1"/>
          <p:nvPr/>
        </p:nvSpPr>
        <p:spPr>
          <a:xfrm>
            <a:off x="52891" y="5515276"/>
            <a:ext cx="1203165" cy="276999"/>
          </a:xfrm>
          <a:prstGeom prst="rect">
            <a:avLst/>
          </a:prstGeom>
          <a:noFill/>
        </p:spPr>
        <p:txBody>
          <a:bodyPr wrap="square" rtlCol="0">
            <a:spAutoFit/>
          </a:bodyPr>
          <a:lstStyle/>
          <a:p>
            <a:r>
              <a:rPr lang="en-US" sz="1200" dirty="0">
                <a:solidFill>
                  <a:schemeClr val="bg1"/>
                </a:solidFill>
              </a:rPr>
              <a:t>Se </a:t>
            </a:r>
            <a:r>
              <a:rPr lang="en-US" sz="1200" dirty="0" err="1">
                <a:solidFill>
                  <a:schemeClr val="bg1"/>
                </a:solidFill>
              </a:rPr>
              <a:t>Acepta</a:t>
            </a:r>
            <a:r>
              <a:rPr lang="en-US" sz="1200" dirty="0">
                <a:solidFill>
                  <a:schemeClr val="bg1"/>
                </a:solidFill>
              </a:rPr>
              <a:t> H</a:t>
            </a:r>
            <a:r>
              <a:rPr lang="en-US" sz="800" dirty="0">
                <a:solidFill>
                  <a:schemeClr val="bg1"/>
                </a:solidFill>
              </a:rPr>
              <a:t>0</a:t>
            </a:r>
            <a:endParaRPr lang="en-US" sz="1200" b="1" dirty="0">
              <a:solidFill>
                <a:schemeClr val="bg1"/>
              </a:solidFill>
            </a:endParaRPr>
          </a:p>
        </p:txBody>
      </p:sp>
      <p:sp>
        <p:nvSpPr>
          <p:cNvPr id="22" name="TextBox 21">
            <a:extLst>
              <a:ext uri="{FF2B5EF4-FFF2-40B4-BE49-F238E27FC236}">
                <a16:creationId xmlns:a16="http://schemas.microsoft.com/office/drawing/2014/main" id="{B018EF3D-840D-355E-EDCA-325A425261DA}"/>
              </a:ext>
            </a:extLst>
          </p:cNvPr>
          <p:cNvSpPr txBox="1"/>
          <p:nvPr/>
        </p:nvSpPr>
        <p:spPr>
          <a:xfrm>
            <a:off x="362143" y="4153362"/>
            <a:ext cx="423511" cy="276999"/>
          </a:xfrm>
          <a:prstGeom prst="rect">
            <a:avLst/>
          </a:prstGeom>
          <a:noFill/>
        </p:spPr>
        <p:txBody>
          <a:bodyPr wrap="square" rtlCol="0">
            <a:spAutoFit/>
          </a:bodyPr>
          <a:lstStyle/>
          <a:p>
            <a:r>
              <a:rPr lang="en-US" sz="1200" dirty="0">
                <a:solidFill>
                  <a:schemeClr val="bg1"/>
                </a:solidFill>
              </a:rPr>
              <a:t>No</a:t>
            </a:r>
            <a:endParaRPr lang="en-US" sz="1200" b="1" dirty="0">
              <a:solidFill>
                <a:schemeClr val="bg1"/>
              </a:solidFill>
            </a:endParaRPr>
          </a:p>
        </p:txBody>
      </p:sp>
      <p:sp>
        <p:nvSpPr>
          <p:cNvPr id="23" name="TextBox 22">
            <a:extLst>
              <a:ext uri="{FF2B5EF4-FFF2-40B4-BE49-F238E27FC236}">
                <a16:creationId xmlns:a16="http://schemas.microsoft.com/office/drawing/2014/main" id="{6C5E6A1B-E4D2-0BFB-D791-C825D6075581}"/>
              </a:ext>
            </a:extLst>
          </p:cNvPr>
          <p:cNvSpPr txBox="1"/>
          <p:nvPr/>
        </p:nvSpPr>
        <p:spPr>
          <a:xfrm>
            <a:off x="3107365" y="4179498"/>
            <a:ext cx="423511" cy="276999"/>
          </a:xfrm>
          <a:prstGeom prst="rect">
            <a:avLst/>
          </a:prstGeom>
          <a:noFill/>
        </p:spPr>
        <p:txBody>
          <a:bodyPr wrap="square" rtlCol="0">
            <a:spAutoFit/>
          </a:bodyPr>
          <a:lstStyle/>
          <a:p>
            <a:r>
              <a:rPr lang="en-US" sz="1200" dirty="0">
                <a:solidFill>
                  <a:schemeClr val="bg1"/>
                </a:solidFill>
              </a:rPr>
              <a:t>Yes</a:t>
            </a:r>
            <a:endParaRPr lang="en-US" sz="1200" b="1" dirty="0">
              <a:solidFill>
                <a:schemeClr val="bg1"/>
              </a:solidFill>
            </a:endParaRPr>
          </a:p>
        </p:txBody>
      </p:sp>
    </p:spTree>
    <p:extLst>
      <p:ext uri="{BB962C8B-B14F-4D97-AF65-F5344CB8AC3E}">
        <p14:creationId xmlns:p14="http://schemas.microsoft.com/office/powerpoint/2010/main" val="3431159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a:r>
              <a:rPr lang="es-MX" sz="2400" dirty="0">
                <a:latin typeface="Times New Roman" panose="02020603050405020304" pitchFamily="18" charset="0"/>
                <a:cs typeface="Times New Roman" panose="02020603050405020304" pitchFamily="18" charset="0"/>
              </a:rPr>
              <a:t>Valor P</a:t>
            </a:r>
            <a:endParaRPr lang="es-ES" sz="2600" dirty="0">
              <a:latin typeface="Times New Roman" panose="02020603050405020304" pitchFamily="18" charset="0"/>
              <a:cs typeface="Times New Roman" panose="02020603050405020304" pitchFamily="18" charset="0"/>
            </a:endParaRPr>
          </a:p>
        </p:txBody>
      </p:sp>
      <p:sp>
        <p:nvSpPr>
          <p:cNvPr id="11" name="CuadroTexto 10">
            <a:extLst>
              <a:ext uri="{FF2B5EF4-FFF2-40B4-BE49-F238E27FC236}">
                <a16:creationId xmlns:a16="http://schemas.microsoft.com/office/drawing/2014/main" id="{F494AF8A-D47C-6E15-F0A8-B546B382BBB9}"/>
              </a:ext>
            </a:extLst>
          </p:cNvPr>
          <p:cNvSpPr txBox="1"/>
          <p:nvPr/>
        </p:nvSpPr>
        <p:spPr>
          <a:xfrm>
            <a:off x="4707107" y="430819"/>
            <a:ext cx="4694264" cy="1870512"/>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Actividad: </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Determine si las condiciones planteadas dan por resultado una prueba de cola derecha, de cola izquierda o de dos colas; después utilice la imagen adjunta para calcular el valor P, luego saque una conclusión acerca de la hipótesis nula.</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17" name="Tabla 16"/>
              <p:cNvGraphicFramePr>
                <a:graphicFrameLocks noGrp="1"/>
              </p:cNvGraphicFramePr>
              <p:nvPr>
                <p:extLst>
                  <p:ext uri="{D42A27DB-BD31-4B8C-83A1-F6EECF244321}">
                    <p14:modId xmlns:p14="http://schemas.microsoft.com/office/powerpoint/2010/main" val="4067556204"/>
                  </p:ext>
                </p:extLst>
              </p:nvPr>
            </p:nvGraphicFramePr>
            <p:xfrm>
              <a:off x="964022" y="2030063"/>
              <a:ext cx="3555727" cy="4297680"/>
            </p:xfrm>
            <a:graphic>
              <a:graphicData uri="http://schemas.openxmlformats.org/drawingml/2006/table">
                <a:tbl>
                  <a:tblPr firstRow="1" bandRow="1">
                    <a:tableStyleId>{C083E6E3-FA7D-4D7B-A595-EF9225AFEA82}</a:tableStyleId>
                  </a:tblPr>
                  <a:tblGrid>
                    <a:gridCol w="3555727">
                      <a:extLst>
                        <a:ext uri="{9D8B030D-6E8A-4147-A177-3AD203B41FA5}">
                          <a16:colId xmlns:a16="http://schemas.microsoft.com/office/drawing/2014/main" val="566748248"/>
                        </a:ext>
                      </a:extLst>
                    </a:gridCol>
                  </a:tblGrid>
                  <a:tr h="370840">
                    <a:tc>
                      <a:txBody>
                        <a:bodyPr/>
                        <a:lstStyle/>
                        <a:p>
                          <a:pPr algn="just"/>
                          <a:endParaRPr lang="es-MX" sz="1800" b="0" i="1" dirty="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endParaRPr>
                        </a:p>
                        <a:p>
                          <a:pPr algn="just"/>
                          <a:r>
                            <a:rPr lang="es-MX" sz="1800" b="0" dirty="0">
                              <a:solidFill>
                                <a:schemeClr val="bg1"/>
                              </a:solidFill>
                              <a:effectLst/>
                              <a:latin typeface="Times New Roman" panose="02020603050405020304" pitchFamily="18" charset="0"/>
                              <a:ea typeface="Times New Roman" panose="02020603050405020304" pitchFamily="18" charset="0"/>
                            </a:rPr>
                            <a:t>Se utiliza un nivel de significancia de </a:t>
                          </a:r>
                          <a14:m>
                            <m:oMath xmlns:m="http://schemas.openxmlformats.org/officeDocument/2006/math">
                              <m:r>
                                <a:rPr lang="es-MX" sz="1800" b="0"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𝛼</m:t>
                              </m:r>
                              <m:r>
                                <a:rPr lang="es-MX" sz="1800" b="0"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=0.05</m:t>
                              </m:r>
                            </m:oMath>
                          </a14:m>
                          <a:r>
                            <a:rPr lang="es-MX" sz="1800" b="0" dirty="0">
                              <a:solidFill>
                                <a:schemeClr val="bg1"/>
                              </a:solidFill>
                              <a:effectLst/>
                              <a:latin typeface="Times New Roman" panose="02020603050405020304" pitchFamily="18" charset="0"/>
                              <a:ea typeface="Times New Roman" panose="02020603050405020304" pitchFamily="18" charset="0"/>
                            </a:rPr>
                            <a:t> para probar la aseveración de que </a:t>
                          </a:r>
                          <a14:m>
                            <m:oMath xmlns:m="http://schemas.openxmlformats.org/officeDocument/2006/math">
                              <m:r>
                                <a:rPr lang="es-MX" sz="1800" b="0"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𝑝</m:t>
                              </m:r>
                              <m:r>
                                <a:rPr lang="es-MX" sz="1800" b="0"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&gt;0.25</m:t>
                              </m:r>
                              <m:r>
                                <a:rPr lang="es-MX" sz="1800" b="0" i="0"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s-MX" sz="1800" b="0" dirty="0">
                              <a:solidFill>
                                <a:schemeClr val="bg1"/>
                              </a:solidFill>
                              <a:effectLst/>
                              <a:latin typeface="Times New Roman" panose="02020603050405020304" pitchFamily="18" charset="0"/>
                              <a:ea typeface="Times New Roman" panose="02020603050405020304" pitchFamily="18" charset="0"/>
                            </a:rPr>
                            <a:t> Considera que los datos muestrales dan por resultado un estadístico de prueba de </a:t>
                          </a:r>
                          <a14:m>
                            <m:oMath xmlns:m="http://schemas.openxmlformats.org/officeDocument/2006/math">
                              <m:r>
                                <a:rPr lang="es-MX" sz="1800" b="0"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𝑧</m:t>
                              </m:r>
                              <m:r>
                                <a:rPr lang="es-MX" sz="1800" b="0"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=1.18</m:t>
                              </m:r>
                            </m:oMath>
                          </a14:m>
                          <a:r>
                            <a:rPr lang="es-MX" sz="1800" b="0" dirty="0">
                              <a:solidFill>
                                <a:schemeClr val="bg1"/>
                              </a:solidFill>
                              <a:effectLst/>
                              <a:latin typeface="Times New Roman" panose="02020603050405020304" pitchFamily="18" charset="0"/>
                              <a:ea typeface="Times New Roman" panose="02020603050405020304" pitchFamily="18" charset="0"/>
                            </a:rPr>
                            <a:t>.</a:t>
                          </a:r>
                        </a:p>
                      </a:txBody>
                      <a:tcPr/>
                    </a:tc>
                    <a:extLst>
                      <a:ext uri="{0D108BD9-81ED-4DB2-BD59-A6C34878D82A}">
                        <a16:rowId xmlns:a16="http://schemas.microsoft.com/office/drawing/2014/main" val="3341491101"/>
                      </a:ext>
                    </a:extLst>
                  </a:tr>
                  <a:tr h="370840">
                    <a:tc>
                      <a:txBody>
                        <a:bodyPr/>
                        <a:lstStyle/>
                        <a:p>
                          <a:pPr algn="just"/>
                          <a:endParaRPr lang="es-MX" sz="1800" b="0" i="1" dirty="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endParaRPr>
                        </a:p>
                        <a:p>
                          <a:pPr algn="just"/>
                          <a:r>
                            <a:rPr lang="es-MX" sz="1800" b="0" dirty="0">
                              <a:solidFill>
                                <a:schemeClr val="bg1"/>
                              </a:solidFill>
                              <a:effectLst/>
                              <a:latin typeface="Times New Roman" panose="02020603050405020304" pitchFamily="18" charset="0"/>
                              <a:ea typeface="Times New Roman" panose="02020603050405020304" pitchFamily="18" charset="0"/>
                            </a:rPr>
                            <a:t>Se utiliza un nivel de significancia de </a:t>
                          </a:r>
                          <a14:m>
                            <m:oMath xmlns:m="http://schemas.openxmlformats.org/officeDocument/2006/math">
                              <m:r>
                                <a:rPr lang="es-MX" sz="1800" b="0"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𝛼</m:t>
                              </m:r>
                              <m:r>
                                <a:rPr lang="es-MX" sz="1800" b="0"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=0.05</m:t>
                              </m:r>
                            </m:oMath>
                          </a14:m>
                          <a:r>
                            <a:rPr lang="es-MX" sz="1800" b="0" dirty="0">
                              <a:solidFill>
                                <a:schemeClr val="bg1"/>
                              </a:solidFill>
                              <a:effectLst/>
                              <a:latin typeface="Times New Roman" panose="02020603050405020304" pitchFamily="18" charset="0"/>
                              <a:ea typeface="Times New Roman" panose="02020603050405020304" pitchFamily="18" charset="0"/>
                            </a:rPr>
                            <a:t> para probar la aseveración de que </a:t>
                          </a:r>
                          <a14:m>
                            <m:oMath xmlns:m="http://schemas.openxmlformats.org/officeDocument/2006/math">
                              <m:r>
                                <a:rPr lang="es-MX" sz="1800" b="0"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𝑝</m:t>
                              </m:r>
                              <m:r>
                                <a:rPr lang="es-MX" sz="1800" b="0"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≠0.25</m:t>
                              </m:r>
                            </m:oMath>
                          </a14:m>
                          <a:r>
                            <a:rPr lang="es-MX" sz="1800" b="0" dirty="0">
                              <a:solidFill>
                                <a:schemeClr val="bg1"/>
                              </a:solidFill>
                              <a:effectLst/>
                              <a:latin typeface="Times New Roman" panose="02020603050405020304" pitchFamily="18" charset="0"/>
                              <a:ea typeface="Times New Roman" panose="02020603050405020304" pitchFamily="18" charset="0"/>
                            </a:rPr>
                            <a:t>, y los datos </a:t>
                          </a:r>
                          <a:r>
                            <a:rPr lang="es-MX" sz="1800" b="0" dirty="0" err="1">
                              <a:solidFill>
                                <a:schemeClr val="bg1"/>
                              </a:solidFill>
                              <a:effectLst/>
                              <a:latin typeface="Times New Roman" panose="02020603050405020304" pitchFamily="18" charset="0"/>
                              <a:ea typeface="Times New Roman" panose="02020603050405020304" pitchFamily="18" charset="0"/>
                            </a:rPr>
                            <a:t>muestrales</a:t>
                          </a:r>
                          <a:r>
                            <a:rPr lang="es-MX" sz="1800" b="0" dirty="0">
                              <a:solidFill>
                                <a:schemeClr val="bg1"/>
                              </a:solidFill>
                              <a:effectLst/>
                              <a:latin typeface="Times New Roman" panose="02020603050405020304" pitchFamily="18" charset="0"/>
                              <a:ea typeface="Times New Roman" panose="02020603050405020304" pitchFamily="18" charset="0"/>
                            </a:rPr>
                            <a:t> dan por resultado un estadístico de prueba de </a:t>
                          </a:r>
                          <a14:m>
                            <m:oMath xmlns:m="http://schemas.openxmlformats.org/officeDocument/2006/math">
                              <m:r>
                                <a:rPr lang="es-MX" sz="1800" b="0"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𝑧</m:t>
                              </m:r>
                              <m:r>
                                <a:rPr lang="es-MX" sz="1800" b="0"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=2.34</m:t>
                              </m:r>
                            </m:oMath>
                          </a14:m>
                          <a:r>
                            <a:rPr lang="es-MX" sz="1800" b="0" dirty="0">
                              <a:solidFill>
                                <a:schemeClr val="bg1"/>
                              </a:solidFill>
                              <a:effectLst/>
                              <a:latin typeface="Times New Roman" panose="02020603050405020304" pitchFamily="18" charset="0"/>
                              <a:ea typeface="Times New Roman" panose="02020603050405020304" pitchFamily="18" charset="0"/>
                            </a:rPr>
                            <a:t>.</a:t>
                          </a:r>
                        </a:p>
                        <a:p>
                          <a:pPr algn="just"/>
                          <a:endParaRPr lang="es-MX" b="0" dirty="0">
                            <a:solidFill>
                              <a:schemeClr val="bg1"/>
                            </a:solidFill>
                          </a:endParaRPr>
                        </a:p>
                      </a:txBody>
                      <a:tcPr/>
                    </a:tc>
                    <a:extLst>
                      <a:ext uri="{0D108BD9-81ED-4DB2-BD59-A6C34878D82A}">
                        <a16:rowId xmlns:a16="http://schemas.microsoft.com/office/drawing/2014/main" val="3302177774"/>
                      </a:ext>
                    </a:extLst>
                  </a:tr>
                </a:tbl>
              </a:graphicData>
            </a:graphic>
          </p:graphicFrame>
        </mc:Choice>
        <mc:Fallback xmlns="">
          <p:graphicFrame>
            <p:nvGraphicFramePr>
              <p:cNvPr id="17" name="Tabla 16"/>
              <p:cNvGraphicFramePr>
                <a:graphicFrameLocks noGrp="1"/>
              </p:cNvGraphicFramePr>
              <p:nvPr>
                <p:extLst>
                  <p:ext uri="{D42A27DB-BD31-4B8C-83A1-F6EECF244321}">
                    <p14:modId xmlns:p14="http://schemas.microsoft.com/office/powerpoint/2010/main" val="4067556204"/>
                  </p:ext>
                </p:extLst>
              </p:nvPr>
            </p:nvGraphicFramePr>
            <p:xfrm>
              <a:off x="964022" y="2030063"/>
              <a:ext cx="3555727" cy="4297680"/>
            </p:xfrm>
            <a:graphic>
              <a:graphicData uri="http://schemas.openxmlformats.org/drawingml/2006/table">
                <a:tbl>
                  <a:tblPr firstRow="1" bandRow="1">
                    <a:tableStyleId>{C083E6E3-FA7D-4D7B-A595-EF9225AFEA82}</a:tableStyleId>
                  </a:tblPr>
                  <a:tblGrid>
                    <a:gridCol w="3555727">
                      <a:extLst>
                        <a:ext uri="{9D8B030D-6E8A-4147-A177-3AD203B41FA5}">
                          <a16:colId xmlns:a16="http://schemas.microsoft.com/office/drawing/2014/main" val="566748248"/>
                        </a:ext>
                      </a:extLst>
                    </a:gridCol>
                  </a:tblGrid>
                  <a:tr h="2011680">
                    <a:tc>
                      <a:txBody>
                        <a:bodyPr/>
                        <a:lstStyle/>
                        <a:p>
                          <a:endParaRPr lang="es-MX"/>
                        </a:p>
                      </a:txBody>
                      <a:tcPr>
                        <a:blipFill>
                          <a:blip r:embed="rId3"/>
                          <a:stretch>
                            <a:fillRect t="-606" r="-171" b="-114242"/>
                          </a:stretch>
                        </a:blipFill>
                      </a:tcPr>
                    </a:tc>
                    <a:extLst>
                      <a:ext uri="{0D108BD9-81ED-4DB2-BD59-A6C34878D82A}">
                        <a16:rowId xmlns:a16="http://schemas.microsoft.com/office/drawing/2014/main" val="3341491101"/>
                      </a:ext>
                    </a:extLst>
                  </a:tr>
                  <a:tr h="2286000">
                    <a:tc>
                      <a:txBody>
                        <a:bodyPr/>
                        <a:lstStyle/>
                        <a:p>
                          <a:endParaRPr lang="es-MX"/>
                        </a:p>
                      </a:txBody>
                      <a:tcPr>
                        <a:blipFill>
                          <a:blip r:embed="rId3"/>
                          <a:stretch>
                            <a:fillRect t="-88298" r="-171" b="-266"/>
                          </a:stretch>
                        </a:blipFill>
                      </a:tcPr>
                    </a:tc>
                    <a:extLst>
                      <a:ext uri="{0D108BD9-81ED-4DB2-BD59-A6C34878D82A}">
                        <a16:rowId xmlns:a16="http://schemas.microsoft.com/office/drawing/2014/main" val="3302177774"/>
                      </a:ext>
                    </a:extLst>
                  </a:tr>
                </a:tbl>
              </a:graphicData>
            </a:graphic>
          </p:graphicFrame>
        </mc:Fallback>
      </mc:AlternateContent>
      <p:pic>
        <p:nvPicPr>
          <p:cNvPr id="3" name="Imagen 2"/>
          <p:cNvPicPr>
            <a:picLocks noChangeAspect="1"/>
          </p:cNvPicPr>
          <p:nvPr/>
        </p:nvPicPr>
        <p:blipFill>
          <a:blip r:embed="rId4"/>
          <a:stretch>
            <a:fillRect/>
          </a:stretch>
        </p:blipFill>
        <p:spPr>
          <a:xfrm>
            <a:off x="5408023" y="2531078"/>
            <a:ext cx="3993348" cy="1771408"/>
          </a:xfrm>
          <a:prstGeom prst="rect">
            <a:avLst/>
          </a:prstGeom>
        </p:spPr>
      </p:pic>
      <p:pic>
        <p:nvPicPr>
          <p:cNvPr id="4" name="Imagen 3"/>
          <p:cNvPicPr>
            <a:picLocks noChangeAspect="1"/>
          </p:cNvPicPr>
          <p:nvPr/>
        </p:nvPicPr>
        <p:blipFill>
          <a:blip r:embed="rId5"/>
          <a:stretch>
            <a:fillRect/>
          </a:stretch>
        </p:blipFill>
        <p:spPr>
          <a:xfrm>
            <a:off x="6863034" y="4568188"/>
            <a:ext cx="3743325" cy="1647825"/>
          </a:xfrm>
          <a:prstGeom prst="rect">
            <a:avLst/>
          </a:prstGeom>
        </p:spPr>
      </p:pic>
      <p:cxnSp>
        <p:nvCxnSpPr>
          <p:cNvPr id="6" name="Conector recto de flecha 5"/>
          <p:cNvCxnSpPr/>
          <p:nvPr/>
        </p:nvCxnSpPr>
        <p:spPr>
          <a:xfrm>
            <a:off x="4519749" y="3291840"/>
            <a:ext cx="88827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 name="Conector recto de flecha 7"/>
          <p:cNvCxnSpPr/>
          <p:nvPr/>
        </p:nvCxnSpPr>
        <p:spPr>
          <a:xfrm>
            <a:off x="4519749" y="5392100"/>
            <a:ext cx="216843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47313C5B-6358-A8A7-01A4-0892B8BAE163}"/>
              </a:ext>
            </a:extLst>
          </p:cNvPr>
          <p:cNvSpPr txBox="1"/>
          <p:nvPr/>
        </p:nvSpPr>
        <p:spPr>
          <a:xfrm>
            <a:off x="6447329" y="3994793"/>
            <a:ext cx="4313714" cy="276999"/>
          </a:xfrm>
          <a:prstGeom prst="rect">
            <a:avLst/>
          </a:prstGeom>
          <a:noFill/>
        </p:spPr>
        <p:txBody>
          <a:bodyPr wrap="square" rtlCol="0">
            <a:spAutoFit/>
          </a:bodyPr>
          <a:lstStyle/>
          <a:p>
            <a:r>
              <a:rPr lang="en-US" sz="1200" b="1" dirty="0">
                <a:solidFill>
                  <a:schemeClr val="bg1"/>
                </a:solidFill>
              </a:rPr>
              <a:t>Si la </a:t>
            </a:r>
            <a:r>
              <a:rPr lang="en-US" sz="1200" b="1" dirty="0" err="1">
                <a:solidFill>
                  <a:schemeClr val="bg1"/>
                </a:solidFill>
              </a:rPr>
              <a:t>rechazmos</a:t>
            </a:r>
            <a:r>
              <a:rPr lang="en-US" sz="1200" b="1" dirty="0">
                <a:solidFill>
                  <a:schemeClr val="bg1"/>
                </a:solidFill>
              </a:rPr>
              <a:t> </a:t>
            </a:r>
            <a:r>
              <a:rPr lang="en-US" sz="1200" b="1" dirty="0" err="1">
                <a:solidFill>
                  <a:schemeClr val="bg1"/>
                </a:solidFill>
              </a:rPr>
              <a:t>estariamos</a:t>
            </a:r>
            <a:r>
              <a:rPr lang="en-US" sz="1200" b="1" dirty="0">
                <a:solidFill>
                  <a:schemeClr val="bg1"/>
                </a:solidFill>
              </a:rPr>
              <a:t> </a:t>
            </a:r>
            <a:r>
              <a:rPr lang="en-US" sz="1200" b="1" dirty="0" err="1">
                <a:solidFill>
                  <a:schemeClr val="bg1"/>
                </a:solidFill>
              </a:rPr>
              <a:t>cometiendo</a:t>
            </a:r>
            <a:r>
              <a:rPr lang="en-US" sz="1200" b="1" dirty="0">
                <a:solidFill>
                  <a:schemeClr val="bg1"/>
                </a:solidFill>
              </a:rPr>
              <a:t> </a:t>
            </a:r>
            <a:r>
              <a:rPr lang="en-US" sz="1200" b="1" dirty="0" err="1">
                <a:solidFill>
                  <a:schemeClr val="bg1"/>
                </a:solidFill>
              </a:rPr>
              <a:t>el</a:t>
            </a:r>
            <a:r>
              <a:rPr lang="en-US" sz="1200" b="1" dirty="0">
                <a:solidFill>
                  <a:schemeClr val="bg1"/>
                </a:solidFill>
              </a:rPr>
              <a:t> Error tipo I</a:t>
            </a:r>
          </a:p>
        </p:txBody>
      </p:sp>
      <p:sp>
        <p:nvSpPr>
          <p:cNvPr id="10" name="TextBox 9">
            <a:extLst>
              <a:ext uri="{FF2B5EF4-FFF2-40B4-BE49-F238E27FC236}">
                <a16:creationId xmlns:a16="http://schemas.microsoft.com/office/drawing/2014/main" id="{F63B7D36-97BE-CA7A-257E-66D649ECF17C}"/>
              </a:ext>
            </a:extLst>
          </p:cNvPr>
          <p:cNvSpPr txBox="1"/>
          <p:nvPr/>
        </p:nvSpPr>
        <p:spPr>
          <a:xfrm>
            <a:off x="10019899" y="5898753"/>
            <a:ext cx="2058200" cy="276999"/>
          </a:xfrm>
          <a:prstGeom prst="rect">
            <a:avLst/>
          </a:prstGeom>
          <a:noFill/>
        </p:spPr>
        <p:txBody>
          <a:bodyPr wrap="square" rtlCol="0">
            <a:spAutoFit/>
          </a:bodyPr>
          <a:lstStyle/>
          <a:p>
            <a:r>
              <a:rPr lang="en-US" sz="1200" b="1" dirty="0">
                <a:solidFill>
                  <a:schemeClr val="bg1"/>
                </a:solidFill>
              </a:rPr>
              <a:t>En favor de la alternativa H</a:t>
            </a:r>
            <a:r>
              <a:rPr lang="en-US" sz="900" b="1" dirty="0">
                <a:solidFill>
                  <a:schemeClr val="bg1"/>
                </a:solidFill>
              </a:rPr>
              <a:t>1</a:t>
            </a:r>
            <a:r>
              <a:rPr lang="en-US" sz="1200" b="1" dirty="0">
                <a:solidFill>
                  <a:schemeClr val="bg1"/>
                </a:solidFill>
              </a:rPr>
              <a:t> </a:t>
            </a:r>
          </a:p>
        </p:txBody>
      </p:sp>
      <p:sp>
        <p:nvSpPr>
          <p:cNvPr id="12" name="TextBox 11">
            <a:extLst>
              <a:ext uri="{FF2B5EF4-FFF2-40B4-BE49-F238E27FC236}">
                <a16:creationId xmlns:a16="http://schemas.microsoft.com/office/drawing/2014/main" id="{73A2740E-75E9-0247-4834-C7866B25D6D1}"/>
              </a:ext>
            </a:extLst>
          </p:cNvPr>
          <p:cNvSpPr txBox="1"/>
          <p:nvPr/>
        </p:nvSpPr>
        <p:spPr>
          <a:xfrm>
            <a:off x="7404697" y="6216013"/>
            <a:ext cx="2739992" cy="553998"/>
          </a:xfrm>
          <a:prstGeom prst="rect">
            <a:avLst/>
          </a:prstGeom>
          <a:noFill/>
        </p:spPr>
        <p:txBody>
          <a:bodyPr wrap="square" rtlCol="0">
            <a:spAutoFit/>
          </a:bodyPr>
          <a:lstStyle/>
          <a:p>
            <a:r>
              <a:rPr lang="en-US" dirty="0">
                <a:solidFill>
                  <a:srgbClr val="00B0F0"/>
                </a:solidFill>
              </a:rPr>
              <a:t>Ver código “Actividad 7”</a:t>
            </a:r>
          </a:p>
          <a:p>
            <a:r>
              <a:rPr lang="en-US" sz="1200" dirty="0">
                <a:solidFill>
                  <a:srgbClr val="00B0F0"/>
                </a:solidFill>
              </a:rPr>
              <a:t>9 - Hipótesis Estadísticas Resuelta.rmd</a:t>
            </a:r>
          </a:p>
        </p:txBody>
      </p:sp>
    </p:spTree>
    <p:extLst>
      <p:ext uri="{BB962C8B-B14F-4D97-AF65-F5344CB8AC3E}">
        <p14:creationId xmlns:p14="http://schemas.microsoft.com/office/powerpoint/2010/main" val="1483670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1000"/>
                                        <p:tgtEl>
                                          <p:spTgt spid="17"/>
                                        </p:tgtEl>
                                      </p:cBhvr>
                                    </p:animEffect>
                                    <p:anim calcmode="lin" valueType="num">
                                      <p:cBhvr>
                                        <p:cTn id="15" dur="1000" fill="hold"/>
                                        <p:tgtEl>
                                          <p:spTgt spid="17"/>
                                        </p:tgtEl>
                                        <p:attrNameLst>
                                          <p:attrName>ppt_x</p:attrName>
                                        </p:attrNameLst>
                                      </p:cBhvr>
                                      <p:tavLst>
                                        <p:tav tm="0">
                                          <p:val>
                                            <p:strVal val="#ppt_x"/>
                                          </p:val>
                                        </p:tav>
                                        <p:tav tm="100000">
                                          <p:val>
                                            <p:strVal val="#ppt_x"/>
                                          </p:val>
                                        </p:tav>
                                      </p:tavLst>
                                    </p:anim>
                                    <p:anim calcmode="lin" valueType="num">
                                      <p:cBhvr>
                                        <p:cTn id="16"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barn(inVertical)">
                                      <p:cBhvr>
                                        <p:cTn id="21" dur="5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6" presetClass="entr" presetSubtype="16" fill="hold" nodeType="click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circle(in)">
                                      <p:cBhvr>
                                        <p:cTn id="26" dur="2000"/>
                                        <p:tgtEl>
                                          <p:spTgt spid="3"/>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barn(inVertical)">
                                      <p:cBhvr>
                                        <p:cTn id="31" dur="500"/>
                                        <p:tgtEl>
                                          <p:spTgt spid="8"/>
                                        </p:tgtEl>
                                      </p:cBhvr>
                                    </p:animEffect>
                                  </p:childTnLst>
                                </p:cTn>
                              </p:par>
                            </p:childTnLst>
                          </p:cTn>
                        </p:par>
                      </p:childTnLst>
                    </p:cTn>
                  </p:par>
                  <p:par>
                    <p:cTn id="32" fill="hold">
                      <p:stCondLst>
                        <p:cond delay="indefinite"/>
                      </p:stCondLst>
                      <p:childTnLst>
                        <p:par>
                          <p:cTn id="33" fill="hold">
                            <p:stCondLst>
                              <p:cond delay="0"/>
                            </p:stCondLst>
                            <p:childTnLst>
                              <p:par>
                                <p:cTn id="34" presetID="6" presetClass="entr" presetSubtype="16" fill="hold" nodeType="click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circle(in)">
                                      <p:cBhvr>
                                        <p:cTn id="36"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1" y="879063"/>
            <a:ext cx="8558801" cy="610863"/>
          </a:xfrm>
        </p:spPr>
        <p:txBody>
          <a:bodyPr rtlCol="0">
            <a:noAutofit/>
          </a:bodyPr>
          <a:lstStyle/>
          <a:p>
            <a:pPr algn="just"/>
            <a:r>
              <a:rPr lang="es-MX" sz="2400" dirty="0">
                <a:latin typeface="Times New Roman" panose="02020603050405020304" pitchFamily="18" charset="0"/>
                <a:cs typeface="Times New Roman" panose="02020603050405020304" pitchFamily="18" charset="0"/>
              </a:rPr>
              <a:t>Decisiones y Conclusiones</a:t>
            </a:r>
            <a:endParaRPr lang="es-ES" sz="2600" dirty="0">
              <a:latin typeface="Times New Roman" panose="02020603050405020304" pitchFamily="18" charset="0"/>
              <a:cs typeface="Times New Roman" panose="02020603050405020304" pitchFamily="18" charset="0"/>
            </a:endParaRPr>
          </a:p>
        </p:txBody>
      </p:sp>
      <p:sp>
        <p:nvSpPr>
          <p:cNvPr id="11" name="CuadroTexto 10">
            <a:extLst>
              <a:ext uri="{FF2B5EF4-FFF2-40B4-BE49-F238E27FC236}">
                <a16:creationId xmlns:a16="http://schemas.microsoft.com/office/drawing/2014/main" id="{F494AF8A-D47C-6E15-F0A8-B546B382BBB9}"/>
              </a:ext>
            </a:extLst>
          </p:cNvPr>
          <p:cNvSpPr txBox="1"/>
          <p:nvPr/>
        </p:nvSpPr>
        <p:spPr>
          <a:xfrm>
            <a:off x="964022" y="2277572"/>
            <a:ext cx="9332916" cy="1365758"/>
          </a:xfrm>
          <a:prstGeom prst="rect">
            <a:avLst/>
          </a:prstGeom>
          <a:noFill/>
          <a:ln>
            <a:solidFill>
              <a:schemeClr val="tx1">
                <a:lumMod val="85000"/>
              </a:schemeClr>
            </a:solidFill>
          </a:ln>
        </p:spPr>
        <p:txBody>
          <a:bodyPr wrap="square" rtlCol="0">
            <a:spAutoFit/>
          </a:bodyPr>
          <a:lstStyle/>
          <a:p>
            <a:pPr marL="285750"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El procedimiento convencional de prueba de hipótesis requiere siempre probemos la hipótesis nula, de manera que nuestra conclusión inicial siempre será una de las siguientes:</a:t>
            </a:r>
            <a:endParaRPr lang="es-MX" sz="160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marL="800100" lvl="1" indent="-342900" algn="just">
              <a:lnSpc>
                <a:spcPct val="107000"/>
              </a:lnSpc>
              <a:buFont typeface="+mj-lt"/>
              <a:buAutoNum type="arabicPeriod"/>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Rechazo la hipótesis nula</a:t>
            </a:r>
            <a:endParaRPr lang="es-MX" sz="160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marL="800100" lvl="1" indent="-342900" algn="just">
              <a:lnSpc>
                <a:spcPct val="107000"/>
              </a:lnSpc>
              <a:spcAft>
                <a:spcPts val="800"/>
              </a:spcAft>
              <a:buFont typeface="+mj-lt"/>
              <a:buAutoNum type="arabicPeriod"/>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No rechazo la hipótesis nula</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CuadroTexto 6">
            <a:extLst>
              <a:ext uri="{FF2B5EF4-FFF2-40B4-BE49-F238E27FC236}">
                <a16:creationId xmlns:a16="http://schemas.microsoft.com/office/drawing/2014/main" id="{F494AF8A-D47C-6E15-F0A8-B546B382BBB9}"/>
              </a:ext>
            </a:extLst>
          </p:cNvPr>
          <p:cNvSpPr txBox="1"/>
          <p:nvPr/>
        </p:nvSpPr>
        <p:spPr>
          <a:xfrm>
            <a:off x="964021" y="3947574"/>
            <a:ext cx="9332916" cy="2756396"/>
          </a:xfrm>
          <a:prstGeom prst="rect">
            <a:avLst/>
          </a:prstGeom>
          <a:noFill/>
          <a:ln>
            <a:solidFill>
              <a:schemeClr val="tx1">
                <a:lumMod val="85000"/>
              </a:schemeClr>
            </a:solidFill>
          </a:ln>
        </p:spPr>
        <p:txBody>
          <a:bodyPr wrap="square" rtlCol="0">
            <a:spAutoFit/>
          </a:bodyPr>
          <a:lstStyle/>
          <a:p>
            <a:pPr marL="285750"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La decisión de rechazar o no rechazar la hipótesis nula suele realizarse por medio del método tradicional de prueba de hipótesis de tres maneras:</a:t>
            </a:r>
          </a:p>
          <a:p>
            <a:pPr marL="342900" indent="-342900" algn="just">
              <a:lnSpc>
                <a:spcPct val="107000"/>
              </a:lnSpc>
              <a:spcAft>
                <a:spcPts val="800"/>
              </a:spcAft>
              <a:buFont typeface="+mj-lt"/>
              <a:buAutoNum type="arabicPeriod"/>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El estadístico de </a:t>
            </a:r>
            <a:r>
              <a:rPr lang="es-MX" dirty="0" err="1">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pueba</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valor critico, nivel de significancia</a:t>
            </a:r>
          </a:p>
          <a:p>
            <a:pPr marL="342900" indent="-342900" algn="just">
              <a:lnSpc>
                <a:spcPct val="107000"/>
              </a:lnSpc>
              <a:spcAft>
                <a:spcPts val="800"/>
              </a:spcAft>
              <a:buFont typeface="+mj-lt"/>
              <a:buAutoNum type="arabicPeriod"/>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El método del valor P (p vs </a:t>
            </a:r>
            <a:r>
              <a:rPr lang="es-MX" dirty="0" err="1">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alpha</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a:t>
            </a:r>
          </a:p>
          <a:p>
            <a:pPr marL="342900" indent="-342900" algn="just">
              <a:lnSpc>
                <a:spcPct val="107000"/>
              </a:lnSpc>
              <a:spcAft>
                <a:spcPts val="800"/>
              </a:spcAft>
              <a:buFont typeface="+mj-lt"/>
              <a:buAutoNum type="arabicPeriod"/>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La decisión puede basarse en intervalos de confianza: Si yo calculo el intervalo de confianza para el parámetro poblacional y resulta que el parámetro aseverado en la hipótesis nula esta dentro del intervalo de confianza, no se rechaza la hipótesis nula porque cayo en el intervalo de confianza.</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81161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1" y="879063"/>
            <a:ext cx="8558801" cy="610863"/>
          </a:xfrm>
        </p:spPr>
        <p:txBody>
          <a:bodyPr rtlCol="0">
            <a:noAutofit/>
          </a:bodyPr>
          <a:lstStyle/>
          <a:p>
            <a:pPr algn="just"/>
            <a:r>
              <a:rPr lang="es-MX" sz="2400" dirty="0">
                <a:latin typeface="Times New Roman" panose="02020603050405020304" pitchFamily="18" charset="0"/>
                <a:cs typeface="Times New Roman" panose="02020603050405020304" pitchFamily="18" charset="0"/>
              </a:rPr>
              <a:t>Decisiones y Conclusiones</a:t>
            </a:r>
            <a:endParaRPr lang="es-ES" sz="26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graphicFrame>
            <p:nvGraphicFramePr>
              <p:cNvPr id="3" name="Tabla 2"/>
              <p:cNvGraphicFramePr>
                <a:graphicFrameLocks noGrp="1"/>
              </p:cNvGraphicFramePr>
              <p:nvPr>
                <p:extLst>
                  <p:ext uri="{D42A27DB-BD31-4B8C-83A1-F6EECF244321}">
                    <p14:modId xmlns:p14="http://schemas.microsoft.com/office/powerpoint/2010/main" val="1269852581"/>
                  </p:ext>
                </p:extLst>
              </p:nvPr>
            </p:nvGraphicFramePr>
            <p:xfrm>
              <a:off x="964021" y="2136808"/>
              <a:ext cx="10287912" cy="4617025"/>
            </p:xfrm>
            <a:graphic>
              <a:graphicData uri="http://schemas.openxmlformats.org/drawingml/2006/table">
                <a:tbl>
                  <a:tblPr firstRow="1" bandRow="1">
                    <a:tableStyleId>{0505E3EF-67EA-436B-97B2-0124C06EBD24}</a:tableStyleId>
                  </a:tblPr>
                  <a:tblGrid>
                    <a:gridCol w="3496053">
                      <a:extLst>
                        <a:ext uri="{9D8B030D-6E8A-4147-A177-3AD203B41FA5}">
                          <a16:colId xmlns:a16="http://schemas.microsoft.com/office/drawing/2014/main" val="2380006463"/>
                        </a:ext>
                      </a:extLst>
                    </a:gridCol>
                    <a:gridCol w="6791859">
                      <a:extLst>
                        <a:ext uri="{9D8B030D-6E8A-4147-A177-3AD203B41FA5}">
                          <a16:colId xmlns:a16="http://schemas.microsoft.com/office/drawing/2014/main" val="3610993370"/>
                        </a:ext>
                      </a:extLst>
                    </a:gridCol>
                  </a:tblGrid>
                  <a:tr h="1739935">
                    <a:tc>
                      <a:txBody>
                        <a:bodyPr/>
                        <a:lstStyle/>
                        <a:p>
                          <a:pPr algn="ctr"/>
                          <a:endParaRPr lang="es-MX" b="1" dirty="0">
                            <a:latin typeface="Times New Roman" panose="02020603050405020304" pitchFamily="18" charset="0"/>
                            <a:cs typeface="Times New Roman" panose="02020603050405020304" pitchFamily="18" charset="0"/>
                          </a:endParaRPr>
                        </a:p>
                        <a:p>
                          <a:pPr algn="ctr"/>
                          <a:r>
                            <a:rPr lang="es-MX" b="1" dirty="0">
                              <a:latin typeface="Times New Roman" panose="02020603050405020304" pitchFamily="18" charset="0"/>
                              <a:cs typeface="Times New Roman" panose="02020603050405020304" pitchFamily="18" charset="0"/>
                            </a:rPr>
                            <a:t>Método Tradicional</a:t>
                          </a:r>
                        </a:p>
                      </a:txBody>
                      <a:tcPr/>
                    </a:tc>
                    <a:tc>
                      <a:txBody>
                        <a:bodyPr/>
                        <a:lstStyle/>
                        <a:p>
                          <a:pPr algn="just">
                            <a:lnSpc>
                              <a:spcPct val="107000"/>
                            </a:lnSpc>
                            <a:spcAft>
                              <a:spcPts val="800"/>
                            </a:spcAft>
                          </a:pPr>
                          <a:r>
                            <a:rPr lang="es-MX" sz="1800" b="0" dirty="0">
                              <a:effectLst/>
                              <a:latin typeface="Times New Roman" panose="02020603050405020304" pitchFamily="18" charset="0"/>
                              <a:ea typeface="Times New Roman" panose="02020603050405020304" pitchFamily="18" charset="0"/>
                              <a:cs typeface="Times New Roman" panose="02020603050405020304" pitchFamily="18" charset="0"/>
                            </a:rPr>
                            <a:t>Rechace </a:t>
                          </a:r>
                          <a14:m>
                            <m:oMath xmlns:m="http://schemas.openxmlformats.org/officeDocument/2006/math">
                              <m:sSub>
                                <m:sSubPr>
                                  <m:ctrlPr>
                                    <a:rPr lang="es-MX" sz="1800" b="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MX" sz="1800" b="0" i="1">
                                      <a:effectLst/>
                                      <a:latin typeface="Cambria Math" panose="02040503050406030204" pitchFamily="18" charset="0"/>
                                      <a:ea typeface="Times New Roman" panose="02020603050405020304" pitchFamily="18" charset="0"/>
                                      <a:cs typeface="Times New Roman" panose="02020603050405020304" pitchFamily="18" charset="0"/>
                                    </a:rPr>
                                    <m:t>𝐻</m:t>
                                  </m:r>
                                </m:e>
                                <m:sub>
                                  <m:r>
                                    <a:rPr lang="es-MX" sz="1800" b="0" i="1">
                                      <a:effectLst/>
                                      <a:latin typeface="Cambria Math" panose="02040503050406030204" pitchFamily="18" charset="0"/>
                                      <a:ea typeface="Times New Roman" panose="02020603050405020304" pitchFamily="18" charset="0"/>
                                      <a:cs typeface="Times New Roman" panose="02020603050405020304" pitchFamily="18" charset="0"/>
                                    </a:rPr>
                                    <m:t>0</m:t>
                                  </m:r>
                                </m:sub>
                              </m:sSub>
                            </m:oMath>
                          </a14:m>
                          <a:r>
                            <a:rPr lang="es-MX" sz="1800" b="0" dirty="0">
                              <a:effectLst/>
                              <a:latin typeface="Times New Roman" panose="02020603050405020304" pitchFamily="18" charset="0"/>
                              <a:ea typeface="Times New Roman" panose="02020603050405020304" pitchFamily="18" charset="0"/>
                              <a:cs typeface="Times New Roman" panose="02020603050405020304" pitchFamily="18" charset="0"/>
                            </a:rPr>
                            <a:t> si el estadístico de prueba </a:t>
                          </a:r>
                          <a14:m>
                            <m:oMath xmlns:m="http://schemas.openxmlformats.org/officeDocument/2006/math">
                              <m:r>
                                <a:rPr lang="es-MX" b="1" i="1" smtClean="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𝒛</m:t>
                              </m:r>
                              <m:r>
                                <a:rPr lang="es-MX" b="1" i="1" smtClean="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 </m:t>
                              </m:r>
                              <m:r>
                                <a:rPr lang="es-MX" b="1" i="1" smtClean="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𝒕</m:t>
                              </m:r>
                              <m:r>
                                <a:rPr lang="es-MX" b="1" i="0" smtClean="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s-MX" b="1" i="1">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ctrlPr>
                                </m:sSupPr>
                                <m:e>
                                  <m:r>
                                    <a:rPr lang="es-MX" b="1" i="1">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𝝌</m:t>
                                  </m:r>
                                </m:e>
                                <m:sup>
                                  <m:r>
                                    <a:rPr lang="es-MX" b="1" i="1">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t>𝟐</m:t>
                                  </m:r>
                                </m:sup>
                              </m:sSup>
                            </m:oMath>
                          </a14:m>
                          <a:r>
                            <a:rPr lang="es-MX" sz="1800" b="0" dirty="0">
                              <a:effectLst/>
                              <a:latin typeface="Times New Roman" panose="02020603050405020304" pitchFamily="18" charset="0"/>
                              <a:ea typeface="Times New Roman" panose="02020603050405020304" pitchFamily="18" charset="0"/>
                              <a:cs typeface="Times New Roman" panose="02020603050405020304" pitchFamily="18" charset="0"/>
                            </a:rPr>
                            <a:t> cae dentro de la región crítica.</a:t>
                          </a:r>
                          <a:endParaRPr lang="es-MX" sz="1600" b="0" dirty="0">
                            <a:effectLst/>
                            <a:latin typeface="Calibri" panose="020F0502020204030204" pitchFamily="34" charset="0"/>
                            <a:ea typeface="Calibri" panose="020F0502020204030204" pitchFamily="34" charset="0"/>
                            <a:cs typeface="Times New Roman" panose="02020603050405020304" pitchFamily="18" charset="0"/>
                          </a:endParaRPr>
                        </a:p>
                        <a:p>
                          <a:pPr algn="just"/>
                          <a:r>
                            <a:rPr lang="es-MX" sz="1800" b="0" dirty="0">
                              <a:effectLst/>
                              <a:latin typeface="Times New Roman" panose="02020603050405020304" pitchFamily="18" charset="0"/>
                              <a:ea typeface="Times New Roman" panose="02020603050405020304" pitchFamily="18" charset="0"/>
                            </a:rPr>
                            <a:t>No rechace </a:t>
                          </a:r>
                          <a14:m>
                            <m:oMath xmlns:m="http://schemas.openxmlformats.org/officeDocument/2006/math">
                              <m:sSub>
                                <m:sSubPr>
                                  <m:ctrlPr>
                                    <a:rPr lang="es-MX" sz="1800" b="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MX" sz="1800" b="0" i="1">
                                      <a:effectLst/>
                                      <a:latin typeface="Cambria Math" panose="02040503050406030204" pitchFamily="18" charset="0"/>
                                      <a:ea typeface="Times New Roman" panose="02020603050405020304" pitchFamily="18" charset="0"/>
                                      <a:cs typeface="Times New Roman" panose="02020603050405020304" pitchFamily="18" charset="0"/>
                                    </a:rPr>
                                    <m:t>𝐻</m:t>
                                  </m:r>
                                </m:e>
                                <m:sub>
                                  <m:r>
                                    <a:rPr lang="es-MX" sz="1800" b="0" i="1">
                                      <a:effectLst/>
                                      <a:latin typeface="Cambria Math" panose="02040503050406030204" pitchFamily="18" charset="0"/>
                                      <a:ea typeface="Times New Roman" panose="02020603050405020304" pitchFamily="18" charset="0"/>
                                      <a:cs typeface="Times New Roman" panose="02020603050405020304" pitchFamily="18" charset="0"/>
                                    </a:rPr>
                                    <m:t>0</m:t>
                                  </m:r>
                                </m:sub>
                              </m:sSub>
                            </m:oMath>
                          </a14:m>
                          <a:r>
                            <a:rPr lang="es-MX" sz="1800" b="0" dirty="0">
                              <a:effectLst/>
                              <a:latin typeface="Times New Roman" panose="02020603050405020304" pitchFamily="18" charset="0"/>
                              <a:ea typeface="Times New Roman" panose="02020603050405020304" pitchFamily="18" charset="0"/>
                            </a:rPr>
                            <a:t> si el estadístico de prueba no cae dentro de la región crítica. </a:t>
                          </a:r>
                        </a:p>
                        <a:p>
                          <a:pPr algn="just"/>
                          <a:r>
                            <a:rPr lang="es-MX" sz="1800" b="0" dirty="0">
                              <a:effectLst/>
                              <a:latin typeface="Times New Roman" panose="02020603050405020304" pitchFamily="18" charset="0"/>
                            </a:rPr>
                            <a:t>(ver ejemplo </a:t>
                          </a:r>
                          <a:r>
                            <a:rPr lang="es-MX" sz="1800" b="0" dirty="0" err="1">
                              <a:effectLst/>
                              <a:latin typeface="Times New Roman" panose="02020603050405020304" pitchFamily="18" charset="0"/>
                            </a:rPr>
                            <a:t>slide</a:t>
                          </a:r>
                          <a:r>
                            <a:rPr lang="es-MX" sz="1800" b="0" dirty="0">
                              <a:effectLst/>
                              <a:latin typeface="Times New Roman" panose="02020603050405020304" pitchFamily="18" charset="0"/>
                            </a:rPr>
                            <a:t> 13)</a:t>
                          </a:r>
                          <a:endParaRPr lang="es-MX" b="0" dirty="0"/>
                        </a:p>
                      </a:txBody>
                      <a:tcPr/>
                    </a:tc>
                    <a:extLst>
                      <a:ext uri="{0D108BD9-81ED-4DB2-BD59-A6C34878D82A}">
                        <a16:rowId xmlns:a16="http://schemas.microsoft.com/office/drawing/2014/main" val="1830143981"/>
                      </a:ext>
                    </a:extLst>
                  </a:tr>
                  <a:tr h="1139730">
                    <a:tc>
                      <a:txBody>
                        <a:bodyPr/>
                        <a:lstStyle/>
                        <a:p>
                          <a:pPr algn="ctr"/>
                          <a:endParaRPr lang="es-MX" b="1" dirty="0">
                            <a:latin typeface="Times New Roman" panose="02020603050405020304" pitchFamily="18" charset="0"/>
                            <a:cs typeface="Times New Roman" panose="02020603050405020304" pitchFamily="18" charset="0"/>
                          </a:endParaRPr>
                        </a:p>
                        <a:p>
                          <a:pPr algn="ctr"/>
                          <a:r>
                            <a:rPr lang="es-MX" b="1" dirty="0">
                              <a:latin typeface="Times New Roman" panose="02020603050405020304" pitchFamily="18" charset="0"/>
                              <a:cs typeface="Times New Roman" panose="02020603050405020304" pitchFamily="18" charset="0"/>
                            </a:rPr>
                            <a:t>Método del valor P</a:t>
                          </a:r>
                        </a:p>
                      </a:txBody>
                      <a:tcPr/>
                    </a:tc>
                    <a:tc>
                      <a:txBody>
                        <a:bodyPr/>
                        <a:lstStyle/>
                        <a:p>
                          <a:pPr algn="just">
                            <a:lnSpc>
                              <a:spcPct val="107000"/>
                            </a:lnSpc>
                            <a:spcAft>
                              <a:spcPts val="800"/>
                            </a:spcAft>
                          </a:pPr>
                          <a:r>
                            <a:rPr lang="es-MX" sz="1800" b="0" dirty="0">
                              <a:effectLst/>
                              <a:latin typeface="Times New Roman" panose="02020603050405020304" pitchFamily="18" charset="0"/>
                              <a:ea typeface="Times New Roman" panose="02020603050405020304" pitchFamily="18" charset="0"/>
                              <a:cs typeface="Times New Roman" panose="02020603050405020304" pitchFamily="18" charset="0"/>
                            </a:rPr>
                            <a:t>Rechace </a:t>
                          </a:r>
                          <a14:m>
                            <m:oMath xmlns:m="http://schemas.openxmlformats.org/officeDocument/2006/math">
                              <m:sSub>
                                <m:sSubPr>
                                  <m:ctrlPr>
                                    <a:rPr lang="es-MX" sz="1800" b="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MX" sz="1800" b="0" i="1">
                                      <a:effectLst/>
                                      <a:latin typeface="Cambria Math" panose="02040503050406030204" pitchFamily="18" charset="0"/>
                                      <a:ea typeface="Times New Roman" panose="02020603050405020304" pitchFamily="18" charset="0"/>
                                      <a:cs typeface="Times New Roman" panose="02020603050405020304" pitchFamily="18" charset="0"/>
                                    </a:rPr>
                                    <m:t>𝐻</m:t>
                                  </m:r>
                                </m:e>
                                <m:sub>
                                  <m:r>
                                    <a:rPr lang="es-MX" sz="1800" b="0" i="1">
                                      <a:effectLst/>
                                      <a:latin typeface="Cambria Math" panose="02040503050406030204" pitchFamily="18" charset="0"/>
                                      <a:ea typeface="Times New Roman" panose="02020603050405020304" pitchFamily="18" charset="0"/>
                                      <a:cs typeface="Times New Roman" panose="02020603050405020304" pitchFamily="18" charset="0"/>
                                    </a:rPr>
                                    <m:t>0</m:t>
                                  </m:r>
                                </m:sub>
                              </m:sSub>
                            </m:oMath>
                          </a14:m>
                          <a:r>
                            <a:rPr lang="es-MX" sz="1800" b="0" dirty="0">
                              <a:effectLst/>
                              <a:latin typeface="Times New Roman" panose="02020603050405020304" pitchFamily="18" charset="0"/>
                              <a:ea typeface="Times New Roman" panose="02020603050405020304" pitchFamily="18" charset="0"/>
                              <a:cs typeface="Times New Roman" panose="02020603050405020304" pitchFamily="18" charset="0"/>
                            </a:rPr>
                            <a:t> si el valor de </a:t>
                          </a:r>
                          <a14:m>
                            <m:oMath xmlns:m="http://schemas.openxmlformats.org/officeDocument/2006/math">
                              <m:r>
                                <a:rPr lang="es-MX" sz="1800" b="0" i="1">
                                  <a:effectLst/>
                                  <a:latin typeface="Cambria Math" panose="02040503050406030204" pitchFamily="18" charset="0"/>
                                  <a:ea typeface="Times New Roman" panose="02020603050405020304" pitchFamily="18" charset="0"/>
                                  <a:cs typeface="Times New Roman" panose="02020603050405020304" pitchFamily="18" charset="0"/>
                                </a:rPr>
                                <m:t>𝑃</m:t>
                              </m:r>
                              <m:r>
                                <a:rPr lang="es-MX" sz="1800" b="0" i="1">
                                  <a:effectLst/>
                                  <a:latin typeface="Cambria Math" panose="02040503050406030204" pitchFamily="18" charset="0"/>
                                  <a:ea typeface="Times New Roman" panose="02020603050405020304" pitchFamily="18" charset="0"/>
                                  <a:cs typeface="Times New Roman" panose="02020603050405020304" pitchFamily="18" charset="0"/>
                                </a:rPr>
                                <m:t>≤</m:t>
                              </m:r>
                              <m:r>
                                <a:rPr lang="es-MX" sz="1800" b="0" i="1">
                                  <a:effectLst/>
                                  <a:latin typeface="Cambria Math" panose="02040503050406030204" pitchFamily="18" charset="0"/>
                                  <a:ea typeface="Times New Roman" panose="02020603050405020304" pitchFamily="18" charset="0"/>
                                  <a:cs typeface="Times New Roman" panose="02020603050405020304" pitchFamily="18" charset="0"/>
                                </a:rPr>
                                <m:t>𝛼</m:t>
                              </m:r>
                            </m:oMath>
                          </a14:m>
                          <a:r>
                            <a:rPr lang="es-MX" sz="1800" b="0" dirty="0">
                              <a:effectLst/>
                              <a:latin typeface="Times New Roman" panose="02020603050405020304" pitchFamily="18" charset="0"/>
                              <a:ea typeface="Times New Roman" panose="02020603050405020304" pitchFamily="18" charset="0"/>
                              <a:cs typeface="Times New Roman" panose="02020603050405020304" pitchFamily="18" charset="0"/>
                            </a:rPr>
                            <a:t> (donde </a:t>
                          </a:r>
                          <a14:m>
                            <m:oMath xmlns:m="http://schemas.openxmlformats.org/officeDocument/2006/math">
                              <m:r>
                                <a:rPr lang="es-MX" sz="1800" b="0" i="1">
                                  <a:effectLst/>
                                  <a:latin typeface="Cambria Math" panose="02040503050406030204" pitchFamily="18" charset="0"/>
                                  <a:ea typeface="Times New Roman" panose="02020603050405020304" pitchFamily="18" charset="0"/>
                                  <a:cs typeface="Times New Roman" panose="02020603050405020304" pitchFamily="18" charset="0"/>
                                </a:rPr>
                                <m:t>𝛼</m:t>
                              </m:r>
                            </m:oMath>
                          </a14:m>
                          <a:r>
                            <a:rPr lang="es-MX" sz="1800" b="0" dirty="0">
                              <a:effectLst/>
                              <a:latin typeface="Times New Roman" panose="02020603050405020304" pitchFamily="18" charset="0"/>
                              <a:ea typeface="Times New Roman" panose="02020603050405020304" pitchFamily="18" charset="0"/>
                              <a:cs typeface="Times New Roman" panose="02020603050405020304" pitchFamily="18" charset="0"/>
                            </a:rPr>
                            <a:t> es el nivel de significancia)</a:t>
                          </a:r>
                          <a:endParaRPr lang="es-MX" sz="1600" b="0" dirty="0">
                            <a:effectLst/>
                            <a:latin typeface="Calibri" panose="020F0502020204030204" pitchFamily="34" charset="0"/>
                            <a:ea typeface="Calibri" panose="020F0502020204030204" pitchFamily="34" charset="0"/>
                            <a:cs typeface="Times New Roman" panose="02020603050405020304" pitchFamily="18" charset="0"/>
                          </a:endParaRPr>
                        </a:p>
                        <a:p>
                          <a:pPr algn="just"/>
                          <a:r>
                            <a:rPr lang="es-MX" sz="1800" b="0" dirty="0">
                              <a:effectLst/>
                              <a:latin typeface="Times New Roman" panose="02020603050405020304" pitchFamily="18" charset="0"/>
                              <a:ea typeface="Times New Roman" panose="02020603050405020304" pitchFamily="18" charset="0"/>
                            </a:rPr>
                            <a:t>No rechace </a:t>
                          </a:r>
                          <a14:m>
                            <m:oMath xmlns:m="http://schemas.openxmlformats.org/officeDocument/2006/math">
                              <m:sSub>
                                <m:sSubPr>
                                  <m:ctrlPr>
                                    <a:rPr lang="es-MX" sz="1800" b="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MX" sz="1800" b="0" i="1">
                                      <a:effectLst/>
                                      <a:latin typeface="Cambria Math" panose="02040503050406030204" pitchFamily="18" charset="0"/>
                                      <a:ea typeface="Times New Roman" panose="02020603050405020304" pitchFamily="18" charset="0"/>
                                      <a:cs typeface="Times New Roman" panose="02020603050405020304" pitchFamily="18" charset="0"/>
                                    </a:rPr>
                                    <m:t>𝐻</m:t>
                                  </m:r>
                                </m:e>
                                <m:sub>
                                  <m:r>
                                    <a:rPr lang="es-MX" sz="1800" b="0" i="1">
                                      <a:effectLst/>
                                      <a:latin typeface="Cambria Math" panose="02040503050406030204" pitchFamily="18" charset="0"/>
                                      <a:ea typeface="Times New Roman" panose="02020603050405020304" pitchFamily="18" charset="0"/>
                                      <a:cs typeface="Times New Roman" panose="02020603050405020304" pitchFamily="18" charset="0"/>
                                    </a:rPr>
                                    <m:t>0</m:t>
                                  </m:r>
                                </m:sub>
                              </m:sSub>
                            </m:oMath>
                          </a14:m>
                          <a:r>
                            <a:rPr lang="es-MX" sz="1800" b="0" dirty="0">
                              <a:effectLst/>
                              <a:latin typeface="Times New Roman" panose="02020603050405020304" pitchFamily="18" charset="0"/>
                              <a:ea typeface="Times New Roman" panose="02020603050405020304" pitchFamily="18" charset="0"/>
                            </a:rPr>
                            <a:t> si el valor </a:t>
                          </a:r>
                          <a14:m>
                            <m:oMath xmlns:m="http://schemas.openxmlformats.org/officeDocument/2006/math">
                              <m:r>
                                <a:rPr lang="es-MX" sz="1800" b="0" i="1">
                                  <a:effectLst/>
                                  <a:latin typeface="Cambria Math" panose="02040503050406030204" pitchFamily="18" charset="0"/>
                                  <a:ea typeface="Times New Roman" panose="02020603050405020304" pitchFamily="18" charset="0"/>
                                  <a:cs typeface="Times New Roman" panose="02020603050405020304" pitchFamily="18" charset="0"/>
                                </a:rPr>
                                <m:t>𝑃</m:t>
                              </m:r>
                              <m:r>
                                <a:rPr lang="es-MX" sz="1800" b="0" i="1">
                                  <a:effectLst/>
                                  <a:latin typeface="Cambria Math" panose="02040503050406030204" pitchFamily="18" charset="0"/>
                                  <a:ea typeface="Times New Roman" panose="02020603050405020304" pitchFamily="18" charset="0"/>
                                  <a:cs typeface="Times New Roman" panose="02020603050405020304" pitchFamily="18" charset="0"/>
                                </a:rPr>
                                <m:t>&gt;</m:t>
                              </m:r>
                              <m:r>
                                <a:rPr lang="es-MX" sz="1800" b="0" i="1">
                                  <a:effectLst/>
                                  <a:latin typeface="Cambria Math" panose="02040503050406030204" pitchFamily="18" charset="0"/>
                                  <a:ea typeface="Times New Roman" panose="02020603050405020304" pitchFamily="18" charset="0"/>
                                  <a:cs typeface="Times New Roman" panose="02020603050405020304" pitchFamily="18" charset="0"/>
                                </a:rPr>
                                <m:t>𝛼</m:t>
                              </m:r>
                            </m:oMath>
                          </a14:m>
                          <a:endParaRPr lang="es-MX" b="0" dirty="0"/>
                        </a:p>
                      </a:txBody>
                      <a:tcPr/>
                    </a:tc>
                    <a:extLst>
                      <a:ext uri="{0D108BD9-81ED-4DB2-BD59-A6C34878D82A}">
                        <a16:rowId xmlns:a16="http://schemas.microsoft.com/office/drawing/2014/main" val="4184345011"/>
                      </a:ext>
                    </a:extLst>
                  </a:tr>
                  <a:tr h="1284976">
                    <a:tc>
                      <a:txBody>
                        <a:bodyPr/>
                        <a:lstStyle/>
                        <a:p>
                          <a:pPr algn="ctr"/>
                          <a:endParaRPr lang="es-MX" b="1" dirty="0">
                            <a:latin typeface="Times New Roman" panose="02020603050405020304" pitchFamily="18" charset="0"/>
                            <a:cs typeface="Times New Roman" panose="02020603050405020304" pitchFamily="18" charset="0"/>
                          </a:endParaRPr>
                        </a:p>
                        <a:p>
                          <a:pPr algn="ctr"/>
                          <a:r>
                            <a:rPr lang="es-MX" b="1" dirty="0">
                              <a:latin typeface="Times New Roman" panose="02020603050405020304" pitchFamily="18" charset="0"/>
                              <a:cs typeface="Times New Roman" panose="02020603050405020304" pitchFamily="18" charset="0"/>
                            </a:rPr>
                            <a:t>Intervalos de confianza</a:t>
                          </a:r>
                        </a:p>
                      </a:txBody>
                      <a:tcPr/>
                    </a:tc>
                    <a:tc>
                      <a:txBody>
                        <a:bodyPr/>
                        <a:lstStyle/>
                        <a:p>
                          <a:pPr algn="just"/>
                          <a:r>
                            <a:rPr lang="es-MX" sz="1800" b="0" dirty="0">
                              <a:effectLst/>
                              <a:latin typeface="Times New Roman" panose="02020603050405020304" pitchFamily="18" charset="0"/>
                              <a:ea typeface="Times New Roman" panose="02020603050405020304" pitchFamily="18" charset="0"/>
                            </a:rPr>
                            <a:t>Como un estimado del intervalo de confianza de un parámetro de población contiene los valores posibles de tal parámetro, rechace la aseveración de que el parámetro de población tiene un valor que no está incluido en el intervalo de confianza. Si no esta en el intervalo de confianza rechazamos </a:t>
                          </a:r>
                          <a14:m>
                            <m:oMath xmlns:m="http://schemas.openxmlformats.org/officeDocument/2006/math">
                              <m:sSub>
                                <m:sSubPr>
                                  <m:ctrlPr>
                                    <a:rPr lang="es-MX" sz="1800" b="0" i="1"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MX" sz="1800" b="0" i="1">
                                      <a:effectLst/>
                                      <a:latin typeface="Cambria Math" panose="02040503050406030204" pitchFamily="18" charset="0"/>
                                      <a:ea typeface="Times New Roman" panose="02020603050405020304" pitchFamily="18" charset="0"/>
                                      <a:cs typeface="Times New Roman" panose="02020603050405020304" pitchFamily="18" charset="0"/>
                                    </a:rPr>
                                    <m:t>𝐻</m:t>
                                  </m:r>
                                </m:e>
                                <m:sub>
                                  <m:r>
                                    <a:rPr lang="es-MX" sz="1800" b="0" i="1">
                                      <a:effectLst/>
                                      <a:latin typeface="Cambria Math" panose="02040503050406030204" pitchFamily="18" charset="0"/>
                                      <a:ea typeface="Times New Roman" panose="02020603050405020304" pitchFamily="18" charset="0"/>
                                      <a:cs typeface="Times New Roman" panose="02020603050405020304" pitchFamily="18" charset="0"/>
                                    </a:rPr>
                                    <m:t>0</m:t>
                                  </m:r>
                                </m:sub>
                              </m:sSub>
                            </m:oMath>
                          </a14:m>
                          <a:r>
                            <a:rPr lang="es-MX" b="0" dirty="0"/>
                            <a:t>.</a:t>
                          </a:r>
                        </a:p>
                        <a:p>
                          <a:pPr algn="just"/>
                          <a:r>
                            <a:rPr lang="es-MX" sz="1800" b="0" kern="1200" dirty="0">
                              <a:solidFill>
                                <a:schemeClr val="dk1"/>
                              </a:solidFill>
                              <a:effectLst/>
                              <a:latin typeface="Times New Roman" panose="02020603050405020304" pitchFamily="18" charset="0"/>
                              <a:ea typeface="Times New Roman" panose="02020603050405020304" pitchFamily="18" charset="0"/>
                              <a:cs typeface="+mn-cs"/>
                            </a:rPr>
                            <a:t>No </a:t>
                          </a:r>
                          <a:r>
                            <a:rPr lang="es-MX" sz="1800" b="0" kern="1200" dirty="0" err="1">
                              <a:solidFill>
                                <a:schemeClr val="dk1"/>
                              </a:solidFill>
                              <a:effectLst/>
                              <a:latin typeface="Times New Roman" panose="02020603050405020304" pitchFamily="18" charset="0"/>
                              <a:ea typeface="Times New Roman" panose="02020603050405020304" pitchFamily="18" charset="0"/>
                              <a:cs typeface="+mn-cs"/>
                            </a:rPr>
                            <a:t>rechaze</a:t>
                          </a:r>
                          <a:r>
                            <a:rPr lang="es-MX" sz="1800" b="0" kern="1200" dirty="0">
                              <a:solidFill>
                                <a:schemeClr val="dk1"/>
                              </a:solidFill>
                              <a:effectLst/>
                              <a:latin typeface="Times New Roman" panose="02020603050405020304" pitchFamily="18" charset="0"/>
                              <a:ea typeface="Times New Roman" panose="02020603050405020304" pitchFamily="18" charset="0"/>
                              <a:cs typeface="+mn-cs"/>
                            </a:rPr>
                            <a:t> </a:t>
                          </a:r>
                          <a14:m>
                            <m:oMath xmlns:m="http://schemas.openxmlformats.org/officeDocument/2006/math">
                              <m:sSub>
                                <m:sSubPr>
                                  <m:ctrlPr>
                                    <a:rPr lang="es-MX" sz="1800" b="0" kern="1200" smtClean="0">
                                      <a:solidFill>
                                        <a:schemeClr val="dk1"/>
                                      </a:solidFill>
                                      <a:effectLst/>
                                      <a:latin typeface="Times New Roman" panose="02020603050405020304" pitchFamily="18" charset="0"/>
                                      <a:ea typeface="Times New Roman" panose="02020603050405020304" pitchFamily="18" charset="0"/>
                                      <a:cs typeface="+mn-cs"/>
                                    </a:rPr>
                                  </m:ctrlPr>
                                </m:sSubPr>
                                <m:e>
                                  <m:r>
                                    <a:rPr lang="es-MX" sz="1800" b="0" kern="1200">
                                      <a:solidFill>
                                        <a:schemeClr val="dk1"/>
                                      </a:solidFill>
                                      <a:effectLst/>
                                      <a:latin typeface="Times New Roman" panose="02020603050405020304" pitchFamily="18" charset="0"/>
                                      <a:ea typeface="Times New Roman" panose="02020603050405020304" pitchFamily="18" charset="0"/>
                                      <a:cs typeface="+mn-cs"/>
                                    </a:rPr>
                                    <m:t>𝐻</m:t>
                                  </m:r>
                                </m:e>
                                <m:sub>
                                  <m:r>
                                    <a:rPr lang="es-MX" sz="1800" b="0" kern="1200">
                                      <a:solidFill>
                                        <a:schemeClr val="dk1"/>
                                      </a:solidFill>
                                      <a:effectLst/>
                                      <a:latin typeface="Times New Roman" panose="02020603050405020304" pitchFamily="18" charset="0"/>
                                      <a:ea typeface="Times New Roman" panose="02020603050405020304" pitchFamily="18" charset="0"/>
                                      <a:cs typeface="+mn-cs"/>
                                    </a:rPr>
                                    <m:t>0</m:t>
                                  </m:r>
                                </m:sub>
                              </m:sSub>
                            </m:oMath>
                          </a14:m>
                          <a:r>
                            <a:rPr lang="es-MX" sz="1800" b="0" kern="1200" dirty="0">
                              <a:solidFill>
                                <a:schemeClr val="dk1"/>
                              </a:solidFill>
                              <a:effectLst/>
                              <a:latin typeface="Times New Roman" panose="02020603050405020304" pitchFamily="18" charset="0"/>
                              <a:ea typeface="Times New Roman" panose="02020603050405020304" pitchFamily="18" charset="0"/>
                              <a:cs typeface="+mn-cs"/>
                            </a:rPr>
                            <a:t> si es que esta contenido en el intervalo de confianza.</a:t>
                          </a:r>
                        </a:p>
                      </a:txBody>
                      <a:tcPr/>
                    </a:tc>
                    <a:extLst>
                      <a:ext uri="{0D108BD9-81ED-4DB2-BD59-A6C34878D82A}">
                        <a16:rowId xmlns:a16="http://schemas.microsoft.com/office/drawing/2014/main" val="1973401492"/>
                      </a:ext>
                    </a:extLst>
                  </a:tr>
                </a:tbl>
              </a:graphicData>
            </a:graphic>
          </p:graphicFrame>
        </mc:Choice>
        <mc:Fallback>
          <p:graphicFrame>
            <p:nvGraphicFramePr>
              <p:cNvPr id="3" name="Tabla 2"/>
              <p:cNvGraphicFramePr>
                <a:graphicFrameLocks noGrp="1"/>
              </p:cNvGraphicFramePr>
              <p:nvPr>
                <p:extLst>
                  <p:ext uri="{D42A27DB-BD31-4B8C-83A1-F6EECF244321}">
                    <p14:modId xmlns:p14="http://schemas.microsoft.com/office/powerpoint/2010/main" val="1269852581"/>
                  </p:ext>
                </p:extLst>
              </p:nvPr>
            </p:nvGraphicFramePr>
            <p:xfrm>
              <a:off x="964021" y="2136808"/>
              <a:ext cx="10287912" cy="4617025"/>
            </p:xfrm>
            <a:graphic>
              <a:graphicData uri="http://schemas.openxmlformats.org/drawingml/2006/table">
                <a:tbl>
                  <a:tblPr firstRow="1" bandRow="1">
                    <a:tableStyleId>{0505E3EF-67EA-436B-97B2-0124C06EBD24}</a:tableStyleId>
                  </a:tblPr>
                  <a:tblGrid>
                    <a:gridCol w="3496053">
                      <a:extLst>
                        <a:ext uri="{9D8B030D-6E8A-4147-A177-3AD203B41FA5}">
                          <a16:colId xmlns:a16="http://schemas.microsoft.com/office/drawing/2014/main" val="2380006463"/>
                        </a:ext>
                      </a:extLst>
                    </a:gridCol>
                    <a:gridCol w="6791859">
                      <a:extLst>
                        <a:ext uri="{9D8B030D-6E8A-4147-A177-3AD203B41FA5}">
                          <a16:colId xmlns:a16="http://schemas.microsoft.com/office/drawing/2014/main" val="3610993370"/>
                        </a:ext>
                      </a:extLst>
                    </a:gridCol>
                  </a:tblGrid>
                  <a:tr h="1739935">
                    <a:tc>
                      <a:txBody>
                        <a:bodyPr/>
                        <a:lstStyle/>
                        <a:p>
                          <a:pPr algn="ctr"/>
                          <a:endParaRPr lang="es-MX" b="1" dirty="0">
                            <a:latin typeface="Times New Roman" panose="02020603050405020304" pitchFamily="18" charset="0"/>
                            <a:cs typeface="Times New Roman" panose="02020603050405020304" pitchFamily="18" charset="0"/>
                          </a:endParaRPr>
                        </a:p>
                        <a:p>
                          <a:pPr algn="ctr"/>
                          <a:r>
                            <a:rPr lang="es-MX" b="1" dirty="0">
                              <a:latin typeface="Times New Roman" panose="02020603050405020304" pitchFamily="18" charset="0"/>
                              <a:cs typeface="Times New Roman" panose="02020603050405020304" pitchFamily="18" charset="0"/>
                            </a:rPr>
                            <a:t>Método Tradicional</a:t>
                          </a:r>
                        </a:p>
                      </a:txBody>
                      <a:tcPr/>
                    </a:tc>
                    <a:tc>
                      <a:txBody>
                        <a:bodyPr/>
                        <a:lstStyle/>
                        <a:p>
                          <a:endParaRPr lang="en-US"/>
                        </a:p>
                      </a:txBody>
                      <a:tcPr>
                        <a:blipFill>
                          <a:blip r:embed="rId3"/>
                          <a:stretch>
                            <a:fillRect l="-51616" t="-1399" r="-180" b="-170629"/>
                          </a:stretch>
                        </a:blipFill>
                      </a:tcPr>
                    </a:tc>
                    <a:extLst>
                      <a:ext uri="{0D108BD9-81ED-4DB2-BD59-A6C34878D82A}">
                        <a16:rowId xmlns:a16="http://schemas.microsoft.com/office/drawing/2014/main" val="1830143981"/>
                      </a:ext>
                    </a:extLst>
                  </a:tr>
                  <a:tr h="1139730">
                    <a:tc>
                      <a:txBody>
                        <a:bodyPr/>
                        <a:lstStyle/>
                        <a:p>
                          <a:pPr algn="ctr"/>
                          <a:endParaRPr lang="es-MX" b="1" dirty="0">
                            <a:latin typeface="Times New Roman" panose="02020603050405020304" pitchFamily="18" charset="0"/>
                            <a:cs typeface="Times New Roman" panose="02020603050405020304" pitchFamily="18" charset="0"/>
                          </a:endParaRPr>
                        </a:p>
                        <a:p>
                          <a:pPr algn="ctr"/>
                          <a:r>
                            <a:rPr lang="es-MX" b="1" dirty="0">
                              <a:latin typeface="Times New Roman" panose="02020603050405020304" pitchFamily="18" charset="0"/>
                              <a:cs typeface="Times New Roman" panose="02020603050405020304" pitchFamily="18" charset="0"/>
                            </a:rPr>
                            <a:t>Método del valor P</a:t>
                          </a:r>
                        </a:p>
                      </a:txBody>
                      <a:tcPr/>
                    </a:tc>
                    <a:tc>
                      <a:txBody>
                        <a:bodyPr/>
                        <a:lstStyle/>
                        <a:p>
                          <a:endParaRPr lang="en-US"/>
                        </a:p>
                      </a:txBody>
                      <a:tcPr>
                        <a:blipFill>
                          <a:blip r:embed="rId3"/>
                          <a:stretch>
                            <a:fillRect l="-51616" t="-155080" r="-180" b="-160963"/>
                          </a:stretch>
                        </a:blipFill>
                      </a:tcPr>
                    </a:tc>
                    <a:extLst>
                      <a:ext uri="{0D108BD9-81ED-4DB2-BD59-A6C34878D82A}">
                        <a16:rowId xmlns:a16="http://schemas.microsoft.com/office/drawing/2014/main" val="4184345011"/>
                      </a:ext>
                    </a:extLst>
                  </a:tr>
                  <a:tr h="1737360">
                    <a:tc>
                      <a:txBody>
                        <a:bodyPr/>
                        <a:lstStyle/>
                        <a:p>
                          <a:pPr algn="ctr"/>
                          <a:endParaRPr lang="es-MX" b="1" dirty="0">
                            <a:latin typeface="Times New Roman" panose="02020603050405020304" pitchFamily="18" charset="0"/>
                            <a:cs typeface="Times New Roman" panose="02020603050405020304" pitchFamily="18" charset="0"/>
                          </a:endParaRPr>
                        </a:p>
                        <a:p>
                          <a:pPr algn="ctr"/>
                          <a:r>
                            <a:rPr lang="es-MX" b="1" dirty="0">
                              <a:latin typeface="Times New Roman" panose="02020603050405020304" pitchFamily="18" charset="0"/>
                              <a:cs typeface="Times New Roman" panose="02020603050405020304" pitchFamily="18" charset="0"/>
                            </a:rPr>
                            <a:t>Intervalos de confianza</a:t>
                          </a:r>
                        </a:p>
                      </a:txBody>
                      <a:tcPr/>
                    </a:tc>
                    <a:tc>
                      <a:txBody>
                        <a:bodyPr/>
                        <a:lstStyle/>
                        <a:p>
                          <a:endParaRPr lang="en-US"/>
                        </a:p>
                      </a:txBody>
                      <a:tcPr>
                        <a:blipFill>
                          <a:blip r:embed="rId3"/>
                          <a:stretch>
                            <a:fillRect l="-51616" t="-167368" r="-180" b="-5614"/>
                          </a:stretch>
                        </a:blipFill>
                      </a:tcPr>
                    </a:tc>
                    <a:extLst>
                      <a:ext uri="{0D108BD9-81ED-4DB2-BD59-A6C34878D82A}">
                        <a16:rowId xmlns:a16="http://schemas.microsoft.com/office/drawing/2014/main" val="1973401492"/>
                      </a:ext>
                    </a:extLst>
                  </a:tr>
                </a:tbl>
              </a:graphicData>
            </a:graphic>
          </p:graphicFrame>
        </mc:Fallback>
      </mc:AlternateContent>
    </p:spTree>
    <p:extLst>
      <p:ext uri="{BB962C8B-B14F-4D97-AF65-F5344CB8AC3E}">
        <p14:creationId xmlns:p14="http://schemas.microsoft.com/office/powerpoint/2010/main" val="1649441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ema1">
  <a:themeElements>
    <a:clrScheme name="Naranja amarillo">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49129432_TF78853419_Win32.potx" id="{F85094AE-F951-45B6-B003-F9F3B4BD38C5}" vid="{E124D037-8587-41C3-AB02-2A120C8407E4}"/>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7582</TotalTime>
  <Words>3096</Words>
  <Application>Microsoft Office PowerPoint</Application>
  <PresentationFormat>Widescreen</PresentationFormat>
  <Paragraphs>230</Paragraphs>
  <Slides>20</Slides>
  <Notes>19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Calibri</vt:lpstr>
      <vt:lpstr>Cambria Math</vt:lpstr>
      <vt:lpstr>Franklin Gothic Book</vt:lpstr>
      <vt:lpstr>Franklin Gothic Demi</vt:lpstr>
      <vt:lpstr>Times New Roman</vt:lpstr>
      <vt:lpstr>Wingdings</vt:lpstr>
      <vt:lpstr>Tema1</vt:lpstr>
      <vt:lpstr>Sesión 21: Hipótesis Estadísticas</vt:lpstr>
      <vt:lpstr>Componentes de una prueba de hipótesis</vt:lpstr>
      <vt:lpstr>Componentes de una prueba de hipótesis</vt:lpstr>
      <vt:lpstr>PowerPoint Presentation</vt:lpstr>
      <vt:lpstr>¿Cómo plantear un juego de hipótesis?</vt:lpstr>
      <vt:lpstr>¿Cómo identificar H_0 y H_1?</vt:lpstr>
      <vt:lpstr>¿Cómo identificar H_0 y H_1?</vt:lpstr>
      <vt:lpstr>¿Cómo identificar H_0 y H_1?</vt:lpstr>
      <vt:lpstr>Estadísticos de Prueba</vt:lpstr>
      <vt:lpstr>Estadísticos de Prueba</vt:lpstr>
      <vt:lpstr>Estadísticos de Prueba</vt:lpstr>
      <vt:lpstr>Región Crítica, nivel de significancia, valor crítico y valor P</vt:lpstr>
      <vt:lpstr>Región Crítica, nivel de significancia, valor crítico y valor P</vt:lpstr>
      <vt:lpstr>Tipos de Errores</vt:lpstr>
      <vt:lpstr>   Cálculo del valor crítico</vt:lpstr>
      <vt:lpstr>PowerPoint Presentation</vt:lpstr>
      <vt:lpstr>Valor P</vt:lpstr>
      <vt:lpstr>Valor P</vt:lpstr>
      <vt:lpstr>Decisiones y Conclusiones</vt:lpstr>
      <vt:lpstr>Decisiones y Conclusiones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Sesión 7: Estimaciones para la media poblacional μ</dc:title>
  <dc:creator>David Nexticapan Cortes</dc:creator>
  <cp:lastModifiedBy>Enrique Garcia</cp:lastModifiedBy>
  <cp:revision>114</cp:revision>
  <dcterms:created xsi:type="dcterms:W3CDTF">2023-09-16T20:42:33Z</dcterms:created>
  <dcterms:modified xsi:type="dcterms:W3CDTF">2025-05-16T19:06:47Z</dcterms:modified>
</cp:coreProperties>
</file>
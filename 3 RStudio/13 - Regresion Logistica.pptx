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68" r:id="rId2"/>
    <p:sldId id="269" r:id="rId3"/>
    <p:sldId id="309" r:id="rId4"/>
    <p:sldId id="315" r:id="rId5"/>
    <p:sldId id="317" r:id="rId6"/>
    <p:sldId id="316" r:id="rId7"/>
    <p:sldId id="318" r:id="rId8"/>
    <p:sldId id="319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06FD9-7C5A-4B1C-968A-BB507C3E1197}" type="datetimeFigureOut">
              <a:rPr lang="es-MX" smtClean="0"/>
              <a:t>17/04/2025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6384F-A249-4C3C-8731-5338BA85F77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0859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526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7424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99248-9A3E-94AD-9649-3D45AAC52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EE38296-BB05-6BAA-B9F7-5E54CC629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26D7947-718E-B49C-5C87-A1A1247F2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D9DE7E-B319-4A7D-ABEE-7BCB7A9DE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1470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B205E-EFAB-07CF-44C6-45C5B7992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2C72A2D-4D6F-95A8-C438-04BF35D2E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A4ACBD4-7416-B80C-9FDE-964620F9EB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9B908C-0AE7-0BF5-C164-802FB9CCB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3968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D610A-E17B-772E-E149-A5865537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56F354F-2AF0-DD5E-2720-89924A279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D8A678D-F634-740D-9B50-3E62A40CC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2747E89-987D-0BD4-CB2E-047CC8C670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8863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C0321-F12A-03DF-6208-75F34F74D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F54204B-F041-FAE1-CFB3-9D2046C9C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DEAB6E5-F94C-51F6-1FBD-1B28489AE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0C94A5-240D-0508-C808-C6049E9FB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05762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53AAD-3832-1350-3AEC-69CB8E94B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4C1CCCA-2717-13ED-030C-CB3E33325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EE17D42-C9B5-C3D3-DAD6-F9DBCA710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BE563E-438F-CFA9-5B27-FB29740026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0501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145A4-2844-E1C1-3514-AB51393B2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132D075-AFF6-4540-4375-3D8264805D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AEB323A-5A96-D590-4052-0BCE0BD84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E0FA84-4A7E-9204-0793-18EAF3BF9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4158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669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Marcador de texto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Marcador de texto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arcador de texto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Marcador de texto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Marcador de texto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Marcador de texto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texto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FFE12A-8763-4EB7-9CEB-5B78076C5C21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 de abril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3954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4" name="Marcador de posición de imagen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5086BA-4771-4251-A1A0-95AEDDEBD7A7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 de abril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5347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>
          <p15:clr>
            <a:srgbClr val="FBAE40"/>
          </p15:clr>
        </p15:guide>
        <p15:guide id="7" orient="horz" pos="1440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0272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gráfico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71012B1-809A-45CE-9FED-46D08DC8C42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99CD11-04C6-421F-AE19-E5D29CCF776B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 de abril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B6FA27-6601-4107-A3C9-808CB44302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365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9" name="Marcador de título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tabla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820299-DC87-4039-A7B5-9AC50CF7A216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 de abril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274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10" name="Cuadro de texto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“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5614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8" name="Marcador de posición de imagen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61" name="Título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Marcador de posición de imagen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72" name="Marcador de texto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3" name="Marcador de texto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4" name="Marcador de texto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5" name="Marcador de texto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6" name="Marcador de texto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7" name="Marcador de texto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8" name="Marcador de texto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9" name="Marcador de texto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forma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66" name="Marcador de posición de imagen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69" name="Marcador de posición de imagen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EA095D-F9AB-465B-A2BC-526B797F4865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 de abril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81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cala de tiemp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96" name="Marcador de texto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97" name="Marcador de texto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2" name="Marcador de texto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3" name="Marcador de texto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ES" noProof="0"/>
              <a:t>Haga clic para editar </a:t>
            </a:r>
          </a:p>
        </p:txBody>
      </p:sp>
      <p:sp>
        <p:nvSpPr>
          <p:cNvPr id="106" name="Marcador de texto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7" name="Marcador de texto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ES" noProof="0"/>
              <a:t>Haga clic para editar </a:t>
            </a:r>
          </a:p>
        </p:txBody>
      </p:sp>
      <p:sp>
        <p:nvSpPr>
          <p:cNvPr id="108" name="Marcador de texto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9" name="Marcador de texto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1DC2552-C347-4C3D-8C92-4A6981227C0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9D83C0-D2D5-496F-A305-9D3513BEF95B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 de abril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B7C35C-F3E4-4522-8711-16E4F9052C2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4D6BAD-56F4-42F1-A2B3-FDB73364FD4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6042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posición de contenido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14D182-A7DD-4F7B-B207-262854316ED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69136C-C4B2-45F2-BCFC-515A0853BD43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 de abril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B29252-5D0B-4B9D-9FBD-8EC0929FE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B4FEF6-E217-4110-BBF5-C4B77ADC8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0947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contenido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0FA07F3-F8E4-4505-85EC-22734AC687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6AC6E8-C089-4970-88B6-A9DF4F2A5ECC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 de abril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165D22-FEF5-4F30-8822-5D2378806A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40F86B-3DA3-4708-AAF5-387BA115C4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617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>
          <p15:clr>
            <a:srgbClr val="FBAE40"/>
          </p15:clr>
        </p15:guide>
        <p15:guide id="11" pos="2880">
          <p15:clr>
            <a:srgbClr val="FBAE40"/>
          </p15:clr>
        </p15:guide>
        <p15:guide id="12" orient="horz" pos="17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texto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texto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053CBC-2B39-42EE-A9ED-10AB05B9208E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 de abril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3941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0417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F5E43A-1348-4597-A2F5-11856AA9D9CF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 de abril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1" name="Marcador de pie de página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32" name="Marcador de posición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155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0213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</p:spPr>
        <p:txBody>
          <a:bodyPr rtlCol="0"/>
          <a:lstStyle/>
          <a:p>
            <a:pPr algn="ctr" rtl="0"/>
            <a:r>
              <a:rPr lang="es-E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Logística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rtlCol="0"/>
          <a:lstStyle/>
          <a:p>
            <a:pPr algn="ctr" rtl="0"/>
            <a:r>
              <a:rPr lang="es-ES" dirty="0">
                <a:solidFill>
                  <a:schemeClr val="bg1"/>
                </a:solidFill>
                <a:latin typeface="+mj-lt"/>
              </a:rPr>
              <a:t>Mtro. David Nexticapan Cortes</a:t>
            </a:r>
            <a:endParaRPr lang="es-ES" dirty="0">
              <a:solidFill>
                <a:schemeClr val="bg1"/>
              </a:solidFill>
            </a:endParaRPr>
          </a:p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5271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Lineal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77887F-BB86-8BB4-8E75-761FE414B5F2}"/>
              </a:ext>
            </a:extLst>
          </p:cNvPr>
          <p:cNvSpPr txBox="1"/>
          <p:nvPr/>
        </p:nvSpPr>
        <p:spPr>
          <a:xfrm>
            <a:off x="964022" y="2353304"/>
            <a:ext cx="9332916" cy="2260940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Aprendizaje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supervisado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Aprendizaje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basado en modelos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corresponde con un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modelo lineal generalizado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 predicciones computando una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suma ponderada de las características de entrada 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sumándole una constante, pero se aplica una función logística al resultado.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Intenta predecir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valores discretos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834786A-0CE6-E91B-68CB-0ADFDD3DC928}"/>
              </a:ext>
            </a:extLst>
          </p:cNvPr>
          <p:cNvSpPr txBox="1"/>
          <p:nvPr/>
        </p:nvSpPr>
        <p:spPr>
          <a:xfrm>
            <a:off x="964022" y="4812271"/>
            <a:ext cx="9332916" cy="665118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 tipo de modelo se suele emplear cuando se quiere clasificar las observaciones en un grupo u otro dado el valor que tome la variable predictora.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2BF82E2-E1BC-9357-0C52-DCC86C826247}"/>
              </a:ext>
            </a:extLst>
          </p:cNvPr>
          <p:cNvSpPr txBox="1"/>
          <p:nvPr/>
        </p:nvSpPr>
        <p:spPr>
          <a:xfrm>
            <a:off x="964022" y="5675416"/>
            <a:ext cx="9332916" cy="665118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modelo de regresión logística permite calcular el logaritmo de las probabilidad de que la variable respuesta pertenezca a un grupo determinado.</a:t>
            </a:r>
          </a:p>
        </p:txBody>
      </p:sp>
    </p:spTree>
    <p:extLst>
      <p:ext uri="{BB962C8B-B14F-4D97-AF65-F5344CB8AC3E}">
        <p14:creationId xmlns:p14="http://schemas.microsoft.com/office/powerpoint/2010/main" val="124135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2D474-F191-7ADE-80AF-90B9F4BCE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1B0925-FE8B-2171-B0FD-39646842F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Logística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E33B310-578B-D7E8-E7D2-7FFC16C174CA}"/>
              </a:ext>
            </a:extLst>
          </p:cNvPr>
          <p:cNvSpPr txBox="1"/>
          <p:nvPr/>
        </p:nvSpPr>
        <p:spPr>
          <a:xfrm>
            <a:off x="964021" y="2353304"/>
            <a:ext cx="9636983" cy="646331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Considere una variable de respuesta Y (cualitativa) que se codifica en dos niveles, por ejemplo 0 y 1, y considere una variable predictora.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0A35FD52-CED8-E37A-B4EB-C5F0A03B56D2}"/>
                  </a:ext>
                </a:extLst>
              </p:cNvPr>
              <p:cNvSpPr txBox="1"/>
              <p:nvPr/>
            </p:nvSpPr>
            <p:spPr>
              <a:xfrm>
                <a:off x="964022" y="3212035"/>
                <a:ext cx="9636984" cy="676339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desea ajustar un modelo lineal de la forma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MX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mediante el modelo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s-MX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s-MX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s-MX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0A35FD52-CED8-E37A-B4EB-C5F0A03B5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3212035"/>
                <a:ext cx="9636984" cy="676339"/>
              </a:xfrm>
              <a:prstGeom prst="rect">
                <a:avLst/>
              </a:prstGeom>
              <a:blipFill>
                <a:blip r:embed="rId3"/>
                <a:stretch>
                  <a:fillRect l="-442" t="-4425" b="-4425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0D3E4CB3-A37A-BF7D-70F1-79DE8F5DA8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438" y="4141005"/>
            <a:ext cx="1962150" cy="21240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738EBC5-391B-6F45-9C67-F23C6063D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5588" y="4031657"/>
            <a:ext cx="3897709" cy="234277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00A6F2E-CC91-5B60-9A94-A6D3BF1DC1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3297" y="4031657"/>
            <a:ext cx="3897709" cy="234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60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99B34-AA50-8C7A-6829-F85426D78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D25D4-2C1E-798E-CD2B-C0C02D2B5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Logística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3544F81-7F72-225E-4045-07F1FF30B1A6}"/>
                  </a:ext>
                </a:extLst>
              </p:cNvPr>
              <p:cNvSpPr txBox="1"/>
              <p:nvPr/>
            </p:nvSpPr>
            <p:spPr>
              <a:xfrm>
                <a:off x="5145207" y="2158358"/>
                <a:ext cx="5455798" cy="1077218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Como </a:t>
                </a:r>
                <a14:m>
                  <m:oMath xmlns:m="http://schemas.openxmlformats.org/officeDocument/2006/math"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e>
                    </m:d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</m:t>
                    </m:r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e>
                    </m:d>
                    <m:r>
                      <a:rPr lang="es-MX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MX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e>
                    </m:d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se puede interpretar que la esperanza de una variable aleatoria binaria Y representa la </a:t>
                </a:r>
                <a:r>
                  <a:rPr lang="es-MX" sz="16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probabilidad</a:t>
                </a: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que ocurra el evento </a:t>
                </a:r>
                <a14:m>
                  <m:oMath xmlns:m="http://schemas.openxmlformats.org/officeDocument/2006/math">
                    <m:r>
                      <a:rPr lang="es-MX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s-MX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1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3544F81-7F72-225E-4045-07F1FF30B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5207" y="2158358"/>
                <a:ext cx="5455798" cy="1077218"/>
              </a:xfrm>
              <a:prstGeom prst="rect">
                <a:avLst/>
              </a:prstGeom>
              <a:blipFill>
                <a:blip r:embed="rId3"/>
                <a:stretch>
                  <a:fillRect l="-446" t="-1117" r="-557" b="-5587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CB6B898B-54C6-A603-E47C-3BBF7B708F7E}"/>
              </a:ext>
            </a:extLst>
          </p:cNvPr>
          <p:cNvSpPr txBox="1"/>
          <p:nvPr/>
        </p:nvSpPr>
        <p:spPr>
          <a:xfrm>
            <a:off x="964020" y="4636025"/>
            <a:ext cx="5356569" cy="1077218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resolver este problema, se utiliza un modelo que garantice que las salidas estén siempre acotadas entre 0 y 1. Este modelo es la regresión logística, el cual emplea la función sigmoide, definida como: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211D301-4BB8-D33C-61BF-2CC29429C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20" y="2066841"/>
            <a:ext cx="4031061" cy="24229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B390544C-BCDC-9641-315F-2BEE64D2B89D}"/>
                  </a:ext>
                </a:extLst>
              </p:cNvPr>
              <p:cNvSpPr txBox="1"/>
              <p:nvPr/>
            </p:nvSpPr>
            <p:spPr>
              <a:xfrm>
                <a:off x="2643743" y="5819329"/>
                <a:ext cx="1997122" cy="6342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s-MX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s-MX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MX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B390544C-BCDC-9641-315F-2BEE64D2B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743" y="5819329"/>
                <a:ext cx="1997122" cy="6342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483DE5D-A7FF-F1A3-CE8E-F26381FE98D4}"/>
                  </a:ext>
                </a:extLst>
              </p:cNvPr>
              <p:cNvSpPr txBox="1"/>
              <p:nvPr/>
            </p:nvSpPr>
            <p:spPr>
              <a:xfrm>
                <a:off x="5145207" y="3381835"/>
                <a:ext cx="5455798" cy="830997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 embargo, el modelo de regresión lineal “tradicional” puede producir valores predichos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MX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negativos o mayores que 1, lo cual contradice los axiomas de probabilidad.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483DE5D-A7FF-F1A3-CE8E-F26381FE9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5207" y="3381835"/>
                <a:ext cx="5455798" cy="830997"/>
              </a:xfrm>
              <a:prstGeom prst="rect">
                <a:avLst/>
              </a:prstGeom>
              <a:blipFill>
                <a:blip r:embed="rId7"/>
                <a:stretch>
                  <a:fillRect l="-446" t="-1449" r="-557" b="-7971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7A768CF3-D5B5-F20E-D803-9B2123AAF26D}"/>
                  </a:ext>
                </a:extLst>
              </p:cNvPr>
              <p:cNvSpPr txBox="1"/>
              <p:nvPr/>
            </p:nvSpPr>
            <p:spPr>
              <a:xfrm>
                <a:off x="6549995" y="4636025"/>
                <a:ext cx="3898609" cy="617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MX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MX" sz="1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MX" sz="180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s-MX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s-MX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MX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7A768CF3-D5B5-F20E-D803-9B2123AAF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995" y="4636025"/>
                <a:ext cx="3898609" cy="6173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4C02CF2F-D84B-24C5-AE71-DE2641A7DC8F}"/>
                  </a:ext>
                </a:extLst>
              </p:cNvPr>
              <p:cNvSpPr txBox="1"/>
              <p:nvPr/>
            </p:nvSpPr>
            <p:spPr>
              <a:xfrm>
                <a:off x="6549995" y="5404569"/>
                <a:ext cx="3898609" cy="617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MX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MX" sz="1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MX" sz="180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s-MX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→−∞</m:t>
                              </m:r>
                            </m:lim>
                          </m:limLow>
                        </m:fName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s-MX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MX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4C02CF2F-D84B-24C5-AE71-DE2641A7D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995" y="5404569"/>
                <a:ext cx="3898609" cy="61734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522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ECBAB-B22B-D2AF-BC8F-1E61F9B2F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689FE-2C58-2F7F-07BE-8424779A0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Logística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FBD33EA-1F05-E299-D2EF-DD47534D49DD}"/>
              </a:ext>
            </a:extLst>
          </p:cNvPr>
          <p:cNvSpPr txBox="1"/>
          <p:nvPr/>
        </p:nvSpPr>
        <p:spPr>
          <a:xfrm>
            <a:off x="964021" y="2744706"/>
            <a:ext cx="5322207" cy="338554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modelo de regresión logística está dado por: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A4BA3BD-EA17-664A-9FDB-8CB4A9C5B45C}"/>
                  </a:ext>
                </a:extLst>
              </p:cNvPr>
              <p:cNvSpPr txBox="1"/>
              <p:nvPr/>
            </p:nvSpPr>
            <p:spPr>
              <a:xfrm>
                <a:off x="6286228" y="3208986"/>
                <a:ext cx="4611468" cy="830997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s-MX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se entiende como la probabilidad de que la variable </a:t>
                </a:r>
                <a14:m>
                  <m:oMath xmlns:m="http://schemas.openxmlformats.org/officeDocument/2006/math">
                    <m:r>
                      <a:rPr lang="es-MX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tome el valor </a:t>
                </a:r>
                <a14:m>
                  <m:oMath xmlns:m="http://schemas.openxmlformats.org/officeDocument/2006/math">
                    <m:r>
                      <a:rPr lang="es-MX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(codificación) dado que </a:t>
                </a:r>
                <a14:m>
                  <m:oMath xmlns:m="http://schemas.openxmlformats.org/officeDocument/2006/math">
                    <m:r>
                      <a:rPr lang="es-MX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s-MX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MX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A4BA3BD-EA17-664A-9FDB-8CB4A9C5B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228" y="3208986"/>
                <a:ext cx="4611468" cy="830997"/>
              </a:xfrm>
              <a:prstGeom prst="rect">
                <a:avLst/>
              </a:prstGeom>
              <a:blipFill>
                <a:blip r:embed="rId3"/>
                <a:stretch>
                  <a:fillRect l="-527" t="-1439" r="-527" b="-7194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BF99783-914D-CCB1-02DA-7B2B4F7FF956}"/>
                  </a:ext>
                </a:extLst>
              </p:cNvPr>
              <p:cNvSpPr txBox="1"/>
              <p:nvPr/>
            </p:nvSpPr>
            <p:spPr>
              <a:xfrm>
                <a:off x="1732155" y="3339695"/>
                <a:ext cx="3657600" cy="569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s-MX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s-MX" sz="16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BF99783-914D-CCB1-02DA-7B2B4F7FF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2155" y="3339695"/>
                <a:ext cx="3657600" cy="5695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136CA6B-079C-6EF0-E2EB-E5029CD23237}"/>
                  </a:ext>
                </a:extLst>
              </p:cNvPr>
              <p:cNvSpPr txBox="1"/>
              <p:nvPr/>
            </p:nvSpPr>
            <p:spPr>
              <a:xfrm>
                <a:off x="964021" y="2079638"/>
                <a:ext cx="9933675" cy="584775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 modelo de regresión logística surge de transformar el valor que proporciona la regresión lineal de la forma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MX" sz="1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en un valor que retorna la función sigmoide al sustituir </a:t>
                </a:r>
                <a14:m>
                  <m:oMath xmlns:m="http://schemas.openxmlformats.org/officeDocument/2006/math">
                    <m:r>
                      <a:rPr lang="es-MX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MX" sz="1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136CA6B-079C-6EF0-E2EB-E5029CD23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1" y="2079638"/>
                <a:ext cx="9933675" cy="584775"/>
              </a:xfrm>
              <a:prstGeom prst="rect">
                <a:avLst/>
              </a:prstGeom>
              <a:blipFill>
                <a:blip r:embed="rId5"/>
                <a:stretch>
                  <a:fillRect l="-245" t="-2041" b="-11224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7A6A05D-8353-D77C-C83A-3128169FAABC}"/>
                  </a:ext>
                </a:extLst>
              </p:cNvPr>
              <p:cNvSpPr txBox="1"/>
              <p:nvPr/>
            </p:nvSpPr>
            <p:spPr>
              <a:xfrm>
                <a:off x="1796324" y="4003926"/>
                <a:ext cx="3657600" cy="805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s-MX" sz="16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s-MX" sz="16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den>
                          </m:f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s-MX" sz="16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den>
                          </m:f>
                        </m:den>
                      </m:f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7A6A05D-8353-D77C-C83A-3128169FA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324" y="4003926"/>
                <a:ext cx="3657600" cy="8050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C644F89-1B45-E7D6-1C30-A6ABECE9F991}"/>
                  </a:ext>
                </a:extLst>
              </p:cNvPr>
              <p:cNvSpPr txBox="1"/>
              <p:nvPr/>
            </p:nvSpPr>
            <p:spPr>
              <a:xfrm>
                <a:off x="1796324" y="4903669"/>
                <a:ext cx="3657600" cy="8106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s-MX" sz="16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s-MX" sz="16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den>
                          </m:f>
                        </m:den>
                      </m:f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C644F89-1B45-E7D6-1C30-A6ABECE9F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324" y="4903669"/>
                <a:ext cx="3657600" cy="81067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8646F87-0EEA-EA55-E623-298D30A71B8C}"/>
                  </a:ext>
                </a:extLst>
              </p:cNvPr>
              <p:cNvSpPr txBox="1"/>
              <p:nvPr/>
            </p:nvSpPr>
            <p:spPr>
              <a:xfrm>
                <a:off x="1796324" y="5802693"/>
                <a:ext cx="3657600" cy="6083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MX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MX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8646F87-0EEA-EA55-E623-298D30A71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324" y="5802693"/>
                <a:ext cx="3657600" cy="6083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CF7D6D1A-BAC9-44AC-EECC-DCE30DCA6F75}"/>
              </a:ext>
            </a:extLst>
          </p:cNvPr>
          <p:cNvCxnSpPr>
            <a:stCxn id="10" idx="3"/>
            <a:endCxn id="3" idx="1"/>
          </p:cNvCxnSpPr>
          <p:nvPr/>
        </p:nvCxnSpPr>
        <p:spPr>
          <a:xfrm>
            <a:off x="5389755" y="3624485"/>
            <a:ext cx="89647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2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0EB27-D6D0-5C68-3749-6FD5661C6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726A67-E436-8E0B-5012-D10A80D01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Logística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1706B89-DFB4-E7DD-5D56-49C0395DB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14" y="2305491"/>
            <a:ext cx="5952343" cy="367344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D696362-5E12-CF55-DEDB-DC1401F4E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957" y="2407929"/>
            <a:ext cx="5718861" cy="3571004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35BE241E-5D26-624F-55A6-547C5C521A2E}"/>
              </a:ext>
            </a:extLst>
          </p:cNvPr>
          <p:cNvSpPr/>
          <p:nvPr/>
        </p:nvSpPr>
        <p:spPr>
          <a:xfrm>
            <a:off x="3804824" y="3970157"/>
            <a:ext cx="1784384" cy="90238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conseguir esta clasificación, establecemos un </a:t>
            </a:r>
            <a:r>
              <a:rPr lang="es-MX" sz="1600" b="1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threshold</a:t>
            </a:r>
            <a:endParaRPr lang="es-MX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01CB1589-77AF-1A7F-E603-1FA29BD83DDF}"/>
              </a:ext>
            </a:extLst>
          </p:cNvPr>
          <p:cNvCxnSpPr>
            <a:cxnSpLocks/>
          </p:cNvCxnSpPr>
          <p:nvPr/>
        </p:nvCxnSpPr>
        <p:spPr>
          <a:xfrm>
            <a:off x="6654790" y="4158585"/>
            <a:ext cx="504894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C93339C3-BFC8-F738-9FBA-1320873B8D79}"/>
                  </a:ext>
                </a:extLst>
              </p:cNvPr>
              <p:cNvSpPr/>
              <p:nvPr/>
            </p:nvSpPr>
            <p:spPr>
              <a:xfrm>
                <a:off x="9466600" y="4261024"/>
                <a:ext cx="2461786" cy="900563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MX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puede asignar una observación al grupo 1 si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MX" sz="1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MX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s-MX" sz="1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s-MX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=1|</m:t>
                        </m:r>
                        <m:r>
                          <a:rPr lang="es-MX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s-MX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&gt;0.5</m:t>
                    </m:r>
                  </m:oMath>
                </a14:m>
                <a:r>
                  <a:rPr lang="es-MX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 al grupo 0 en caso contrario.</a:t>
                </a:r>
              </a:p>
            </p:txBody>
          </p:sp>
        </mc:Choice>
        <mc:Fallback xmlns="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C93339C3-BFC8-F738-9FBA-1320873B8D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6600" y="4261024"/>
                <a:ext cx="2461786" cy="900563"/>
              </a:xfrm>
              <a:prstGeom prst="rect">
                <a:avLst/>
              </a:prstGeom>
              <a:blipFill>
                <a:blip r:embed="rId5"/>
                <a:stretch>
                  <a:fillRect t="-4027" r="-988" b="-872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9444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3E726-303E-FAEC-0D2C-2FA43E994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547CAA-F845-FE7E-1271-9D2DA949E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ODDs y LOG of ODDs</a:t>
            </a:r>
            <a:endParaRPr lang="es-E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F0F86E7-8581-63E9-F7B9-991275B0541D}"/>
              </a:ext>
            </a:extLst>
          </p:cNvPr>
          <p:cNvSpPr txBox="1"/>
          <p:nvPr/>
        </p:nvSpPr>
        <p:spPr>
          <a:xfrm>
            <a:off x="964021" y="2235595"/>
            <a:ext cx="9832316" cy="584775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 </a:t>
            </a:r>
            <a:r>
              <a:rPr lang="es-ES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odds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 "razón de probabilidades") comparan la probabilidad de que algo ocurra con la probabilidad de que no ocurra.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1495977B-4420-135A-52D6-4A1E6509827B}"/>
                  </a:ext>
                </a:extLst>
              </p:cNvPr>
              <p:cNvSpPr txBox="1"/>
              <p:nvPr/>
            </p:nvSpPr>
            <p:spPr>
              <a:xfrm>
                <a:off x="4267200" y="3034895"/>
                <a:ext cx="3657600" cy="612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MX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1495977B-4420-135A-52D6-4A1E65098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3034895"/>
                <a:ext cx="3657600" cy="6122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n 14">
            <a:extLst>
              <a:ext uri="{FF2B5EF4-FFF2-40B4-BE49-F238E27FC236}">
                <a16:creationId xmlns:a16="http://schemas.microsoft.com/office/drawing/2014/main" id="{1CA9235E-3AFA-5540-A2A4-E5D8BBB19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069" y="4297610"/>
            <a:ext cx="7216765" cy="161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885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1AFD8-C23A-9039-CC8F-7BD2DDCA1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CF4A7-F24B-D2C6-BD6D-2FE4545E1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ODDs y LOG of ODDs</a:t>
            </a:r>
            <a:endParaRPr lang="es-E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D10F683-1727-1A87-0BEC-2628E2B7EB1C}"/>
              </a:ext>
            </a:extLst>
          </p:cNvPr>
          <p:cNvSpPr txBox="1"/>
          <p:nvPr/>
        </p:nvSpPr>
        <p:spPr>
          <a:xfrm>
            <a:off x="964021" y="2235595"/>
            <a:ext cx="9832316" cy="338554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 </a:t>
            </a:r>
            <a:r>
              <a:rPr lang="es-E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log-</a:t>
            </a:r>
            <a:r>
              <a:rPr lang="es-ES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odds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son simplemente el logaritmo natural de los </a:t>
            </a:r>
            <a:r>
              <a:rPr lang="es-E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odds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Es decir: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BEAD663-DE5C-1D93-8017-7C296B982A99}"/>
                  </a:ext>
                </a:extLst>
              </p:cNvPr>
              <p:cNvSpPr txBox="1"/>
              <p:nvPr/>
            </p:nvSpPr>
            <p:spPr>
              <a:xfrm>
                <a:off x="3273134" y="2890606"/>
                <a:ext cx="5228634" cy="6455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| 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| 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d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MX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BEAD663-DE5C-1D93-8017-7C296B982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134" y="2890606"/>
                <a:ext cx="5228634" cy="6455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72069BA3-F8A9-BA15-12CD-7A02F4435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9737" y="3852624"/>
            <a:ext cx="5395428" cy="161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912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Tema1">
  <a:themeElements>
    <a:clrScheme name="Naranja amarillo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32_TF78853419_Win32.potx" id="{F85094AE-F951-45B6-B003-F9F3B4BD38C5}" vid="{E124D037-8587-41C3-AB02-2A120C8407E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2311</TotalTime>
  <Words>471</Words>
  <Application>Microsoft Office PowerPoint</Application>
  <PresentationFormat>Panorámica</PresentationFormat>
  <Paragraphs>45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6" baseType="lpstr">
      <vt:lpstr>Arial</vt:lpstr>
      <vt:lpstr>Calibri</vt:lpstr>
      <vt:lpstr>Cambria Math</vt:lpstr>
      <vt:lpstr>Franklin Gothic Book</vt:lpstr>
      <vt:lpstr>Franklin Gothic Demi</vt:lpstr>
      <vt:lpstr>Times New Roman</vt:lpstr>
      <vt:lpstr>Wingdings</vt:lpstr>
      <vt:lpstr>Tema1</vt:lpstr>
      <vt:lpstr>Regresión Logística</vt:lpstr>
      <vt:lpstr>Regresión Lineal</vt:lpstr>
      <vt:lpstr>Regresión Logística</vt:lpstr>
      <vt:lpstr>Regresión Logística</vt:lpstr>
      <vt:lpstr>Regresión Logística</vt:lpstr>
      <vt:lpstr>Regresión Logística</vt:lpstr>
      <vt:lpstr>ODDs y LOG of ODDs</vt:lpstr>
      <vt:lpstr>ODDs y LOG of ODDs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7: Estimaciones para la media poblacional μ</dc:title>
  <dc:creator>David Nexticapan Cortes</dc:creator>
  <cp:lastModifiedBy>DAVID NEXTICAPAN - CORTES</cp:lastModifiedBy>
  <cp:revision>88</cp:revision>
  <dcterms:created xsi:type="dcterms:W3CDTF">2023-09-16T20:42:33Z</dcterms:created>
  <dcterms:modified xsi:type="dcterms:W3CDTF">2025-04-18T06:18:04Z</dcterms:modified>
</cp:coreProperties>
</file>